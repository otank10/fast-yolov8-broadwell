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7"/>
  </p:sldIdLst>
  <p:sldSz cy="5143500" cx="9144000"/>
  <p:notesSz cx="6858000" cy="9144000"/>
  <p:embeddedFontLst>
    <p:embeddedFont>
      <p:font typeface="Helvetica Neue Light"/>
      <p:regular r:id="rId8"/>
      <p:bold r:id="rId9"/>
      <p:italic r:id="rId10"/>
      <p:boldItalic r:id="rId11"/>
    </p:embeddedFont>
    <p:embeddedFont>
      <p:font typeface="Open Sans Light"/>
      <p:regular r:id="rId12"/>
      <p:bold r:id="rId13"/>
      <p:italic r:id="rId14"/>
      <p:boldItalic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HelveticaNeueLight-regular.fntdata"/><Relationship Id="rId9" Type="http://schemas.openxmlformats.org/officeDocument/2006/relationships/font" Target="fonts/HelveticaNeueLight-bold.fntdata"/><Relationship Id="rId10" Type="http://schemas.openxmlformats.org/officeDocument/2006/relationships/font" Target="fonts/HelveticaNeueLight-italic.fntdata"/><Relationship Id="rId11" Type="http://schemas.openxmlformats.org/officeDocument/2006/relationships/font" Target="fonts/HelveticaNeueLight-boldItalic.fntdata"/><Relationship Id="rId12" Type="http://schemas.openxmlformats.org/officeDocument/2006/relationships/font" Target="fonts/OpenSansLight-regular.fntdata"/><Relationship Id="rId13" Type="http://schemas.openxmlformats.org/officeDocument/2006/relationships/font" Target="fonts/OpenSansLight-bold.fntdata"/><Relationship Id="rId14" Type="http://schemas.openxmlformats.org/officeDocument/2006/relationships/font" Target="fonts/OpenSansLight-italic.fntdata"/><Relationship Id="rId15" Type="http://schemas.openxmlformats.org/officeDocument/2006/relationships/font" Target="fonts/OpenSansLight-boldItalic.fntdata"/><Relationship Id="rId16" Type="http://schemas.openxmlformats.org/officeDocument/2006/relationships/font" Target="fonts/OpenSans-regular.fntdata"/><Relationship Id="rId17" Type="http://schemas.openxmlformats.org/officeDocument/2006/relationships/font" Target="fonts/OpenSans-bold.fntdata"/><Relationship Id="rId18" Type="http://schemas.openxmlformats.org/officeDocument/2006/relationships/font" Target="fonts/OpenSans-italic.fntdata"/><Relationship Id="rId19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Quick recap, since the project is approved. We take the pretrained YOLOv8n detector and write our own FP32 inference kernels for its convolutions; no training. One image is 640 by 640, batch 1, 8.74 GFLOP, almost all of it in 63 convolution layers. Our machine is ece028, a Xeon E5-2640 v4, Broadwell: AVX2 and FMA, 16 vector registers, so one core peaks at 32 FLOPs per cycle, 2 FMA units times 8 floats times 2. The convolutions split into three kernels: 3 by 3 stride 1, 66 percent of the work; 3 by 3 stride 2, the downsampling, 15 percent; and 1 by 1, 19 percent. 57 of the 63 convolutions are followed by SiLU, which we fuse into the kernels, and SPPF adds max-pooling. We compare against OpenCV DNN on the same model and images. Each of us presents our own kernel.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23" name="Google Shape;23;p2"/>
          <p:cNvPicPr preferRelativeResize="0"/>
          <p:nvPr/>
        </p:nvPicPr>
        <p:blipFill rotWithShape="1">
          <a:blip r:embed="rId3">
            <a:alphaModFix/>
          </a:blip>
          <a:srcRect b="1990" l="84737" r="4771" t="23988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26" name="Google Shape;26;p2"/>
          <p:cNvPicPr preferRelativeResize="0"/>
          <p:nvPr/>
        </p:nvPicPr>
        <p:blipFill rotWithShape="1">
          <a:blip r:embed="rId3">
            <a:alphaModFix/>
          </a:blip>
          <a:srcRect b="1990" l="84737" r="4771" t="23988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">
  <p:cSld name="1 Colum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">
  <p:cSld name="2 Colum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">
  <p:cSld name="4 Colum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3" type="body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4" type="body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Plaid-Digital_FINAL-NEW.png" id="10" name="Google Shape;10;p1"/>
          <p:cNvPicPr preferRelativeResize="0"/>
          <p:nvPr/>
        </p:nvPicPr>
        <p:blipFill rotWithShape="1">
          <a:blip r:embed="rId1">
            <a:alphaModFix/>
          </a:blip>
          <a:srcRect b="2893" l="59550" r="39888" t="20876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11" name="Google Shape;11;p1"/>
          <p:cNvPicPr preferRelativeResize="0"/>
          <p:nvPr/>
        </p:nvPicPr>
        <p:blipFill rotWithShape="1">
          <a:blip r:embed="rId1">
            <a:alphaModFix/>
          </a:blip>
          <a:srcRect b="2893" l="59550" r="39888" t="20876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2639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2639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b="0" i="1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2639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2639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b="0" i="1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YOLOv8n on one Broadwell machine: what we build</a:t>
            </a:r>
          </a:p>
        </p:txBody>
      </p:sp>
      <p:pic>
        <p:nvPicPr>
          <p:cNvPr id="3" name="Picture 2" descr="yolov8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896112"/>
            <a:ext cx="307113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40680" y="411480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6875"/>
                </a:solidFill>
                <a:latin typeface="Open Sans"/>
              </a:rPr>
              <a:t>YOLOv8 architecture. Diagram: RangeKing (Ultralytics GitHub).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B2630"/>
                </a:solidFill>
                <a:latin typeface="Open Sans"/>
              </a:rPr>
              <a:t>Model: </a:t>
            </a:r>
            <a:r>
              <a:rPr sz="1050" b="0" i="0">
                <a:solidFill>
                  <a:srgbClr val="5A6875"/>
                </a:solidFill>
                <a:latin typeface="Open Sans"/>
              </a:rPr>
              <a:t>pretrained YOLOv8n, FP32 inference, batch 1, 640×640: 8.74 GFLOP per image in 63 conv layers. Baseline: OpenCV DNN, same ONNX model.</a:t>
            </a:r>
          </a:p>
        </p:txBody>
      </p:sp>
      <p:sp>
        <p:nvSpPr>
          <p:cNvPr id="6" name="machine"/>
          <p:cNvSpPr/>
          <p:nvPr/>
        </p:nvSpPr>
        <p:spPr>
          <a:xfrm>
            <a:off x="457200" y="1481328"/>
            <a:ext cx="4800600" cy="1024128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3619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630"/>
                </a:solidFill>
                <a:latin typeface="Open Sans"/>
              </a:rPr>
              <a:t>Machine: ece028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875"/>
                </a:solidFill>
                <a:latin typeface="Open Sans"/>
              </a:rPr>
              <a:t>Xeon E5-2640 v4 (Broadwell), 2.4 GHz, 3.4 turbo</a:t>
            </a:r>
          </a:p>
          <a:p>
            <a:pPr algn="l">
              <a:spcBef>
                <a:spcPts val="600"/>
              </a:spcBef>
            </a:pPr>
            <a:r>
              <a:rPr sz="950" b="0" i="0">
                <a:solidFill>
                  <a:srgbClr val="5A6875"/>
                </a:solidFill>
                <a:latin typeface="Open Sans"/>
              </a:rPr>
              <a:t>2 sockets × 10 cores, AVX2 + FMA, 16 YMM registers</a:t>
            </a:r>
          </a:p>
          <a:p>
            <a:pPr algn="l">
              <a:spcBef>
                <a:spcPts val="600"/>
              </a:spcBef>
            </a:pPr>
            <a:r>
              <a:rPr sz="950" b="0" i="0">
                <a:solidFill>
                  <a:srgbClr val="5A6875"/>
                </a:solidFill>
                <a:latin typeface="Open Sans"/>
              </a:rPr>
              <a:t>L1D 32 KB, L2 256 KB per core; L3 25 MB per socket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554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BB0027"/>
                </a:solidFill>
                <a:latin typeface="Open Sans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02996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A6875"/>
                </a:solidFill>
                <a:latin typeface="Open Sans"/>
              </a:rPr>
              <a:t>FLOPs/cycle/core
2 FMA × 8 lanes × 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633472"/>
          <a:ext cx="48006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914400"/>
                <a:gridCol w="731520"/>
                <a:gridCol w="1005840"/>
              </a:tblGrid>
              <a:tr h="2514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Kernel</a:t>
                      </a:r>
                    </a:p>
                  </a:txBody>
                  <a:tcPr marL="54864" marR="54864" marT="27432" marB="27432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Owner</a:t>
                      </a:r>
                    </a:p>
                  </a:txBody>
                  <a:tcPr marL="54864" marR="54864" marT="27432" marB="27432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Layers</a:t>
                      </a:r>
                    </a:p>
                  </a:txBody>
                  <a:tcPr marL="54864" marR="54864" marT="27432" marB="27432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Work</a:t>
                      </a:r>
                    </a:p>
                  </a:txBody>
                  <a:tcPr marL="54864" marR="54864" marT="27432" marB="27432">
                    <a:solidFill>
                      <a:srgbClr val="F1F3F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3×3 conv, stride 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Om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66%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3×3 conv, stride 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O'Malley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15%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1×1 conv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Simon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19%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SiLU (fused into the conv)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Simon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57 of 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in the kernels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SPPF max-pool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Simon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&lt; 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