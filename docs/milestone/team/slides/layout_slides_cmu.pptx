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4"/>
  </p:sldMasterIdLst>
  <p:notesMasterIdLst>
    <p:notesMasterId r:id="rId5"/>
  </p:notesMasterIdLst>
  <p:sldIdLst>
    <p:sldId id="256" r:id="rId7"/>
    <p:sldId id="257" r:id="rId6"/>
    <p:sldId id="258" r:id="rId20"/>
  </p:sldIdLst>
  <p:sldSz cy="5143500" cx="9144000"/>
  <p:notesSz cx="6858000" cy="9144000"/>
  <p:embeddedFontLst>
    <p:embeddedFont>
      <p:font typeface="Helvetica Neue Light"/>
      <p:regular r:id="rId8"/>
      <p:bold r:id="rId9"/>
      <p:italic r:id="rId10"/>
      <p:boldItalic r:id="rId11"/>
    </p:embeddedFont>
    <p:embeddedFont>
      <p:font typeface="Open Sans Light"/>
      <p:regular r:id="rId12"/>
      <p:bold r:id="rId13"/>
      <p:italic r:id="rId14"/>
      <p:boldItalic r:id="rId15"/>
    </p:embeddedFont>
    <p:embeddedFont>
      <p:font typeface="Open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font" Target="fonts/HelveticaNeueLight-regular.fntdata"/><Relationship Id="rId9" Type="http://schemas.openxmlformats.org/officeDocument/2006/relationships/font" Target="fonts/HelveticaNeueLight-bold.fntdata"/><Relationship Id="rId10" Type="http://schemas.openxmlformats.org/officeDocument/2006/relationships/font" Target="fonts/HelveticaNeueLight-italic.fntdata"/><Relationship Id="rId11" Type="http://schemas.openxmlformats.org/officeDocument/2006/relationships/font" Target="fonts/HelveticaNeueLight-boldItalic.fntdata"/><Relationship Id="rId12" Type="http://schemas.openxmlformats.org/officeDocument/2006/relationships/font" Target="fonts/OpenSansLight-regular.fntdata"/><Relationship Id="rId13" Type="http://schemas.openxmlformats.org/officeDocument/2006/relationships/font" Target="fonts/OpenSansLight-bold.fntdata"/><Relationship Id="rId14" Type="http://schemas.openxmlformats.org/officeDocument/2006/relationships/font" Target="fonts/OpenSansLight-italic.fntdata"/><Relationship Id="rId15" Type="http://schemas.openxmlformats.org/officeDocument/2006/relationships/font" Target="fonts/OpenSansLight-boldItalic.fntdata"/><Relationship Id="rId16" Type="http://schemas.openxmlformats.org/officeDocument/2006/relationships/font" Target="fonts/OpenSans-regular.fntdata"/><Relationship Id="rId17" Type="http://schemas.openxmlformats.org/officeDocument/2006/relationships/font" Target="fonts/OpenSans-bold.fntdata"/><Relationship Id="rId18" Type="http://schemas.openxmlformats.org/officeDocument/2006/relationships/font" Target="fonts/OpenSans-italic.fntdata"/><Relationship Id="rId19" Type="http://schemas.openxmlformats.org/officeDocument/2006/relationships/font" Target="fonts/OpenSans-boldItalic.fntdata"/><Relationship Id="rId2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three of our kernels, stride 1, stride 2 and 1 by 1, read and write the same layout, defined once in include/common.h. ONNX stores NCHW: all of channel 0, then all of channel 1, so the 8 channels of one pixel are H times W floats apart and filling one register takes 8 loads. We store NCHW8c: channels in blocks of 8, and the 8 channels of a pixel are 32 contiguous bytes, one aligned load into one YMM register. Around every plane we store a 1-pixel border of zeros, the convolution's padding written out, so a 3 by 3 window at the edge just reads zeros. Weights are packed once offline, with BatchNorm already folded in, so the 8 output-channel weights for one input channel and tap are one aligned load. Because every layer uses the same layout, layers chain with no conversion; we convert only at the network input and output, outside the timing.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 chose one layout for the whole network. Here is how it fits each kernel, and to be clear, this is reasoning about each kernel's loads; we have not benchmarked an alternative layout for any of them. Stride 1: close to required. The 2 by 5 tile needs 8 output channels per register and one broadcast input per pair of FMAs; NCHW8c makes each a single load and the halo makes every call identical. 1 by 1: fits just as well, it is a matrix multiply over channels with the same broadcast-input, vector-output pattern. But it never reads a neighbour, so the halo is pure overhead for it: memory, and skipping the border while walking a row. Stride 2: open question. Within one tap it reads every other pixel, so half of each 64-byte cache line, but across the 3 horizontal taps it reads every column, so the lines are probably fully used over the window. SPPF: its max-pool needs a 2-pixel border of minus infinity, not zeros, so it needs its own buffers.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real costs. First, the first layer, model.0, has only 3 input channels, the RGB image. NCHW8c rounds that up to one block of 8, so 5 of every 8 multiply-adds in that layer are on zeros: the kernel does 2.7 times the useful work. The usual fix is a special first-layer kernel or layout. Second, the halo's memory: 2.5 percent at 160 by 160, but 21 percent at 20 by 20, where the border is a big share of a small plane. And to be honest about the evidence: we picked this layout for the microkernels' loads and to avoid conversions, but we have not timed any kernel on a second layout. The cheapest experiment is the 2 by 5 stride-1 kernel on plain NCHW against NCHW8c on a few layers; then an even/odd column split for stride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" name="Google Shape;2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09800" y="895350"/>
            <a:ext cx="3429000" cy="306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_Plaid-Digital_FINAL-NEW.png" id="23" name="Google Shape;23;p2"/>
          <p:cNvPicPr preferRelativeResize="0"/>
          <p:nvPr/>
        </p:nvPicPr>
        <p:blipFill rotWithShape="1">
          <a:blip r:embed="rId3">
            <a:alphaModFix/>
          </a:blip>
          <a:srcRect b="1990" l="84737" r="4771" t="23988"/>
          <a:stretch/>
        </p:blipFill>
        <p:spPr>
          <a:xfrm>
            <a:off x="457200" y="0"/>
            <a:ext cx="7905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" name="Google Shape;2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09800" y="895350"/>
            <a:ext cx="3429000" cy="306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_Plaid-Digital_FINAL-NEW.png" id="26" name="Google Shape;26;p2"/>
          <p:cNvPicPr preferRelativeResize="0"/>
          <p:nvPr/>
        </p:nvPicPr>
        <p:blipFill rotWithShape="1">
          <a:blip r:embed="rId3">
            <a:alphaModFix/>
          </a:blip>
          <a:srcRect b="1990" l="84737" r="4771" t="23988"/>
          <a:stretch/>
        </p:blipFill>
        <p:spPr>
          <a:xfrm>
            <a:off x="457200" y="0"/>
            <a:ext cx="7905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">
  <p:cSld name="1 Column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3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">
  <p:cSld name="2 Column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200150"/>
            <a:ext cx="39624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3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727448" y="1212300"/>
            <a:ext cx="3959352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3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4572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3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2" type="body"/>
          </p:nvPr>
        </p:nvSpPr>
        <p:spPr>
          <a:xfrm>
            <a:off x="32766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3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3" type="body"/>
          </p:nvPr>
        </p:nvSpPr>
        <p:spPr>
          <a:xfrm>
            <a:off x="60960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3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">
  <p:cSld name="4 Colum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" type="body"/>
          </p:nvPr>
        </p:nvSpPr>
        <p:spPr>
          <a:xfrm>
            <a:off x="4572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3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2" type="body"/>
          </p:nvPr>
        </p:nvSpPr>
        <p:spPr>
          <a:xfrm>
            <a:off x="25654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3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3" type="body"/>
          </p:nvPr>
        </p:nvSpPr>
        <p:spPr>
          <a:xfrm>
            <a:off x="46736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3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4" type="body"/>
          </p:nvPr>
        </p:nvSpPr>
        <p:spPr>
          <a:xfrm>
            <a:off x="67818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35433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indent="-354330" lvl="2" marL="13716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indent="-354330" lvl="3" marL="1828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indent="-354330" lvl="4" marL="22860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_Plaid-Digital_FINAL-NEW.png" id="10" name="Google Shape;10;p1"/>
          <p:cNvPicPr preferRelativeResize="0"/>
          <p:nvPr/>
        </p:nvPicPr>
        <p:blipFill rotWithShape="1">
          <a:blip r:embed="rId1">
            <a:alphaModFix/>
          </a:blip>
          <a:srcRect b="2893" l="59550" r="39888" t="20876"/>
          <a:stretch/>
        </p:blipFill>
        <p:spPr>
          <a:xfrm rot="5400000">
            <a:off x="3798887" y="1046163"/>
            <a:ext cx="60325" cy="765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_Plaid-Digital_FINAL-NEW.png" id="11" name="Google Shape;11;p1"/>
          <p:cNvPicPr preferRelativeResize="0"/>
          <p:nvPr/>
        </p:nvPicPr>
        <p:blipFill rotWithShape="1">
          <a:blip r:embed="rId1">
            <a:alphaModFix/>
          </a:blip>
          <a:srcRect b="2893" l="59550" r="39888" t="20876"/>
          <a:stretch/>
        </p:blipFill>
        <p:spPr>
          <a:xfrm rot="5400000">
            <a:off x="3798887" y="1046163"/>
            <a:ext cx="60325" cy="76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/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457200" y="120015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2639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2639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–"/>
              <a:defRPr b="0" i="1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26390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26390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–"/>
              <a:defRPr b="0" i="1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72400" y="4248150"/>
            <a:ext cx="1154590" cy="73639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11073918" y="64004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1"/>
          <p:cNvSpPr txBox="1"/>
          <p:nvPr/>
        </p:nvSpPr>
        <p:spPr>
          <a:xfrm>
            <a:off x="11226318" y="65528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11378718" y="67052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11531118" y="68576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8534400" y="100340"/>
            <a:ext cx="50689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layout for every kernel: NCHW8c + halo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630"/>
                </a:solidFill>
                <a:latin typeface="Open Sans"/>
              </a:rPr>
              <a:t>ONNX NCHW: </a:t>
            </a:r>
            <a:r>
              <a:rPr sz="1150" b="0" i="0">
                <a:solidFill>
                  <a:srgbClr val="5A6875"/>
                </a:solidFill>
                <a:latin typeface="Open Sans"/>
              </a:rPr>
              <a:t>channel planes one after another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83464" cy="329184"/>
          </a:xfrm>
          <a:prstGeom prst="rect">
            <a:avLst/>
          </a:prstGeom>
          <a:solidFill>
            <a:srgbClr val="D7EAF0"/>
          </a:solidFill>
          <a:ln w="9525">
            <a:solidFill>
              <a:srgbClr val="0C6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6A87"/>
                </a:solidFill>
                <a:latin typeface="Open Sans"/>
              </a:rPr>
              <a:t>c0p0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" y="1280160"/>
            <a:ext cx="28346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C6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0">
                <a:solidFill>
                  <a:srgbClr val="0C6A87"/>
                </a:solidFill>
                <a:latin typeface="Open Sans"/>
              </a:rPr>
              <a:t>c0p1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" y="1280160"/>
            <a:ext cx="28346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C6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0">
                <a:solidFill>
                  <a:srgbClr val="0C6A87"/>
                </a:solidFill>
                <a:latin typeface="Open Sans"/>
              </a:rPr>
              <a:t>c0p2</a:t>
            </a:r>
          </a:p>
        </p:txBody>
      </p:sp>
      <p:sp>
        <p:nvSpPr>
          <p:cNvPr id="7" name="Rectangle 6"/>
          <p:cNvSpPr/>
          <p:nvPr/>
        </p:nvSpPr>
        <p:spPr>
          <a:xfrm>
            <a:off x="1362456" y="1280160"/>
            <a:ext cx="28346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C6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0">
                <a:solidFill>
                  <a:srgbClr val="0C6A87"/>
                </a:solidFill>
                <a:latin typeface="Open Sans"/>
              </a:rPr>
              <a:t>c0p3</a:t>
            </a:r>
          </a:p>
        </p:txBody>
      </p:sp>
      <p:sp>
        <p:nvSpPr>
          <p:cNvPr id="8" name="Rectangle 7"/>
          <p:cNvSpPr/>
          <p:nvPr/>
        </p:nvSpPr>
        <p:spPr>
          <a:xfrm>
            <a:off x="1664208" y="1280160"/>
            <a:ext cx="283464" cy="329184"/>
          </a:xfrm>
          <a:prstGeom prst="rect">
            <a:avLst/>
          </a:prstGeom>
          <a:solidFill>
            <a:srgbClr val="F5E6CF"/>
          </a:solidFill>
          <a:ln w="9525">
            <a:solidFill>
              <a:srgbClr val="B77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B7731A"/>
                </a:solidFill>
                <a:latin typeface="Open Sans"/>
              </a:rPr>
              <a:t>c1p0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1280160"/>
            <a:ext cx="28346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B77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0">
                <a:solidFill>
                  <a:srgbClr val="B7731A"/>
                </a:solidFill>
                <a:latin typeface="Open Sans"/>
              </a:rPr>
              <a:t>c1p1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67712" y="1280160"/>
            <a:ext cx="28346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B77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0">
                <a:solidFill>
                  <a:srgbClr val="B7731A"/>
                </a:solidFill>
                <a:latin typeface="Open Sans"/>
              </a:rPr>
              <a:t>c1p2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9464" y="1280160"/>
            <a:ext cx="28346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B77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0">
                <a:solidFill>
                  <a:srgbClr val="B7731A"/>
                </a:solidFill>
                <a:latin typeface="Open Sans"/>
              </a:rPr>
              <a:t>c1p3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71216" y="1280160"/>
            <a:ext cx="283464" cy="329184"/>
          </a:xfrm>
          <a:prstGeom prst="rect">
            <a:avLst/>
          </a:prstGeom>
          <a:solidFill>
            <a:srgbClr val="E4E0F0"/>
          </a:solidFill>
          <a:ln w="9525">
            <a:solidFill>
              <a:srgbClr val="5B4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5B4B8A"/>
                </a:solidFill>
                <a:latin typeface="Open Sans"/>
              </a:rPr>
              <a:t>c2p0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72968" y="1280160"/>
            <a:ext cx="28346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5B4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0">
                <a:solidFill>
                  <a:srgbClr val="5B4B8A"/>
                </a:solidFill>
                <a:latin typeface="Open Sans"/>
              </a:rPr>
              <a:t>c2p1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1280160"/>
            <a:ext cx="28346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5B4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0">
                <a:solidFill>
                  <a:srgbClr val="5B4B8A"/>
                </a:solidFill>
                <a:latin typeface="Open Sans"/>
              </a:rPr>
              <a:t>c2p2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76472" y="1280160"/>
            <a:ext cx="28346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5B4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0">
                <a:solidFill>
                  <a:srgbClr val="5B4B8A"/>
                </a:solidFill>
                <a:latin typeface="Open Sans"/>
              </a:rPr>
              <a:t>c2p3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78224" y="1280160"/>
            <a:ext cx="283464" cy="329184"/>
          </a:xfrm>
          <a:prstGeom prst="rect">
            <a:avLst/>
          </a:prstGeom>
          <a:solidFill>
            <a:srgbClr val="DFEEDC"/>
          </a:solidFill>
          <a:ln w="9525">
            <a:solidFill>
              <a:srgbClr val="3D7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3D7A3A"/>
                </a:solidFill>
                <a:latin typeface="Open Sans"/>
              </a:rPr>
              <a:t>c3p0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9976" y="1280160"/>
            <a:ext cx="28346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3D7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0">
                <a:solidFill>
                  <a:srgbClr val="3D7A3A"/>
                </a:solidFill>
                <a:latin typeface="Open Sans"/>
              </a:rPr>
              <a:t>c3p1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81728" y="1280160"/>
            <a:ext cx="28346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3D7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0">
                <a:solidFill>
                  <a:srgbClr val="3D7A3A"/>
                </a:solidFill>
                <a:latin typeface="Open Sans"/>
              </a:rPr>
              <a:t>c3p2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3480" y="1280160"/>
            <a:ext cx="28346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3D7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0">
                <a:solidFill>
                  <a:srgbClr val="3D7A3A"/>
                </a:solidFill>
                <a:latin typeface="Open Sans"/>
              </a:rPr>
              <a:t>c3p3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6459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B0027"/>
                </a:solidFill>
                <a:latin typeface="Open Sans"/>
              </a:rPr>
              <a:t>pixel p0's channels are H×W floats apart: 8 loads to fill one register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0116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630"/>
                </a:solidFill>
                <a:latin typeface="Open Sans"/>
              </a:rPr>
              <a:t>NCHW8c: </a:t>
            </a:r>
            <a:r>
              <a:rPr sz="1150" b="0" i="0">
                <a:solidFill>
                  <a:srgbClr val="5A6875"/>
                </a:solidFill>
                <a:latin typeface="Open Sans"/>
              </a:rPr>
              <a:t>[N][C/8][H+2][W+2][8], 8 channels of a pixel together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331720"/>
            <a:ext cx="283464" cy="329184"/>
          </a:xfrm>
          <a:prstGeom prst="rect">
            <a:avLst/>
          </a:prstGeom>
          <a:solidFill>
            <a:srgbClr val="D7EAF0"/>
          </a:solidFill>
          <a:ln w="9525">
            <a:solidFill>
              <a:srgbClr val="0C6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6A87"/>
                </a:solidFill>
                <a:latin typeface="Open Sans"/>
              </a:rPr>
              <a:t>p0c0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" y="2331720"/>
            <a:ext cx="283464" cy="329184"/>
          </a:xfrm>
          <a:prstGeom prst="rect">
            <a:avLst/>
          </a:prstGeom>
          <a:solidFill>
            <a:srgbClr val="F5E6CF"/>
          </a:solidFill>
          <a:ln w="9525">
            <a:solidFill>
              <a:srgbClr val="B77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B7731A"/>
                </a:solidFill>
                <a:latin typeface="Open Sans"/>
              </a:rPr>
              <a:t>p0c1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0704" y="2331720"/>
            <a:ext cx="283464" cy="329184"/>
          </a:xfrm>
          <a:prstGeom prst="rect">
            <a:avLst/>
          </a:prstGeom>
          <a:solidFill>
            <a:srgbClr val="E4E0F0"/>
          </a:solidFill>
          <a:ln w="9525">
            <a:solidFill>
              <a:srgbClr val="5B4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5B4B8A"/>
                </a:solidFill>
                <a:latin typeface="Open Sans"/>
              </a:rPr>
              <a:t>p0c2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62456" y="2331720"/>
            <a:ext cx="283464" cy="329184"/>
          </a:xfrm>
          <a:prstGeom prst="rect">
            <a:avLst/>
          </a:prstGeom>
          <a:solidFill>
            <a:srgbClr val="DFEEDC"/>
          </a:solidFill>
          <a:ln w="9525">
            <a:solidFill>
              <a:srgbClr val="3D7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3D7A3A"/>
                </a:solidFill>
                <a:latin typeface="Open Sans"/>
              </a:rPr>
              <a:t>p0c3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64208" y="2331720"/>
            <a:ext cx="283464" cy="329184"/>
          </a:xfrm>
          <a:prstGeom prst="rect">
            <a:avLst/>
          </a:prstGeom>
          <a:solidFill>
            <a:srgbClr val="D7EAF0"/>
          </a:solidFill>
          <a:ln w="9525">
            <a:solidFill>
              <a:srgbClr val="0C6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0C6A87"/>
                </a:solidFill>
                <a:latin typeface="Open Sans"/>
              </a:rPr>
              <a:t>p0c4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65960" y="2331720"/>
            <a:ext cx="283464" cy="329184"/>
          </a:xfrm>
          <a:prstGeom prst="rect">
            <a:avLst/>
          </a:prstGeom>
          <a:solidFill>
            <a:srgbClr val="F5E6CF"/>
          </a:solidFill>
          <a:ln w="9525">
            <a:solidFill>
              <a:srgbClr val="B77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B7731A"/>
                </a:solidFill>
                <a:latin typeface="Open Sans"/>
              </a:rPr>
              <a:t>p0c5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67712" y="2331720"/>
            <a:ext cx="283464" cy="329184"/>
          </a:xfrm>
          <a:prstGeom prst="rect">
            <a:avLst/>
          </a:prstGeom>
          <a:solidFill>
            <a:srgbClr val="E4E0F0"/>
          </a:solidFill>
          <a:ln w="9525">
            <a:solidFill>
              <a:srgbClr val="5B4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5B4B8A"/>
                </a:solidFill>
                <a:latin typeface="Open Sans"/>
              </a:rPr>
              <a:t>p0c6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9464" y="2331720"/>
            <a:ext cx="283464" cy="329184"/>
          </a:xfrm>
          <a:prstGeom prst="rect">
            <a:avLst/>
          </a:prstGeom>
          <a:solidFill>
            <a:srgbClr val="DFEEDC"/>
          </a:solidFill>
          <a:ln w="9525">
            <a:solidFill>
              <a:srgbClr val="3D7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3D7A3A"/>
                </a:solidFill>
                <a:latin typeface="Open Sans"/>
              </a:rPr>
              <a:t>p0c7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71216" y="2331720"/>
            <a:ext cx="28346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C6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0">
                <a:solidFill>
                  <a:srgbClr val="0C6A87"/>
                </a:solidFill>
                <a:latin typeface="Open Sans"/>
              </a:rPr>
              <a:t>p1c0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72968" y="2331720"/>
            <a:ext cx="28346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B77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0">
                <a:solidFill>
                  <a:srgbClr val="B7731A"/>
                </a:solidFill>
                <a:latin typeface="Open Sans"/>
              </a:rPr>
              <a:t>p1c1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2331720"/>
            <a:ext cx="28346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5B4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0">
                <a:solidFill>
                  <a:srgbClr val="5B4B8A"/>
                </a:solidFill>
                <a:latin typeface="Open Sans"/>
              </a:rPr>
              <a:t>p1c2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76472" y="2331720"/>
            <a:ext cx="28346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3D7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0">
                <a:solidFill>
                  <a:srgbClr val="3D7A3A"/>
                </a:solidFill>
                <a:latin typeface="Open Sans"/>
              </a:rPr>
              <a:t>p1c3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78224" y="2331720"/>
            <a:ext cx="28346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C6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0">
                <a:solidFill>
                  <a:srgbClr val="0C6A87"/>
                </a:solidFill>
                <a:latin typeface="Open Sans"/>
              </a:rPr>
              <a:t>p1c4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79976" y="2331720"/>
            <a:ext cx="28346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B77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0">
                <a:solidFill>
                  <a:srgbClr val="B7731A"/>
                </a:solidFill>
                <a:latin typeface="Open Sans"/>
              </a:rPr>
              <a:t>p1c5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81728" y="2331720"/>
            <a:ext cx="28346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5B4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0">
                <a:solidFill>
                  <a:srgbClr val="5B4B8A"/>
                </a:solidFill>
                <a:latin typeface="Open Sans"/>
              </a:rPr>
              <a:t>p1c6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83480" y="2331720"/>
            <a:ext cx="28346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3D7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0">
                <a:solidFill>
                  <a:srgbClr val="3D7A3A"/>
                </a:solidFill>
                <a:latin typeface="Open Sans"/>
              </a:rPr>
              <a:t>p1c7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" y="2304288"/>
            <a:ext cx="2414016" cy="384048"/>
          </a:xfrm>
          <a:prstGeom prst="rect">
            <a:avLst/>
          </a:prstGeom>
          <a:noFill/>
          <a:ln w="25400">
            <a:solidFill>
              <a:srgbClr val="BB00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26974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B0027"/>
                </a:solidFill>
                <a:latin typeface="Open Sans"/>
              </a:rPr>
              <a:t>8 contiguous floats = 32 bytes = one _mm256_load_ps = one YMM register</a:t>
            </a:r>
          </a:p>
        </p:txBody>
      </p:sp>
      <p:sp>
        <p:nvSpPr>
          <p:cNvPr id="40" name="w-card"/>
          <p:cNvSpPr/>
          <p:nvPr/>
        </p:nvSpPr>
        <p:spPr>
          <a:xfrm>
            <a:off x="457200" y="3108960"/>
            <a:ext cx="4846320" cy="105156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3172968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630"/>
                </a:solidFill>
                <a:latin typeface="Open Sans"/>
              </a:rPr>
              <a:t>Weights, packed once offline: [K/8][C/8][R][S][8 in][8 out]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3447288"/>
            <a:ext cx="46634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875"/>
                </a:solidFill>
                <a:latin typeface="Open Sans"/>
              </a:rPr>
              <a:t>Same format for 3×3 and 1×1 (R = S = 1). The 8 output-channel weights of one input channel and tap are one aligned load, read front to back. BatchNorm is folded into weights and bias.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9601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B2630"/>
                </a:solidFill>
                <a:latin typeface="Open Sans"/>
              </a:rPr>
              <a:t>Zero halo: </a:t>
            </a:r>
            <a:r>
              <a:rPr sz="1150" b="0" i="0">
                <a:solidFill>
                  <a:srgbClr val="5A6875"/>
                </a:solidFill>
                <a:latin typeface="Open Sans"/>
              </a:rPr>
              <a:t>padding stored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15000" y="1280160"/>
            <a:ext cx="301751" cy="301751"/>
          </a:xfrm>
          <a:prstGeom prst="rect">
            <a:avLst/>
          </a:prstGeom>
          <a:solidFill>
            <a:srgbClr val="E6EBEE"/>
          </a:solidFill>
          <a:ln w="25400">
            <a:solidFill>
              <a:srgbClr val="B77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B7731A"/>
                </a:solidFill>
                <a:latin typeface="Open Sans"/>
              </a:rP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44184" y="1280160"/>
            <a:ext cx="301751" cy="301751"/>
          </a:xfrm>
          <a:prstGeom prst="rect">
            <a:avLst/>
          </a:prstGeom>
          <a:solidFill>
            <a:srgbClr val="E6EBEE"/>
          </a:solidFill>
          <a:ln w="25400">
            <a:solidFill>
              <a:srgbClr val="B77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B7731A"/>
                </a:solidFill>
                <a:latin typeface="Open Sans"/>
              </a:rPr>
              <a:t>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73368" y="1280160"/>
            <a:ext cx="301751" cy="301751"/>
          </a:xfrm>
          <a:prstGeom prst="rect">
            <a:avLst/>
          </a:prstGeom>
          <a:solidFill>
            <a:srgbClr val="E6EBEE"/>
          </a:solidFill>
          <a:ln w="25400">
            <a:solidFill>
              <a:srgbClr val="B77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B7731A"/>
                </a:solidFill>
                <a:latin typeface="Open Sans"/>
              </a:rPr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02552" y="1280160"/>
            <a:ext cx="301751" cy="301751"/>
          </a:xfrm>
          <a:prstGeom prst="rect">
            <a:avLst/>
          </a:prstGeom>
          <a:solidFill>
            <a:srgbClr val="E6EBEE"/>
          </a:solidFill>
          <a:ln w="9525">
            <a:solidFill>
              <a:srgbClr val="6B77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6B7782"/>
                </a:solidFill>
                <a:latin typeface="Open Sans"/>
              </a:rPr>
              <a:t>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31736" y="1280160"/>
            <a:ext cx="301751" cy="301751"/>
          </a:xfrm>
          <a:prstGeom prst="rect">
            <a:avLst/>
          </a:prstGeom>
          <a:solidFill>
            <a:srgbClr val="E6EBEE"/>
          </a:solidFill>
          <a:ln w="9525">
            <a:solidFill>
              <a:srgbClr val="6B77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6B7782"/>
                </a:solidFill>
                <a:latin typeface="Open Sans"/>
              </a:rPr>
              <a:t>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60920" y="1280160"/>
            <a:ext cx="301751" cy="301751"/>
          </a:xfrm>
          <a:prstGeom prst="rect">
            <a:avLst/>
          </a:prstGeom>
          <a:solidFill>
            <a:srgbClr val="E6EBEE"/>
          </a:solidFill>
          <a:ln w="9525">
            <a:solidFill>
              <a:srgbClr val="6B77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6B7782"/>
                </a:solidFill>
                <a:latin typeface="Open Sans"/>
              </a:rPr>
              <a:t>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90104" y="1280160"/>
            <a:ext cx="301751" cy="301751"/>
          </a:xfrm>
          <a:prstGeom prst="rect">
            <a:avLst/>
          </a:prstGeom>
          <a:solidFill>
            <a:srgbClr val="E6EBEE"/>
          </a:solidFill>
          <a:ln w="9525">
            <a:solidFill>
              <a:srgbClr val="6B77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6B7782"/>
                </a:solidFill>
                <a:latin typeface="Open Sans"/>
              </a:rPr>
              <a:t>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19288" y="1280160"/>
            <a:ext cx="301751" cy="301751"/>
          </a:xfrm>
          <a:prstGeom prst="rect">
            <a:avLst/>
          </a:prstGeom>
          <a:solidFill>
            <a:srgbClr val="E6EBEE"/>
          </a:solidFill>
          <a:ln w="9525">
            <a:solidFill>
              <a:srgbClr val="6B77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6B7782"/>
                </a:solidFill>
                <a:latin typeface="Open Sans"/>
              </a:rPr>
              <a:t>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15000" y="1609343"/>
            <a:ext cx="301751" cy="301751"/>
          </a:xfrm>
          <a:prstGeom prst="rect">
            <a:avLst/>
          </a:prstGeom>
          <a:solidFill>
            <a:srgbClr val="E6EBEE"/>
          </a:solidFill>
          <a:ln w="25400">
            <a:solidFill>
              <a:srgbClr val="B77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B7731A"/>
                </a:solidFill>
                <a:latin typeface="Open Sans"/>
              </a:rPr>
              <a:t>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44184" y="1609343"/>
            <a:ext cx="301751" cy="301751"/>
          </a:xfrm>
          <a:prstGeom prst="rect">
            <a:avLst/>
          </a:prstGeom>
          <a:solidFill>
            <a:srgbClr val="D7EAF0"/>
          </a:solidFill>
          <a:ln w="25400">
            <a:solidFill>
              <a:srgbClr val="B77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B7731A"/>
                </a:solidFill>
                <a:latin typeface="Open Sans"/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6373368" y="1609343"/>
            <a:ext cx="301751" cy="301751"/>
          </a:xfrm>
          <a:prstGeom prst="rect">
            <a:avLst/>
          </a:prstGeom>
          <a:solidFill>
            <a:srgbClr val="D7EAF0"/>
          </a:solidFill>
          <a:ln w="25400">
            <a:solidFill>
              <a:srgbClr val="B77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B7731A"/>
                </a:solidFill>
                <a:latin typeface="Open Sans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6702552" y="1609343"/>
            <a:ext cx="301751" cy="301751"/>
          </a:xfrm>
          <a:prstGeom prst="rect">
            <a:avLst/>
          </a:prstGeom>
          <a:solidFill>
            <a:srgbClr val="D7EAF0"/>
          </a:solidFill>
          <a:ln w="9525">
            <a:solidFill>
              <a:srgbClr val="0C6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0C6A87"/>
                </a:solidFill>
                <a:latin typeface="Open Sans"/>
              </a:rPr>
              <a:t/>
            </a:r>
          </a:p>
        </p:txBody>
      </p:sp>
      <p:sp>
        <p:nvSpPr>
          <p:cNvPr id="56" name="Rectangle 55"/>
          <p:cNvSpPr/>
          <p:nvPr/>
        </p:nvSpPr>
        <p:spPr>
          <a:xfrm>
            <a:off x="7031736" y="1609343"/>
            <a:ext cx="301751" cy="301751"/>
          </a:xfrm>
          <a:prstGeom prst="rect">
            <a:avLst/>
          </a:prstGeom>
          <a:solidFill>
            <a:srgbClr val="D7EAF0"/>
          </a:solidFill>
          <a:ln w="9525">
            <a:solidFill>
              <a:srgbClr val="0C6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0C6A87"/>
                </a:solidFill>
                <a:latin typeface="Open Sans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1609343"/>
            <a:ext cx="301751" cy="301751"/>
          </a:xfrm>
          <a:prstGeom prst="rect">
            <a:avLst/>
          </a:prstGeom>
          <a:solidFill>
            <a:srgbClr val="D7EAF0"/>
          </a:solidFill>
          <a:ln w="9525">
            <a:solidFill>
              <a:srgbClr val="0C6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0C6A87"/>
                </a:solidFill>
                <a:latin typeface="Open Sans"/>
              </a:rPr>
              <a:t/>
            </a:r>
          </a:p>
        </p:txBody>
      </p:sp>
      <p:sp>
        <p:nvSpPr>
          <p:cNvPr id="58" name="Rectangle 57"/>
          <p:cNvSpPr/>
          <p:nvPr/>
        </p:nvSpPr>
        <p:spPr>
          <a:xfrm>
            <a:off x="7690104" y="1609343"/>
            <a:ext cx="301751" cy="301751"/>
          </a:xfrm>
          <a:prstGeom prst="rect">
            <a:avLst/>
          </a:prstGeom>
          <a:solidFill>
            <a:srgbClr val="D7EAF0"/>
          </a:solidFill>
          <a:ln w="9525">
            <a:solidFill>
              <a:srgbClr val="0C6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0C6A87"/>
                </a:solidFill>
                <a:latin typeface="Open Sans"/>
              </a:rPr>
              <a:t/>
            </a:r>
          </a:p>
        </p:txBody>
      </p:sp>
      <p:sp>
        <p:nvSpPr>
          <p:cNvPr id="59" name="Rectangle 58"/>
          <p:cNvSpPr/>
          <p:nvPr/>
        </p:nvSpPr>
        <p:spPr>
          <a:xfrm>
            <a:off x="8019288" y="1609343"/>
            <a:ext cx="301751" cy="301751"/>
          </a:xfrm>
          <a:prstGeom prst="rect">
            <a:avLst/>
          </a:prstGeom>
          <a:solidFill>
            <a:srgbClr val="E6EBEE"/>
          </a:solidFill>
          <a:ln w="9525">
            <a:solidFill>
              <a:srgbClr val="6B77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6B7782"/>
                </a:solidFill>
                <a:latin typeface="Open Sans"/>
              </a:rPr>
              <a:t>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15000" y="1938528"/>
            <a:ext cx="301751" cy="301751"/>
          </a:xfrm>
          <a:prstGeom prst="rect">
            <a:avLst/>
          </a:prstGeom>
          <a:solidFill>
            <a:srgbClr val="E6EBEE"/>
          </a:solidFill>
          <a:ln w="25400">
            <a:solidFill>
              <a:srgbClr val="B77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B7731A"/>
                </a:solidFill>
                <a:latin typeface="Open Sans"/>
              </a:rPr>
              <a:t>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44184" y="1938528"/>
            <a:ext cx="301751" cy="301751"/>
          </a:xfrm>
          <a:prstGeom prst="rect">
            <a:avLst/>
          </a:prstGeom>
          <a:solidFill>
            <a:srgbClr val="D7EAF0"/>
          </a:solidFill>
          <a:ln w="25400">
            <a:solidFill>
              <a:srgbClr val="B77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B7731A"/>
                </a:solidFill>
                <a:latin typeface="Open Sans"/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6373368" y="1938528"/>
            <a:ext cx="301751" cy="301751"/>
          </a:xfrm>
          <a:prstGeom prst="rect">
            <a:avLst/>
          </a:prstGeom>
          <a:solidFill>
            <a:srgbClr val="D7EAF0"/>
          </a:solidFill>
          <a:ln w="25400">
            <a:solidFill>
              <a:srgbClr val="B77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B7731A"/>
                </a:solidFill>
                <a:latin typeface="Open Sans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6702552" y="1938528"/>
            <a:ext cx="301751" cy="301751"/>
          </a:xfrm>
          <a:prstGeom prst="rect">
            <a:avLst/>
          </a:prstGeom>
          <a:solidFill>
            <a:srgbClr val="D7EAF0"/>
          </a:solidFill>
          <a:ln w="9525">
            <a:solidFill>
              <a:srgbClr val="0C6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0C6A87"/>
                </a:solidFill>
                <a:latin typeface="Open Sans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7031736" y="1938528"/>
            <a:ext cx="301751" cy="301751"/>
          </a:xfrm>
          <a:prstGeom prst="rect">
            <a:avLst/>
          </a:prstGeom>
          <a:solidFill>
            <a:srgbClr val="D7EAF0"/>
          </a:solidFill>
          <a:ln w="9525">
            <a:solidFill>
              <a:srgbClr val="0C6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0C6A87"/>
                </a:solidFill>
                <a:latin typeface="Open Sans"/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7360920" y="1938528"/>
            <a:ext cx="301751" cy="301751"/>
          </a:xfrm>
          <a:prstGeom prst="rect">
            <a:avLst/>
          </a:prstGeom>
          <a:solidFill>
            <a:srgbClr val="D7EAF0"/>
          </a:solidFill>
          <a:ln w="9525">
            <a:solidFill>
              <a:srgbClr val="0C6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0C6A87"/>
                </a:solidFill>
                <a:latin typeface="Open Sans"/>
              </a:rPr>
              <a:t/>
            </a:r>
          </a:p>
        </p:txBody>
      </p:sp>
      <p:sp>
        <p:nvSpPr>
          <p:cNvPr id="66" name="Rectangle 65"/>
          <p:cNvSpPr/>
          <p:nvPr/>
        </p:nvSpPr>
        <p:spPr>
          <a:xfrm>
            <a:off x="7690104" y="1938528"/>
            <a:ext cx="301751" cy="301751"/>
          </a:xfrm>
          <a:prstGeom prst="rect">
            <a:avLst/>
          </a:prstGeom>
          <a:solidFill>
            <a:srgbClr val="D7EAF0"/>
          </a:solidFill>
          <a:ln w="9525">
            <a:solidFill>
              <a:srgbClr val="0C6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0C6A87"/>
                </a:solidFill>
                <a:latin typeface="Open Sans"/>
              </a:rPr>
              <a:t/>
            </a:r>
          </a:p>
        </p:txBody>
      </p:sp>
      <p:sp>
        <p:nvSpPr>
          <p:cNvPr id="67" name="Rectangle 66"/>
          <p:cNvSpPr/>
          <p:nvPr/>
        </p:nvSpPr>
        <p:spPr>
          <a:xfrm>
            <a:off x="8019288" y="1938528"/>
            <a:ext cx="301751" cy="301751"/>
          </a:xfrm>
          <a:prstGeom prst="rect">
            <a:avLst/>
          </a:prstGeom>
          <a:solidFill>
            <a:srgbClr val="E6EBEE"/>
          </a:solidFill>
          <a:ln w="9525">
            <a:solidFill>
              <a:srgbClr val="6B77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6B7782"/>
                </a:solidFill>
                <a:latin typeface="Open Sans"/>
              </a:rPr>
              <a:t>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715000" y="2267712"/>
            <a:ext cx="301751" cy="301751"/>
          </a:xfrm>
          <a:prstGeom prst="rect">
            <a:avLst/>
          </a:prstGeom>
          <a:solidFill>
            <a:srgbClr val="E6EBEE"/>
          </a:solidFill>
          <a:ln w="9525">
            <a:solidFill>
              <a:srgbClr val="6B77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6B7782"/>
                </a:solidFill>
                <a:latin typeface="Open Sans"/>
              </a:rPr>
              <a:t>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44184" y="2267712"/>
            <a:ext cx="301751" cy="301751"/>
          </a:xfrm>
          <a:prstGeom prst="rect">
            <a:avLst/>
          </a:prstGeom>
          <a:solidFill>
            <a:srgbClr val="D7EAF0"/>
          </a:solidFill>
          <a:ln w="9525">
            <a:solidFill>
              <a:srgbClr val="0C6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0C6A87"/>
                </a:solidFill>
                <a:latin typeface="Open Sans"/>
              </a:rPr>
              <a:t/>
            </a:r>
          </a:p>
        </p:txBody>
      </p:sp>
      <p:sp>
        <p:nvSpPr>
          <p:cNvPr id="70" name="Rectangle 69"/>
          <p:cNvSpPr/>
          <p:nvPr/>
        </p:nvSpPr>
        <p:spPr>
          <a:xfrm>
            <a:off x="6373368" y="2267712"/>
            <a:ext cx="301751" cy="301751"/>
          </a:xfrm>
          <a:prstGeom prst="rect">
            <a:avLst/>
          </a:prstGeom>
          <a:solidFill>
            <a:srgbClr val="D7EAF0"/>
          </a:solidFill>
          <a:ln w="9525">
            <a:solidFill>
              <a:srgbClr val="0C6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0C6A87"/>
                </a:solidFill>
                <a:latin typeface="Open Sans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6702552" y="2267712"/>
            <a:ext cx="301751" cy="301751"/>
          </a:xfrm>
          <a:prstGeom prst="rect">
            <a:avLst/>
          </a:prstGeom>
          <a:solidFill>
            <a:srgbClr val="D7EAF0"/>
          </a:solidFill>
          <a:ln w="9525">
            <a:solidFill>
              <a:srgbClr val="0C6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0C6A87"/>
                </a:solidFill>
                <a:latin typeface="Open Sans"/>
              </a:rPr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7031736" y="2267712"/>
            <a:ext cx="301751" cy="301751"/>
          </a:xfrm>
          <a:prstGeom prst="rect">
            <a:avLst/>
          </a:prstGeom>
          <a:solidFill>
            <a:srgbClr val="D7EAF0"/>
          </a:solidFill>
          <a:ln w="9525">
            <a:solidFill>
              <a:srgbClr val="0C6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0C6A87"/>
                </a:solidFill>
                <a:latin typeface="Open Sans"/>
              </a:rPr>
              <a:t/>
            </a:r>
          </a:p>
        </p:txBody>
      </p:sp>
      <p:sp>
        <p:nvSpPr>
          <p:cNvPr id="73" name="Rectangle 72"/>
          <p:cNvSpPr/>
          <p:nvPr/>
        </p:nvSpPr>
        <p:spPr>
          <a:xfrm>
            <a:off x="7360920" y="2267712"/>
            <a:ext cx="301751" cy="301751"/>
          </a:xfrm>
          <a:prstGeom prst="rect">
            <a:avLst/>
          </a:prstGeom>
          <a:solidFill>
            <a:srgbClr val="D7EAF0"/>
          </a:solidFill>
          <a:ln w="9525">
            <a:solidFill>
              <a:srgbClr val="0C6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0C6A87"/>
                </a:solidFill>
                <a:latin typeface="Open Sans"/>
              </a:rPr>
              <a:t/>
            </a:r>
          </a:p>
        </p:txBody>
      </p:sp>
      <p:sp>
        <p:nvSpPr>
          <p:cNvPr id="74" name="Rectangle 73"/>
          <p:cNvSpPr/>
          <p:nvPr/>
        </p:nvSpPr>
        <p:spPr>
          <a:xfrm>
            <a:off x="7690104" y="2267712"/>
            <a:ext cx="301751" cy="301751"/>
          </a:xfrm>
          <a:prstGeom prst="rect">
            <a:avLst/>
          </a:prstGeom>
          <a:solidFill>
            <a:srgbClr val="D7EAF0"/>
          </a:solidFill>
          <a:ln w="9525">
            <a:solidFill>
              <a:srgbClr val="0C6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0C6A87"/>
                </a:solidFill>
                <a:latin typeface="Open Sans"/>
              </a:rPr>
              <a:t/>
            </a:r>
          </a:p>
        </p:txBody>
      </p:sp>
      <p:sp>
        <p:nvSpPr>
          <p:cNvPr id="75" name="Rectangle 74"/>
          <p:cNvSpPr/>
          <p:nvPr/>
        </p:nvSpPr>
        <p:spPr>
          <a:xfrm>
            <a:off x="8019288" y="2267712"/>
            <a:ext cx="301751" cy="301751"/>
          </a:xfrm>
          <a:prstGeom prst="rect">
            <a:avLst/>
          </a:prstGeom>
          <a:solidFill>
            <a:srgbClr val="E6EBEE"/>
          </a:solidFill>
          <a:ln w="9525">
            <a:solidFill>
              <a:srgbClr val="6B77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6B7782"/>
                </a:solidFill>
                <a:latin typeface="Open Sans"/>
              </a:rPr>
              <a:t>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715000" y="2596896"/>
            <a:ext cx="301751" cy="301751"/>
          </a:xfrm>
          <a:prstGeom prst="rect">
            <a:avLst/>
          </a:prstGeom>
          <a:solidFill>
            <a:srgbClr val="E6EBEE"/>
          </a:solidFill>
          <a:ln w="9525">
            <a:solidFill>
              <a:srgbClr val="6B77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6B7782"/>
                </a:solidFill>
                <a:latin typeface="Open Sans"/>
              </a:rPr>
              <a:t>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44184" y="2596896"/>
            <a:ext cx="301751" cy="301751"/>
          </a:xfrm>
          <a:prstGeom prst="rect">
            <a:avLst/>
          </a:prstGeom>
          <a:solidFill>
            <a:srgbClr val="D7EAF0"/>
          </a:solidFill>
          <a:ln w="9525">
            <a:solidFill>
              <a:srgbClr val="0C6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0C6A87"/>
                </a:solidFill>
                <a:latin typeface="Open Sans"/>
              </a:rPr>
              <a:t/>
            </a:r>
          </a:p>
        </p:txBody>
      </p:sp>
      <p:sp>
        <p:nvSpPr>
          <p:cNvPr id="78" name="Rectangle 77"/>
          <p:cNvSpPr/>
          <p:nvPr/>
        </p:nvSpPr>
        <p:spPr>
          <a:xfrm>
            <a:off x="6373368" y="2596896"/>
            <a:ext cx="301751" cy="301751"/>
          </a:xfrm>
          <a:prstGeom prst="rect">
            <a:avLst/>
          </a:prstGeom>
          <a:solidFill>
            <a:srgbClr val="D7EAF0"/>
          </a:solidFill>
          <a:ln w="9525">
            <a:solidFill>
              <a:srgbClr val="0C6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0C6A87"/>
                </a:solidFill>
                <a:latin typeface="Open Sans"/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6702552" y="2596896"/>
            <a:ext cx="301751" cy="301751"/>
          </a:xfrm>
          <a:prstGeom prst="rect">
            <a:avLst/>
          </a:prstGeom>
          <a:solidFill>
            <a:srgbClr val="D7EAF0"/>
          </a:solidFill>
          <a:ln w="9525">
            <a:solidFill>
              <a:srgbClr val="0C6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0C6A87"/>
                </a:solidFill>
                <a:latin typeface="Open Sans"/>
              </a:rPr>
              <a:t/>
            </a:r>
          </a:p>
        </p:txBody>
      </p:sp>
      <p:sp>
        <p:nvSpPr>
          <p:cNvPr id="80" name="Rectangle 79"/>
          <p:cNvSpPr/>
          <p:nvPr/>
        </p:nvSpPr>
        <p:spPr>
          <a:xfrm>
            <a:off x="7031736" y="2596896"/>
            <a:ext cx="301751" cy="301751"/>
          </a:xfrm>
          <a:prstGeom prst="rect">
            <a:avLst/>
          </a:prstGeom>
          <a:solidFill>
            <a:srgbClr val="D7EAF0"/>
          </a:solidFill>
          <a:ln w="9525">
            <a:solidFill>
              <a:srgbClr val="0C6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0C6A87"/>
                </a:solidFill>
                <a:latin typeface="Open Sans"/>
              </a:rPr>
              <a:t/>
            </a:r>
          </a:p>
        </p:txBody>
      </p:sp>
      <p:sp>
        <p:nvSpPr>
          <p:cNvPr id="81" name="Rectangle 80"/>
          <p:cNvSpPr/>
          <p:nvPr/>
        </p:nvSpPr>
        <p:spPr>
          <a:xfrm>
            <a:off x="7360920" y="2596896"/>
            <a:ext cx="301751" cy="301751"/>
          </a:xfrm>
          <a:prstGeom prst="rect">
            <a:avLst/>
          </a:prstGeom>
          <a:solidFill>
            <a:srgbClr val="D7EAF0"/>
          </a:solidFill>
          <a:ln w="9525">
            <a:solidFill>
              <a:srgbClr val="0C6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0C6A87"/>
                </a:solidFill>
                <a:latin typeface="Open Sans"/>
              </a:rPr>
              <a:t/>
            </a:r>
          </a:p>
        </p:txBody>
      </p:sp>
      <p:sp>
        <p:nvSpPr>
          <p:cNvPr id="82" name="Rectangle 81"/>
          <p:cNvSpPr/>
          <p:nvPr/>
        </p:nvSpPr>
        <p:spPr>
          <a:xfrm>
            <a:off x="7690104" y="2596896"/>
            <a:ext cx="301751" cy="301751"/>
          </a:xfrm>
          <a:prstGeom prst="rect">
            <a:avLst/>
          </a:prstGeom>
          <a:solidFill>
            <a:srgbClr val="D7EAF0"/>
          </a:solidFill>
          <a:ln w="9525">
            <a:solidFill>
              <a:srgbClr val="0C6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0C6A87"/>
                </a:solidFill>
                <a:latin typeface="Open Sans"/>
              </a:rPr>
              <a:t/>
            </a:r>
          </a:p>
        </p:txBody>
      </p:sp>
      <p:sp>
        <p:nvSpPr>
          <p:cNvPr id="83" name="Rectangle 82"/>
          <p:cNvSpPr/>
          <p:nvPr/>
        </p:nvSpPr>
        <p:spPr>
          <a:xfrm>
            <a:off x="8019288" y="2596896"/>
            <a:ext cx="301751" cy="301751"/>
          </a:xfrm>
          <a:prstGeom prst="rect">
            <a:avLst/>
          </a:prstGeom>
          <a:solidFill>
            <a:srgbClr val="E6EBEE"/>
          </a:solidFill>
          <a:ln w="9525">
            <a:solidFill>
              <a:srgbClr val="6B77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6B7782"/>
                </a:solidFill>
                <a:latin typeface="Open Sans"/>
              </a:rPr>
              <a:t>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715000" y="2926079"/>
            <a:ext cx="301751" cy="301751"/>
          </a:xfrm>
          <a:prstGeom prst="rect">
            <a:avLst/>
          </a:prstGeom>
          <a:solidFill>
            <a:srgbClr val="E6EBEE"/>
          </a:solidFill>
          <a:ln w="9525">
            <a:solidFill>
              <a:srgbClr val="6B77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6B7782"/>
                </a:solidFill>
                <a:latin typeface="Open Sans"/>
              </a:rPr>
              <a:t>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44184" y="2926079"/>
            <a:ext cx="301751" cy="301751"/>
          </a:xfrm>
          <a:prstGeom prst="rect">
            <a:avLst/>
          </a:prstGeom>
          <a:solidFill>
            <a:srgbClr val="E6EBEE"/>
          </a:solidFill>
          <a:ln w="9525">
            <a:solidFill>
              <a:srgbClr val="6B77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6B7782"/>
                </a:solidFill>
                <a:latin typeface="Open Sans"/>
              </a:rPr>
              <a:t>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373368" y="2926079"/>
            <a:ext cx="301751" cy="301751"/>
          </a:xfrm>
          <a:prstGeom prst="rect">
            <a:avLst/>
          </a:prstGeom>
          <a:solidFill>
            <a:srgbClr val="E6EBEE"/>
          </a:solidFill>
          <a:ln w="9525">
            <a:solidFill>
              <a:srgbClr val="6B77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6B7782"/>
                </a:solidFill>
                <a:latin typeface="Open Sans"/>
              </a:rPr>
              <a:t>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702552" y="2926079"/>
            <a:ext cx="301751" cy="301751"/>
          </a:xfrm>
          <a:prstGeom prst="rect">
            <a:avLst/>
          </a:prstGeom>
          <a:solidFill>
            <a:srgbClr val="E6EBEE"/>
          </a:solidFill>
          <a:ln w="9525">
            <a:solidFill>
              <a:srgbClr val="6B77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6B7782"/>
                </a:solidFill>
                <a:latin typeface="Open Sans"/>
              </a:rPr>
              <a:t>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031736" y="2926079"/>
            <a:ext cx="301751" cy="301751"/>
          </a:xfrm>
          <a:prstGeom prst="rect">
            <a:avLst/>
          </a:prstGeom>
          <a:solidFill>
            <a:srgbClr val="E6EBEE"/>
          </a:solidFill>
          <a:ln w="9525">
            <a:solidFill>
              <a:srgbClr val="6B77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6B7782"/>
                </a:solidFill>
                <a:latin typeface="Open Sans"/>
              </a:rPr>
              <a:t>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60920" y="2926079"/>
            <a:ext cx="301751" cy="301751"/>
          </a:xfrm>
          <a:prstGeom prst="rect">
            <a:avLst/>
          </a:prstGeom>
          <a:solidFill>
            <a:srgbClr val="E6EBEE"/>
          </a:solidFill>
          <a:ln w="9525">
            <a:solidFill>
              <a:srgbClr val="6B77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6B7782"/>
                </a:solidFill>
                <a:latin typeface="Open Sans"/>
              </a:rPr>
              <a:t>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690104" y="2926079"/>
            <a:ext cx="301751" cy="301751"/>
          </a:xfrm>
          <a:prstGeom prst="rect">
            <a:avLst/>
          </a:prstGeom>
          <a:solidFill>
            <a:srgbClr val="E6EBEE"/>
          </a:solidFill>
          <a:ln w="9525">
            <a:solidFill>
              <a:srgbClr val="6B77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6B7782"/>
                </a:solidFill>
                <a:latin typeface="Open Sans"/>
              </a:rPr>
              <a:t>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019288" y="2926079"/>
            <a:ext cx="301751" cy="301751"/>
          </a:xfrm>
          <a:prstGeom prst="rect">
            <a:avLst/>
          </a:prstGeom>
          <a:solidFill>
            <a:srgbClr val="E6EBEE"/>
          </a:solidFill>
          <a:ln w="9525">
            <a:solidFill>
              <a:srgbClr val="6B77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0">
                <a:solidFill>
                  <a:srgbClr val="6B7782"/>
                </a:solidFill>
                <a:latin typeface="Open Sans"/>
              </a:rPr>
              <a:t>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23560" y="33375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6B7782"/>
                </a:solidFill>
                <a:latin typeface="Open Sans"/>
              </a:rPr>
              <a:t>grey: </a:t>
            </a:r>
            <a:r>
              <a:rPr sz="950" b="0" i="0">
                <a:solidFill>
                  <a:srgbClr val="5A6875"/>
                </a:solidFill>
                <a:latin typeface="Open Sans"/>
              </a:rPr>
              <a:t>stored zeros, 1 pixel wide</a:t>
            </a:r>
          </a:p>
          <a:p>
            <a:pPr algn="l">
              <a:spcBef>
                <a:spcPts val="600"/>
              </a:spcBef>
            </a:pPr>
            <a:r>
              <a:rPr sz="950" b="1" i="0">
                <a:solidFill>
                  <a:srgbClr val="B7731A"/>
                </a:solidFill>
                <a:latin typeface="Open Sans"/>
              </a:rPr>
              <a:t>amber: </a:t>
            </a:r>
            <a:r>
              <a:rPr sz="950" b="0" i="0">
                <a:solidFill>
                  <a:srgbClr val="5A6875"/>
                </a:solidFill>
                <a:latin typeface="Open Sans"/>
              </a:rPr>
              <a:t>a 3×3 window at the corner reads zeros, no if-statement</a:t>
            </a:r>
          </a:p>
          <a:p>
            <a:pPr algn="l">
              <a:spcBef>
                <a:spcPts val="600"/>
              </a:spcBef>
            </a:pPr>
            <a:r>
              <a:rPr sz="950" b="1" i="0">
                <a:solidFill>
                  <a:srgbClr val="0C6A87"/>
                </a:solidFill>
                <a:latin typeface="Open Sans"/>
              </a:rPr>
              <a:t>teal: </a:t>
            </a:r>
            <a:r>
              <a:rPr sz="950" b="0" i="0">
                <a:solidFill>
                  <a:srgbClr val="5A6875"/>
                </a:solidFill>
                <a:latin typeface="Open Sans"/>
              </a:rPr>
              <a:t>interior, the only part a kernel writes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Does it suit every kernel? Mostly, with two costs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822960"/>
                <a:gridCol w="2971800"/>
                <a:gridCol w="2834640"/>
              </a:tblGrid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2630"/>
                          </a:solidFill>
                          <a:latin typeface="Open Sans"/>
                        </a:rPr>
                        <a:t>Kernel</a:t>
                      </a:r>
                    </a:p>
                  </a:txBody>
                  <a:tcPr marL="54864" marR="54864" marT="27432" marB="27432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2630"/>
                          </a:solidFill>
                          <a:latin typeface="Open Sans"/>
                        </a:rPr>
                        <a:t>Fit</a:t>
                      </a:r>
                    </a:p>
                  </a:txBody>
                  <a:tcPr marL="54864" marR="54864" marT="27432" marB="27432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2630"/>
                          </a:solidFill>
                          <a:latin typeface="Open Sans"/>
                        </a:rPr>
                        <a:t>Why</a:t>
                      </a:r>
                    </a:p>
                  </a:txBody>
                  <a:tcPr marL="54864" marR="54864" marT="27432" marB="27432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2630"/>
                          </a:solidFill>
                          <a:latin typeface="Open Sans"/>
                        </a:rPr>
                        <a:t>Cost or open question</a:t>
                      </a:r>
                    </a:p>
                  </a:txBody>
                  <a:tcPr marL="54864" marR="54864" marT="27432" marB="27432">
                    <a:solidFill>
                      <a:srgbClr val="F1F3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2630"/>
                          </a:solidFill>
                          <a:latin typeface="Open Sans"/>
                        </a:rPr>
                        <a:t>3×3 stride 1 (Om)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2630"/>
                          </a:solidFill>
                          <a:latin typeface="Open Sans"/>
                        </a:rPr>
                        <a:t>Strong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2630"/>
                          </a:solidFill>
                          <a:latin typeface="Open Sans"/>
                        </a:rPr>
                        <a:t>8 output channels = 1 load; 1 broadcast feeds 2 FMAs; halo: no edge branches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2630"/>
                          </a:solidFill>
                          <a:latin typeface="Open Sans"/>
                        </a:rPr>
                        <a:t>None found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2630"/>
                          </a:solidFill>
                          <a:latin typeface="Open Sans"/>
                        </a:rPr>
                        <a:t>1×1 (Simon)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2630"/>
                          </a:solidFill>
                          <a:latin typeface="Open Sans"/>
                        </a:rPr>
                        <a:t>Strong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2630"/>
                          </a:solidFill>
                          <a:latin typeface="Open Sans"/>
                        </a:rPr>
                        <a:t>Matrix multiply over channels: same broadcast-input, vector-output pattern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2630"/>
                          </a:solidFill>
                          <a:latin typeface="Open Sans"/>
                        </a:rPr>
                        <a:t>Halo is unused: memory, and skipping the border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2630"/>
                          </a:solidFill>
                          <a:latin typeface="Open Sans"/>
                        </a:rPr>
                        <a:t>3×3 stride 2 (O'Malley)</a:t>
                      </a:r>
                    </a:p>
                  </a:txBody>
                  <a:tcPr marL="54864" marR="54864" marT="27432" marB="27432">
                    <a:solidFill>
                      <a:srgbClr val="F8E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2630"/>
                          </a:solidFill>
                          <a:latin typeface="Open Sans"/>
                        </a:rPr>
                        <a:t>Open</a:t>
                      </a:r>
                    </a:p>
                  </a:txBody>
                  <a:tcPr marL="54864" marR="54864" marT="27432" marB="27432">
                    <a:solidFill>
                      <a:srgbClr val="F8E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2630"/>
                          </a:solidFill>
                          <a:latin typeface="Open Sans"/>
                        </a:rPr>
                        <a:t>Same loads and halo as stride 1</a:t>
                      </a:r>
                    </a:p>
                  </a:txBody>
                  <a:tcPr marL="54864" marR="54864" marT="27432" marB="27432">
                    <a:solidFill>
                      <a:srgbClr val="F8E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2630"/>
                          </a:solidFill>
                          <a:latin typeface="Open Sans"/>
                        </a:rPr>
                        <a:t>Every other pixel per tap = half a cache line; all columns across 3 taps. Even/odd split untested</a:t>
                      </a:r>
                    </a:p>
                  </a:txBody>
                  <a:tcPr marL="54864" marR="54864" marT="27432" marB="27432">
                    <a:solidFill>
                      <a:srgbClr val="F8E5E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2630"/>
                          </a:solidFill>
                          <a:latin typeface="Open Sans"/>
                        </a:rPr>
                        <a:t>SPPF max-pool (Simon)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2630"/>
                          </a:solidFill>
                          <a:latin typeface="Open Sans"/>
                        </a:rPr>
                        <a:t>Own buffers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2630"/>
                          </a:solidFill>
                          <a:latin typeface="Open Sans"/>
                        </a:rPr>
                        <a:t>8 channels per register: one vector max per 8 channels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2630"/>
                          </a:solidFill>
                          <a:latin typeface="Open Sans"/>
                        </a:rPr>
                        <a:t>Needs a 2-pixel −∞ border, not 1-pixel zeros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6118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B2630"/>
                </a:solidFill>
                <a:latin typeface="Open Sans"/>
              </a:rPr>
              <a:t>Shared win: </a:t>
            </a:r>
            <a:r>
              <a:rPr sz="1100" b="0" i="0">
                <a:solidFill>
                  <a:srgbClr val="5A6875"/>
                </a:solidFill>
                <a:latin typeface="Open Sans"/>
              </a:rPr>
              <a:t>no conversion between layers. C2f's Split is a pointer offset (each 8-channel block is its own plane), and Concat is the producer writing into its slice.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it costs us, and what we have not measured</a:t>
            </a:r>
          </a:p>
        </p:txBody>
      </p:sp>
      <p:sp>
        <p:nvSpPr>
          <p:cNvPr id="3" name="c0"/>
          <p:cNvSpPr/>
          <p:nvPr/>
        </p:nvSpPr>
        <p:spPr>
          <a:xfrm>
            <a:off x="457200" y="1005840"/>
            <a:ext cx="3931920" cy="1600200"/>
          </a:xfrm>
          <a:prstGeom prst="roundRect">
            <a:avLst>
              <a:gd name="adj" fmla="val 8000"/>
            </a:avLst>
          </a:prstGeom>
          <a:solidFill>
            <a:srgbClr val="F8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BB0027"/>
                </a:solidFill>
                <a:latin typeface="Open Sans"/>
              </a:rPr>
              <a:t>model.0: 3 input channels padded to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B0027"/>
                </a:solidFill>
                <a:latin typeface="Open Sans"/>
              </a:rPr>
              <a:t>2.7×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38528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6875"/>
                </a:solidFill>
                <a:latin typeface="Open Sans"/>
              </a:rPr>
              <a:t>the useful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417320"/>
            <a:ext cx="2286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5A6875"/>
                </a:solidFill>
                <a:latin typeface="Open Sans"/>
              </a:rPr>
              <a:t>RGB input, C = 3 → one block of 8: 5 of 8 FMAs multiply zeros. One of O'Malley's 7 stride-2 layers (88.5 MFLOPs). Fix: a first-layer kernel or layout.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B2630"/>
                </a:solidFill>
                <a:latin typeface="Open Sans"/>
              </a:rPr>
              <a:t>Halo memory: (H+2)(W+2) / HW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035808"/>
          <a:ext cx="39319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685800"/>
                <a:gridCol w="685800"/>
                <a:gridCol w="685800"/>
                <a:gridCol w="685800"/>
              </a:tblGrid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2630"/>
                          </a:solidFill>
                          <a:latin typeface="Open Sans"/>
                        </a:rPr>
                        <a:t>Plane</a:t>
                      </a:r>
                    </a:p>
                  </a:txBody>
                  <a:tcPr marL="54864" marR="54864" marT="27432" marB="27432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2630"/>
                          </a:solidFill>
                          <a:latin typeface="Open Sans"/>
                        </a:rPr>
                        <a:t>160×160</a:t>
                      </a:r>
                    </a:p>
                  </a:txBody>
                  <a:tcPr marL="54864" marR="54864" marT="27432" marB="27432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2630"/>
                          </a:solidFill>
                          <a:latin typeface="Open Sans"/>
                        </a:rPr>
                        <a:t>80×80</a:t>
                      </a:r>
                    </a:p>
                  </a:txBody>
                  <a:tcPr marL="54864" marR="54864" marT="27432" marB="27432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2630"/>
                          </a:solidFill>
                          <a:latin typeface="Open Sans"/>
                        </a:rPr>
                        <a:t>40×40</a:t>
                      </a:r>
                    </a:p>
                  </a:txBody>
                  <a:tcPr marL="54864" marR="54864" marT="27432" marB="27432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2630"/>
                          </a:solidFill>
                          <a:latin typeface="Open Sans"/>
                        </a:rPr>
                        <a:t>20×20</a:t>
                      </a:r>
                    </a:p>
                  </a:txBody>
                  <a:tcPr marL="54864" marR="54864" marT="27432" marB="27432">
                    <a:solidFill>
                      <a:srgbClr val="F1F3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2630"/>
                          </a:solidFill>
                          <a:latin typeface="Open Sans"/>
                        </a:rPr>
                        <a:t>Extra memory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2630"/>
                          </a:solidFill>
                          <a:latin typeface="Open Sans"/>
                        </a:rPr>
                        <a:t>+2.5%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2630"/>
                          </a:solidFill>
                          <a:latin typeface="Open Sans"/>
                        </a:rPr>
                        <a:t>+5.1%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2630"/>
                          </a:solidFill>
                          <a:latin typeface="Open Sans"/>
                        </a:rPr>
                        <a:t>+10.3%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2630"/>
                          </a:solidFill>
                          <a:latin typeface="Open Sans"/>
                        </a:rPr>
                        <a:t>+21%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c1"/>
          <p:cNvSpPr/>
          <p:nvPr/>
        </p:nvSpPr>
        <p:spPr>
          <a:xfrm>
            <a:off x="4663440" y="1005840"/>
            <a:ext cx="4023360" cy="3127248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107899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B2630"/>
                </a:solidFill>
                <a:latin typeface="Open Sans"/>
              </a:rPr>
              <a:t>Not measured yet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1417320"/>
            <a:ext cx="37947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B2630"/>
                </a:solidFill>
                <a:latin typeface="Open Sans"/>
              </a:rPr>
              <a:t>What we claim: </a:t>
            </a:r>
            <a:r>
              <a:rPr sz="1050" b="0" i="0">
                <a:solidFill>
                  <a:srgbClr val="5A6875"/>
                </a:solidFill>
                <a:latin typeface="Open Sans"/>
              </a:rPr>
              <a:t>the layout suits every kernel's loads and removes conversions between layers.</a:t>
            </a:r>
          </a:p>
          <a:p>
            <a:pPr algn="l">
              <a:spcBef>
                <a:spcPts val="600"/>
              </a:spcBef>
            </a:pPr>
            <a:r>
              <a:rPr sz="1050" b="1" i="0">
                <a:solidFill>
                  <a:srgbClr val="1B2630"/>
                </a:solidFill>
                <a:latin typeface="Open Sans"/>
              </a:rPr>
              <a:t>What we have not done: </a:t>
            </a:r>
            <a:r>
              <a:rPr sz="1050" b="0" i="0">
                <a:solidFill>
                  <a:srgbClr val="5A6875"/>
                </a:solidFill>
                <a:latin typeface="Open Sans"/>
              </a:rPr>
              <a:t>timed any kernel on a second layout.</a:t>
            </a:r>
          </a:p>
          <a:p>
            <a:pPr algn="l">
              <a:spcBef>
                <a:spcPts val="600"/>
              </a:spcBef>
            </a:pPr>
            <a:r>
              <a:rPr sz="1050" b="1" i="0">
                <a:solidFill>
                  <a:srgbClr val="1B2630"/>
                </a:solidFill>
                <a:latin typeface="Open Sans"/>
              </a:rPr>
              <a:t>Next experiments:</a:t>
            </a:r>
          </a:p>
          <a:p>
            <a:pPr algn="l">
              <a:spcBef>
                <a:spcPts val="600"/>
              </a:spcBef>
            </a:pPr>
            <a:r>
              <a:rPr sz="1050" b="0" i="0">
                <a:solidFill>
                  <a:srgbClr val="5A6875"/>
                </a:solidFill>
                <a:latin typeface="Open Sans"/>
              </a:rPr>
              <a:t>1. 2×5 stride-1 kernel: plain NCHW vs NCHW8c on a few layers</a:t>
            </a:r>
          </a:p>
          <a:p>
            <a:pPr algn="l">
              <a:spcBef>
                <a:spcPts val="600"/>
              </a:spcBef>
            </a:pPr>
            <a:r>
              <a:rPr sz="1050" b="0" i="0">
                <a:solidFill>
                  <a:srgbClr val="5A6875"/>
                </a:solidFill>
                <a:latin typeface="Open Sans"/>
              </a:rPr>
              <a:t>2. Stride 2: even/odd column split vs NCHW8c</a:t>
            </a:r>
          </a:p>
          <a:p>
            <a:pPr algn="l">
              <a:spcBef>
                <a:spcPts val="600"/>
              </a:spcBef>
            </a:pPr>
            <a:r>
              <a:rPr sz="1050" b="0" i="0">
                <a:solidFill>
                  <a:srgbClr val="5A6875"/>
                </a:solidFill>
                <a:latin typeface="Open Sans"/>
              </a:rPr>
              <a:t>3. A model.0 kernel that does not pad C = 3 to 8</a:t>
            </a:r>
          </a:p>
          <a:p>
            <a:pPr algn="l">
              <a:spcBef>
                <a:spcPts val="600"/>
              </a:spcBef>
            </a:pPr>
            <a:r>
              <a:rPr sz="1050" b="0" i="0">
                <a:solidFill>
                  <a:srgbClr val="5A6875"/>
                </a:solidFill>
                <a:latin typeface="Open Sans"/>
              </a:rPr>
              <a:t>4. 1×1: output without a halo when the next layer is 1×1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MU PPT Theme">
  <a:themeElements>
    <a:clrScheme name="Custom 1">
      <a:dk1>
        <a:srgbClr val="000000"/>
      </a:dk1>
      <a:lt1>
        <a:srgbClr val="FFFFFF"/>
      </a:lt1>
      <a:dk2>
        <a:srgbClr val="75787B"/>
      </a:dk2>
      <a:lt2>
        <a:srgbClr val="C8C9C7"/>
      </a:lt2>
      <a:accent1>
        <a:srgbClr val="BB0000"/>
      </a:accent1>
      <a:accent2>
        <a:srgbClr val="75787B"/>
      </a:accent2>
      <a:accent3>
        <a:srgbClr val="00833C"/>
      </a:accent3>
      <a:accent4>
        <a:srgbClr val="F2A900"/>
      </a:accent4>
      <a:accent5>
        <a:srgbClr val="002C71"/>
      </a:accent5>
      <a:accent6>
        <a:srgbClr val="C8C9C7"/>
      </a:accent6>
      <a:hlink>
        <a:srgbClr val="BB0000"/>
      </a:hlink>
      <a:folHlink>
        <a:srgbClr val="82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