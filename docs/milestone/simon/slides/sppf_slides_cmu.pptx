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7"/>
    <p:sldId id="257" r:id="rId6"/>
  </p:sldIdLst>
  <p:sldSz cy="5143500" cx="9144000"/>
  <p:notesSz cx="6858000" cy="9144000"/>
  <p:embeddedFontLst>
    <p:embeddedFont>
      <p:font typeface="Helvetica Neue Light"/>
      <p:regular r:id="rId8"/>
      <p:bold r:id="rId9"/>
      <p:italic r:id="rId10"/>
      <p:boldItalic r:id="rId11"/>
    </p:embeddedFont>
    <p:embeddedFont>
      <p:font typeface="Open Sans Light"/>
      <p:regular r:id="rId12"/>
      <p:bold r:id="rId13"/>
      <p:italic r:id="rId14"/>
      <p:boldItalic r:id="rId15"/>
    </p:embeddedFont>
    <p:embeddedFont>
      <p:font typeface="Open Sans"/>
      <p:regular r:id="rId16"/>
      <p:bold r:id="rId17"/>
      <p:italic r:id="rId18"/>
      <p:boldItalic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font" Target="fonts/HelveticaNeueLight-regular.fntdata"/><Relationship Id="rId9" Type="http://schemas.openxmlformats.org/officeDocument/2006/relationships/font" Target="fonts/HelveticaNeueLight-bold.fntdata"/><Relationship Id="rId10" Type="http://schemas.openxmlformats.org/officeDocument/2006/relationships/font" Target="fonts/HelveticaNeueLight-italic.fntdata"/><Relationship Id="rId11" Type="http://schemas.openxmlformats.org/officeDocument/2006/relationships/font" Target="fonts/HelveticaNeueLight-boldItalic.fntdata"/><Relationship Id="rId12" Type="http://schemas.openxmlformats.org/officeDocument/2006/relationships/font" Target="fonts/OpenSansLight-regular.fntdata"/><Relationship Id="rId13" Type="http://schemas.openxmlformats.org/officeDocument/2006/relationships/font" Target="fonts/OpenSansLight-bold.fntdata"/><Relationship Id="rId14" Type="http://schemas.openxmlformats.org/officeDocument/2006/relationships/font" Target="fonts/OpenSansLight-italic.fntdata"/><Relationship Id="rId15" Type="http://schemas.openxmlformats.org/officeDocument/2006/relationships/font" Target="fonts/OpenSansLight-boldItalic.fntdata"/><Relationship Id="rId16" Type="http://schemas.openxmlformats.org/officeDocument/2006/relationships/font" Target="fonts/OpenSans-regular.fntdata"/><Relationship Id="rId17" Type="http://schemas.openxmlformats.org/officeDocument/2006/relationships/font" Target="fonts/OpenSans-bold.fntdata"/><Relationship Id="rId18" Type="http://schemas.openxmlformats.org/officeDocument/2006/relationships/font" Target="fonts/OpenSans-italic.fntdata"/><Relationship Id="rId19" Type="http://schemas.openxmlformats.org/officeDocument/2006/relationships/font" Target="fonts/OpenSans-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1pPr>
            <a:lvl2pPr indent="-228600" lvl="1" marL="9144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2pPr>
            <a:lvl3pPr indent="-228600" lvl="2" marL="13716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3pPr>
            <a:lvl4pPr indent="-228600" lvl="3" marL="18288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4pPr>
            <a:lvl5pPr indent="-228600" lvl="4" marL="2286000" marR="0" rtl="0" algn="l">
              <a:spcBef>
                <a:spcPts val="360"/>
              </a:spcBef>
              <a:spcAft>
                <a:spcPts val="0"/>
              </a:spcAft>
              <a:buSzPts val="1400"/>
              <a:buNone/>
              <a:defRPr b="0" i="0" sz="1200" u="none" cap="none" strike="noStrike">
                <a:solidFill>
                  <a:schemeClr val="dk1"/>
                </a:solidFill>
                <a:latin typeface="Open Sans"/>
                <a:ea typeface="Open Sans"/>
                <a:cs typeface="Open Sans"/>
                <a:sym typeface="Open Sans"/>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2pPr>
            <a:lvl3pPr lvl="2"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3pPr>
            <a:lvl4pPr lvl="3"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4pPr>
            <a:lvl5pPr lvl="4"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5pPr>
            <a:lvl6pPr lvl="5"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6pPr>
            <a:lvl7pPr lvl="6"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7pPr>
            <a:lvl8pPr lvl="7"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8pPr>
            <a:lvl9pPr lvl="8" marR="0" rtl="0" algn="l">
              <a:spcBef>
                <a:spcPts val="0"/>
              </a:spcBef>
              <a:spcAft>
                <a:spcPts val="0"/>
              </a:spcAft>
              <a:buSzPts val="1400"/>
              <a:buNone/>
              <a:defRPr b="0" i="0" sz="2400" u="none" cap="none" strike="noStrike">
                <a:solidFill>
                  <a:schemeClr val="dk1"/>
                </a:solidFill>
                <a:latin typeface="Helvetica Neue Light"/>
                <a:ea typeface="Helvetica Neue Light"/>
                <a:cs typeface="Helvetica Neue Light"/>
                <a:sym typeface="Helvetica Neue Light"/>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Open Sans"/>
                <a:ea typeface="Open Sans"/>
                <a:cs typeface="Open Sans"/>
                <a:sym typeface="Open Sans"/>
              </a:rPr>
              <a:t>‹#›</a:t>
            </a:fld>
            <a:endParaRPr b="0" i="0" sz="1200" u="none" cap="none" strike="noStrike">
              <a:solidFill>
                <a:schemeClr val="dk1"/>
              </a:solidFill>
              <a:latin typeface="Open Sans"/>
              <a:ea typeface="Open Sans"/>
              <a:cs typeface="Open Sans"/>
              <a:sym typeface="Open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SPPF in model.9 runs three chained 5 by 5, stride 1 max-pools on a 128-channel 20 by 20 tensor and concatenates them. The microkernel is one 5 by 5 pool of one 8-channel plane. There are no FLOPs, so the unit of work is vmaxps: one instruction takes the max of 8 channels. On Broadwell vmaxps issues only on port 1, so the peak is 1 per cycle, our equivalent of 32 FLOPs per cycle. A direct 5 by 5 max is 24 vmaxps per output. Splitting it into a max over 5 columns, then over 5 rows, makes it 8: that is v1. v2 shares pair maxes: P of j is the max of s j and s j plus 1, and each output is max of P i minus 2, P i, s i plus 2, so 3 per pass and 6 per output. Padding has to act like minus infinity because the input is after SiLU and can be negative; we clamp the window at the 2 edge pixels instead of storing a minus-infinity border. Every version matches a scalar 5 by 5 max exactly and matches OpenCV's real model.9 outputs with zero error.</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Same benchmark as the conv microkernel: one plane, pooled over and over, warm-up, TSC times 3.4 over 2.4, swept over the plane size. While the plane fits in the 32 KB L1, up to 17 by 17, v2 is fastest at 6.6 cycles per output vector against its floor of 6. v2 keeps a whole temporary plane between the rows pass and the columns pass, so source, temporary and destination pass 32 KB at 18 by 18. Beyond that it falls to 9 cycles at even sizes and 14 at odd sizes, likely because the planes then alias in the cache. v5 keeps only the 5 rows the columns pass needs, a 3.2 KB ring, so it stays at about 7.6 cycles at every size. At model.9's 20 by 20, v2 is still just ahead. Like Prof. Low said about tiling, v5 does not raise the peak, it flattens the drop-off.</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p:cSld name="Title Slide">
    <p:spTree>
      <p:nvGrpSpPr>
        <p:cNvPr id="20" name="Shape 20"/>
        <p:cNvGrpSpPr/>
        <p:nvPr/>
      </p:nvGrpSpPr>
      <p:grpSpPr>
        <a:xfrm>
          <a:off x="0" y="0"/>
          <a:ext cx="0" cy="0"/>
          <a:chOff x="0" y="0"/>
          <a:chExt cx="0" cy="0"/>
        </a:xfrm>
      </p:grpSpPr>
      <p:sp>
        <p:nvSpPr>
          <p:cNvPr id="21" name="Google Shape;21;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2" name="Google Shape;22;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3" name="Google Shape;23;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
        <p:nvSpPr>
          <p:cNvPr id="24" name="Google Shape;24;p2"/>
          <p:cNvSpPr/>
          <p:nvPr/>
        </p:nvSpPr>
        <p:spPr>
          <a:xfrm>
            <a:off x="0" y="0"/>
            <a:ext cx="9144000" cy="5143500"/>
          </a:xfrm>
          <a:prstGeom prst="rect">
            <a:avLst/>
          </a:prstGeom>
          <a:solidFill>
            <a:srgbClr val="BB0027"/>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2400" u="none" cap="none" strike="noStrike">
              <a:solidFill>
                <a:schemeClr val="dk1"/>
              </a:solidFill>
              <a:latin typeface="Open Sans"/>
              <a:ea typeface="Open Sans"/>
              <a:cs typeface="Open Sans"/>
              <a:sym typeface="Open Sans"/>
            </a:endParaRPr>
          </a:p>
        </p:txBody>
      </p:sp>
      <p:pic>
        <p:nvPicPr>
          <p:cNvPr id="25" name="Google Shape;25;p2"/>
          <p:cNvPicPr preferRelativeResize="0"/>
          <p:nvPr/>
        </p:nvPicPr>
        <p:blipFill rotWithShape="1">
          <a:blip r:embed="rId2">
            <a:alphaModFix/>
          </a:blip>
          <a:srcRect b="0" l="0" r="0" t="0"/>
          <a:stretch/>
        </p:blipFill>
        <p:spPr>
          <a:xfrm>
            <a:off x="2209800" y="895350"/>
            <a:ext cx="3429000" cy="306388"/>
          </a:xfrm>
          <a:prstGeom prst="rect">
            <a:avLst/>
          </a:prstGeom>
          <a:noFill/>
          <a:ln>
            <a:noFill/>
          </a:ln>
        </p:spPr>
      </p:pic>
      <p:pic>
        <p:nvPicPr>
          <p:cNvPr descr="_Plaid-Digital_FINAL-NEW.png" id="26" name="Google Shape;26;p2"/>
          <p:cNvPicPr preferRelativeResize="0"/>
          <p:nvPr/>
        </p:nvPicPr>
        <p:blipFill rotWithShape="1">
          <a:blip r:embed="rId3">
            <a:alphaModFix/>
          </a:blip>
          <a:srcRect b="1990" l="84737" r="4771" t="23988"/>
          <a:stretch/>
        </p:blipFill>
        <p:spPr>
          <a:xfrm>
            <a:off x="457200" y="0"/>
            <a:ext cx="790575" cy="51435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27" name="Shape 27"/>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28" name="Shape 28"/>
        <p:cNvGrpSpPr/>
        <p:nvPr/>
      </p:nvGrpSpPr>
      <p:grpSpPr>
        <a:xfrm>
          <a:off x="0" y="0"/>
          <a:ext cx="0" cy="0"/>
          <a:chOff x="0" y="0"/>
          <a:chExt cx="0" cy="0"/>
        </a:xfrm>
      </p:grpSpPr>
      <p:sp>
        <p:nvSpPr>
          <p:cNvPr id="29" name="Google Shape;29;p4"/>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Column">
  <p:cSld name="1 Column">
    <p:spTree>
      <p:nvGrpSpPr>
        <p:cNvPr id="30" name="Shape 30"/>
        <p:cNvGrpSpPr/>
        <p:nvPr/>
      </p:nvGrpSpPr>
      <p:grpSpPr>
        <a:xfrm>
          <a:off x="0" y="0"/>
          <a:ext cx="0" cy="0"/>
          <a:chOff x="0" y="0"/>
          <a:chExt cx="0" cy="0"/>
        </a:xfrm>
      </p:grpSpPr>
      <p:sp>
        <p:nvSpPr>
          <p:cNvPr id="31" name="Google Shape;31;p5"/>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 type="body"/>
          </p:nvPr>
        </p:nvSpPr>
        <p:spPr>
          <a:xfrm>
            <a:off x="457200" y="1200150"/>
            <a:ext cx="82296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 Column">
  <p:cSld name="2 Column">
    <p:spTree>
      <p:nvGrpSpPr>
        <p:cNvPr id="33" name="Shape 33"/>
        <p:cNvGrpSpPr/>
        <p:nvPr/>
      </p:nvGrpSpPr>
      <p:grpSpPr>
        <a:xfrm>
          <a:off x="0" y="0"/>
          <a:ext cx="0" cy="0"/>
          <a:chOff x="0" y="0"/>
          <a:chExt cx="0" cy="0"/>
        </a:xfrm>
      </p:grpSpPr>
      <p:sp>
        <p:nvSpPr>
          <p:cNvPr id="34" name="Google Shape;34;p6"/>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6"/>
          <p:cNvSpPr txBox="1"/>
          <p:nvPr>
            <p:ph idx="1" type="body"/>
          </p:nvPr>
        </p:nvSpPr>
        <p:spPr>
          <a:xfrm>
            <a:off x="457200" y="1200150"/>
            <a:ext cx="39624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36" name="Google Shape;36;p6"/>
          <p:cNvSpPr txBox="1"/>
          <p:nvPr>
            <p:ph idx="2" type="body"/>
          </p:nvPr>
        </p:nvSpPr>
        <p:spPr>
          <a:xfrm>
            <a:off x="4727448" y="1212300"/>
            <a:ext cx="3959352"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Column">
  <p:cSld name="3 Column">
    <p:spTree>
      <p:nvGrpSpPr>
        <p:cNvPr id="37" name="Shape 37"/>
        <p:cNvGrpSpPr/>
        <p:nvPr/>
      </p:nvGrpSpPr>
      <p:grpSpPr>
        <a:xfrm>
          <a:off x="0" y="0"/>
          <a:ext cx="0" cy="0"/>
          <a:chOff x="0" y="0"/>
          <a:chExt cx="0" cy="0"/>
        </a:xfrm>
      </p:grpSpPr>
      <p:sp>
        <p:nvSpPr>
          <p:cNvPr id="38" name="Google Shape;38;p7"/>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7"/>
          <p:cNvSpPr txBox="1"/>
          <p:nvPr>
            <p:ph idx="1" type="body"/>
          </p:nvPr>
        </p:nvSpPr>
        <p:spPr>
          <a:xfrm>
            <a:off x="4572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0" name="Google Shape;40;p7"/>
          <p:cNvSpPr txBox="1"/>
          <p:nvPr>
            <p:ph idx="2" type="body"/>
          </p:nvPr>
        </p:nvSpPr>
        <p:spPr>
          <a:xfrm>
            <a:off x="32766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1" name="Google Shape;41;p7"/>
          <p:cNvSpPr txBox="1"/>
          <p:nvPr>
            <p:ph idx="3" type="body"/>
          </p:nvPr>
        </p:nvSpPr>
        <p:spPr>
          <a:xfrm>
            <a:off x="6096000" y="1200150"/>
            <a:ext cx="25908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 Column">
  <p:cSld name="4 Column">
    <p:spTree>
      <p:nvGrpSpPr>
        <p:cNvPr id="42" name="Shape 42"/>
        <p:cNvGrpSpPr/>
        <p:nvPr/>
      </p:nvGrpSpPr>
      <p:grpSpPr>
        <a:xfrm>
          <a:off x="0" y="0"/>
          <a:ext cx="0" cy="0"/>
          <a:chOff x="0" y="0"/>
          <a:chExt cx="0" cy="0"/>
        </a:xfrm>
      </p:grpSpPr>
      <p:sp>
        <p:nvSpPr>
          <p:cNvPr id="43" name="Google Shape;43;p8"/>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8"/>
          <p:cNvSpPr txBox="1"/>
          <p:nvPr>
            <p:ph idx="1" type="body"/>
          </p:nvPr>
        </p:nvSpPr>
        <p:spPr>
          <a:xfrm>
            <a:off x="4572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5" name="Google Shape;45;p8"/>
          <p:cNvSpPr txBox="1"/>
          <p:nvPr>
            <p:ph idx="2" type="body"/>
          </p:nvPr>
        </p:nvSpPr>
        <p:spPr>
          <a:xfrm>
            <a:off x="25654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6" name="Google Shape;46;p8"/>
          <p:cNvSpPr txBox="1"/>
          <p:nvPr>
            <p:ph idx="3" type="body"/>
          </p:nvPr>
        </p:nvSpPr>
        <p:spPr>
          <a:xfrm>
            <a:off x="46736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47" name="Google Shape;47;p8"/>
          <p:cNvSpPr txBox="1"/>
          <p:nvPr>
            <p:ph idx="4" type="body"/>
          </p:nvPr>
        </p:nvSpPr>
        <p:spPr>
          <a:xfrm>
            <a:off x="6781800" y="1200150"/>
            <a:ext cx="1905000" cy="3429000"/>
          </a:xfrm>
          <a:prstGeom prst="rect">
            <a:avLst/>
          </a:prstGeom>
          <a:noFill/>
          <a:ln>
            <a:noFill/>
          </a:ln>
        </p:spPr>
        <p:txBody>
          <a:bodyPr anchorCtr="0" anchor="t" bIns="45700" lIns="91425" spcFirstLastPara="1" rIns="91425" wrap="square" tIns="45700">
            <a:noAutofit/>
          </a:bodyPr>
          <a:lstStyle>
            <a:lvl1pPr indent="-228600" lvl="0" marL="457200" algn="l">
              <a:spcBef>
                <a:spcPts val="600"/>
              </a:spcBef>
              <a:spcAft>
                <a:spcPts val="0"/>
              </a:spcAft>
              <a:buSzPts val="1400"/>
              <a:buNone/>
              <a:defRPr/>
            </a:lvl1pPr>
            <a:lvl2pPr indent="-354330" lvl="1" marL="914400" algn="l">
              <a:spcBef>
                <a:spcPts val="600"/>
              </a:spcBef>
              <a:spcAft>
                <a:spcPts val="0"/>
              </a:spcAft>
              <a:buClr>
                <a:schemeClr val="dk1"/>
              </a:buClr>
              <a:buSzPts val="1980"/>
              <a:buChar char="•"/>
              <a:defRPr/>
            </a:lvl2pPr>
            <a:lvl3pPr indent="-354330" lvl="2" marL="1371600" algn="l">
              <a:spcBef>
                <a:spcPts val="600"/>
              </a:spcBef>
              <a:spcAft>
                <a:spcPts val="0"/>
              </a:spcAft>
              <a:buClr>
                <a:schemeClr val="dk1"/>
              </a:buClr>
              <a:buSzPts val="1980"/>
              <a:buChar char="–"/>
              <a:defRPr/>
            </a:lvl3pPr>
            <a:lvl4pPr indent="-354330" lvl="3" marL="1828800" algn="l">
              <a:spcBef>
                <a:spcPts val="600"/>
              </a:spcBef>
              <a:spcAft>
                <a:spcPts val="0"/>
              </a:spcAft>
              <a:buClr>
                <a:schemeClr val="dk1"/>
              </a:buClr>
              <a:buSzPts val="1980"/>
              <a:buChar char="•"/>
              <a:defRPr/>
            </a:lvl4pPr>
            <a:lvl5pPr indent="-354330" lvl="4" marL="2286000" algn="l">
              <a:spcBef>
                <a:spcPts val="600"/>
              </a:spcBef>
              <a:spcAft>
                <a:spcPts val="0"/>
              </a:spcAft>
              <a:buClr>
                <a:schemeClr val="dk1"/>
              </a:buClr>
              <a:buSzPts val="198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pic>
        <p:nvPicPr>
          <p:cNvPr descr="_Plaid-Digital_FINAL-NEW.png" id="10" name="Google Shape;10;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pic>
        <p:nvPicPr>
          <p:cNvPr descr="_Plaid-Digital_FINAL-NEW.png" id="11" name="Google Shape;11;p1"/>
          <p:cNvPicPr preferRelativeResize="0"/>
          <p:nvPr/>
        </p:nvPicPr>
        <p:blipFill rotWithShape="1">
          <a:blip r:embed="rId1">
            <a:alphaModFix/>
          </a:blip>
          <a:srcRect b="2893" l="59550" r="39888" t="20876"/>
          <a:stretch/>
        </p:blipFill>
        <p:spPr>
          <a:xfrm rot="5400000">
            <a:off x="3798887" y="1046163"/>
            <a:ext cx="60325" cy="7658100"/>
          </a:xfrm>
          <a:prstGeom prst="rect">
            <a:avLst/>
          </a:prstGeom>
          <a:noFill/>
          <a:ln>
            <a:noFill/>
          </a:ln>
        </p:spPr>
      </p:pic>
      <p:sp>
        <p:nvSpPr>
          <p:cNvPr id="12" name="Google Shape;12;p1"/>
          <p:cNvSpPr txBox="1"/>
          <p:nvPr>
            <p:ph type="title"/>
          </p:nvPr>
        </p:nvSpPr>
        <p:spPr>
          <a:xfrm>
            <a:off x="457200" y="361950"/>
            <a:ext cx="8229600" cy="6096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1pPr>
            <a:lvl2pPr lvl="1"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2pPr>
            <a:lvl3pPr lvl="2"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3pPr>
            <a:lvl4pPr lvl="3"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4pPr>
            <a:lvl5pPr lvl="4" marR="0" rtl="0" algn="l">
              <a:spcBef>
                <a:spcPts val="0"/>
              </a:spcBef>
              <a:spcAft>
                <a:spcPts val="0"/>
              </a:spcAft>
              <a:buSzPts val="1400"/>
              <a:buNone/>
              <a:defRPr b="1" i="0" sz="2400" u="none" cap="none" strike="noStrike">
                <a:solidFill>
                  <a:schemeClr val="dk1"/>
                </a:solidFill>
                <a:latin typeface="Open Sans"/>
                <a:ea typeface="Open Sans"/>
                <a:cs typeface="Open Sans"/>
                <a:sym typeface="Open Sans"/>
              </a:defRPr>
            </a:lvl5pPr>
            <a:lvl6pPr lvl="5" marR="0" rtl="0" algn="l">
              <a:spcBef>
                <a:spcPts val="0"/>
              </a:spcBef>
              <a:spcAft>
                <a:spcPts val="0"/>
              </a:spcAft>
              <a:buSzPts val="1400"/>
              <a:buNone/>
              <a:defRPr b="0" i="0" sz="4200" u="none" cap="none" strike="noStrike">
                <a:solidFill>
                  <a:schemeClr val="dk2"/>
                </a:solidFill>
                <a:latin typeface="Times"/>
                <a:ea typeface="Times"/>
                <a:cs typeface="Times"/>
                <a:sym typeface="Times"/>
              </a:defRPr>
            </a:lvl6pPr>
            <a:lvl7pPr lvl="6" marR="0" rtl="0" algn="l">
              <a:spcBef>
                <a:spcPts val="0"/>
              </a:spcBef>
              <a:spcAft>
                <a:spcPts val="0"/>
              </a:spcAft>
              <a:buSzPts val="1400"/>
              <a:buNone/>
              <a:defRPr b="0" i="0" sz="4200" u="none" cap="none" strike="noStrike">
                <a:solidFill>
                  <a:schemeClr val="dk2"/>
                </a:solidFill>
                <a:latin typeface="Times"/>
                <a:ea typeface="Times"/>
                <a:cs typeface="Times"/>
                <a:sym typeface="Times"/>
              </a:defRPr>
            </a:lvl7pPr>
            <a:lvl8pPr lvl="7" marR="0" rtl="0" algn="l">
              <a:spcBef>
                <a:spcPts val="0"/>
              </a:spcBef>
              <a:spcAft>
                <a:spcPts val="0"/>
              </a:spcAft>
              <a:buSzPts val="1400"/>
              <a:buNone/>
              <a:defRPr b="0" i="0" sz="4200" u="none" cap="none" strike="noStrike">
                <a:solidFill>
                  <a:schemeClr val="dk2"/>
                </a:solidFill>
                <a:latin typeface="Times"/>
                <a:ea typeface="Times"/>
                <a:cs typeface="Times"/>
                <a:sym typeface="Times"/>
              </a:defRPr>
            </a:lvl8pPr>
            <a:lvl9pPr lvl="8" marR="0" rtl="0" algn="l">
              <a:spcBef>
                <a:spcPts val="0"/>
              </a:spcBef>
              <a:spcAft>
                <a:spcPts val="0"/>
              </a:spcAft>
              <a:buSzPts val="1400"/>
              <a:buNone/>
              <a:defRPr b="0" i="0" sz="4200" u="none" cap="none" strike="noStrike">
                <a:solidFill>
                  <a:schemeClr val="dk2"/>
                </a:solidFill>
                <a:latin typeface="Times"/>
                <a:ea typeface="Times"/>
                <a:cs typeface="Times"/>
                <a:sym typeface="Times"/>
              </a:defRPr>
            </a:lvl9pPr>
          </a:lstStyle>
          <a:p/>
        </p:txBody>
      </p:sp>
      <p:sp>
        <p:nvSpPr>
          <p:cNvPr id="13" name="Google Shape;13;p1"/>
          <p:cNvSpPr txBox="1"/>
          <p:nvPr>
            <p:ph idx="1" type="body"/>
          </p:nvPr>
        </p:nvSpPr>
        <p:spPr>
          <a:xfrm>
            <a:off x="457200" y="1200150"/>
            <a:ext cx="8229600" cy="3505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00"/>
              </a:spcBef>
              <a:spcAft>
                <a:spcPts val="0"/>
              </a:spcAft>
              <a:buSzPts val="1400"/>
              <a:buNone/>
              <a:defRPr b="0" i="0" sz="1400" u="none" cap="none" strike="noStrike">
                <a:solidFill>
                  <a:schemeClr val="dk1"/>
                </a:solidFill>
                <a:latin typeface="Open Sans"/>
                <a:ea typeface="Open Sans"/>
                <a:cs typeface="Open Sans"/>
                <a:sym typeface="Open Sans"/>
              </a:defRPr>
            </a:lvl1pPr>
            <a:lvl2pPr indent="-326390" lvl="1" marL="9144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2pPr>
            <a:lvl3pPr indent="-326390" lvl="2" marL="13716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3pPr>
            <a:lvl4pPr indent="-326390" lvl="3" marL="1828800" marR="0" rtl="0" algn="l">
              <a:spcBef>
                <a:spcPts val="600"/>
              </a:spcBef>
              <a:spcAft>
                <a:spcPts val="0"/>
              </a:spcAft>
              <a:buClr>
                <a:schemeClr val="dk1"/>
              </a:buClr>
              <a:buSzPts val="1540"/>
              <a:buFont typeface="Arial"/>
              <a:buChar char="•"/>
              <a:defRPr b="0" i="0" sz="1400" u="none" cap="none" strike="noStrike">
                <a:solidFill>
                  <a:schemeClr val="dk1"/>
                </a:solidFill>
                <a:latin typeface="Open Sans"/>
                <a:ea typeface="Open Sans"/>
                <a:cs typeface="Open Sans"/>
                <a:sym typeface="Open Sans"/>
              </a:defRPr>
            </a:lvl4pPr>
            <a:lvl5pPr indent="-326390" lvl="4" marL="2286000" marR="0" rtl="0" algn="l">
              <a:spcBef>
                <a:spcPts val="600"/>
              </a:spcBef>
              <a:spcAft>
                <a:spcPts val="0"/>
              </a:spcAft>
              <a:buClr>
                <a:schemeClr val="dk1"/>
              </a:buClr>
              <a:buSzPts val="1540"/>
              <a:buFont typeface="Arial"/>
              <a:buChar char="–"/>
              <a:defRPr b="0" i="1" sz="1400" u="none" cap="none" strike="noStrike">
                <a:solidFill>
                  <a:schemeClr val="dk1"/>
                </a:solidFill>
                <a:latin typeface="Open Sans"/>
                <a:ea typeface="Open Sans"/>
                <a:cs typeface="Open Sans"/>
                <a:sym typeface="Open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pic>
        <p:nvPicPr>
          <p:cNvPr id="14" name="Google Shape;14;p1"/>
          <p:cNvPicPr preferRelativeResize="0"/>
          <p:nvPr/>
        </p:nvPicPr>
        <p:blipFill rotWithShape="1">
          <a:blip r:embed="rId2">
            <a:alphaModFix/>
          </a:blip>
          <a:srcRect b="0" l="0" r="0" t="0"/>
          <a:stretch/>
        </p:blipFill>
        <p:spPr>
          <a:xfrm>
            <a:off x="7772400" y="4248150"/>
            <a:ext cx="1154590" cy="736392"/>
          </a:xfrm>
          <a:prstGeom prst="rect">
            <a:avLst/>
          </a:prstGeom>
          <a:noFill/>
          <a:ln>
            <a:noFill/>
          </a:ln>
        </p:spPr>
      </p:pic>
      <p:sp>
        <p:nvSpPr>
          <p:cNvPr id="15" name="Google Shape;15;p1"/>
          <p:cNvSpPr txBox="1"/>
          <p:nvPr>
            <p:ph idx="12" type="sldNum"/>
          </p:nvPr>
        </p:nvSpPr>
        <p:spPr>
          <a:xfrm>
            <a:off x="11073918" y="6400413"/>
            <a:ext cx="279883" cy="276999"/>
          </a:xfrm>
          <a:prstGeom prst="rect">
            <a:avLst/>
          </a:prstGeom>
          <a:noFill/>
          <a:ln>
            <a:noFill/>
          </a:ln>
        </p:spPr>
        <p:txBody>
          <a:bodyPr anchorCtr="0" anchor="ctr" bIns="45700" lIns="45700" spcFirstLastPara="1" rIns="45700" wrap="square" tIns="45700">
            <a:spAutoFit/>
          </a:bodyPr>
          <a:lstStyle>
            <a:lvl1pPr indent="0" lvl="0"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1pPr>
            <a:lvl2pPr indent="0" lvl="1"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2pPr>
            <a:lvl3pPr indent="0" lvl="2"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3pPr>
            <a:lvl4pPr indent="0" lvl="3"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4pPr>
            <a:lvl5pPr indent="0" lvl="4"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5pPr>
            <a:lvl6pPr indent="0" lvl="5"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6pPr>
            <a:lvl7pPr indent="0" lvl="6"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7pPr>
            <a:lvl8pPr indent="0" lvl="7"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8pPr>
            <a:lvl9pPr indent="0" lvl="8" marL="0" marR="0" rtl="0" algn="r">
              <a:spcBef>
                <a:spcPts val="0"/>
              </a:spcBef>
              <a:spcAft>
                <a:spcPts val="0"/>
              </a:spcAft>
              <a:buNone/>
              <a:defRPr b="0" i="0" sz="1200" u="none" cap="none" strike="noStrike">
                <a:solidFill>
                  <a:srgbClr val="888888"/>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16" name="Google Shape;16;p1"/>
          <p:cNvSpPr txBox="1"/>
          <p:nvPr/>
        </p:nvSpPr>
        <p:spPr>
          <a:xfrm>
            <a:off x="11226318" y="65528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7" name="Google Shape;17;p1"/>
          <p:cNvSpPr txBox="1"/>
          <p:nvPr/>
        </p:nvSpPr>
        <p:spPr>
          <a:xfrm>
            <a:off x="11378718" y="67052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8" name="Google Shape;18;p1"/>
          <p:cNvSpPr txBox="1"/>
          <p:nvPr/>
        </p:nvSpPr>
        <p:spPr>
          <a:xfrm>
            <a:off x="11531118" y="6857613"/>
            <a:ext cx="279883" cy="276999"/>
          </a:xfrm>
          <a:prstGeom prst="rect">
            <a:avLst/>
          </a:prstGeom>
          <a:noFill/>
          <a:ln>
            <a:noFill/>
          </a:ln>
        </p:spPr>
        <p:txBody>
          <a:bodyPr anchorCtr="0" anchor="ctr" bIns="45700" lIns="45700" spcFirstLastPara="1" rIns="45700" wrap="square" tIns="45700">
            <a:spAutoFit/>
          </a:bodyPr>
          <a:lstStyle/>
          <a:p>
            <a:pPr indent="0" lvl="0" marL="0" marR="0" rtl="0" algn="r">
              <a:spcBef>
                <a:spcPts val="0"/>
              </a:spcBef>
              <a:spcAft>
                <a:spcPts val="0"/>
              </a:spcAft>
              <a:buNone/>
            </a:pPr>
            <a:fld id="{00000000-1234-1234-1234-123412341234}" type="slidenum">
              <a:rPr b="0" i="0" lang="en-US" sz="1200" u="none" cap="none" strike="noStrike">
                <a:solidFill>
                  <a:srgbClr val="888888"/>
                </a:solidFill>
                <a:latin typeface="Open Sans Light"/>
                <a:ea typeface="Open Sans Light"/>
                <a:cs typeface="Open Sans Light"/>
                <a:sym typeface="Open Sans Light"/>
              </a:rPr>
              <a:t>‹#›</a:t>
            </a:fld>
            <a:endParaRPr b="0" i="0" sz="1200" u="none" cap="none" strike="noStrike">
              <a:solidFill>
                <a:srgbClr val="888888"/>
              </a:solidFill>
              <a:latin typeface="Open Sans Light"/>
              <a:ea typeface="Open Sans Light"/>
              <a:cs typeface="Open Sans Light"/>
              <a:sym typeface="Open Sans Light"/>
            </a:endParaRPr>
          </a:p>
        </p:txBody>
      </p:sp>
      <p:sp>
        <p:nvSpPr>
          <p:cNvPr id="19" name="Google Shape;19;p1"/>
          <p:cNvSpPr txBox="1"/>
          <p:nvPr/>
        </p:nvSpPr>
        <p:spPr>
          <a:xfrm>
            <a:off x="8534400" y="100340"/>
            <a:ext cx="506890" cy="26161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fld id="{00000000-1234-1234-1234-123412341234}" type="slidenum">
              <a:rPr b="0" i="0" lang="en-US" sz="1100" u="none" cap="none" strike="noStrike">
                <a:solidFill>
                  <a:srgbClr val="7F7F7F"/>
                </a:solidFill>
                <a:latin typeface="Helvetica Neue Light"/>
                <a:ea typeface="Helvetica Neue Light"/>
                <a:cs typeface="Helvetica Neue Light"/>
                <a:sym typeface="Helvetica Neue Light"/>
              </a:rPr>
              <a:t>‹#›</a:t>
            </a:fld>
            <a:endParaRPr b="0" i="0" sz="1100" u="none" cap="none" strike="noStrike">
              <a:solidFill>
                <a:srgbClr val="7F7F7F"/>
              </a:solidFill>
              <a:latin typeface="Helvetica Neue Light"/>
              <a:ea typeface="Helvetica Neue Light"/>
              <a:cs typeface="Helvetica Neue Light"/>
              <a:sym typeface="Helvetica Neue Light"/>
            </a:endParaRPr>
          </a:p>
        </p:txBody>
      </p:sp>
    </p:spTree>
  </p:cSld>
  <p:clrMap accent1="accent1" accent2="accent2" accent3="accent3" accent4="accent4" accent5="accent5" accent6="accent6" bg1="lt1" bg2="dk2" tx1="dk1" tx2="lt2" folHlink="folHlink" hlink="hlink"/>
  <p:sldLayoutIdLst>
    <p:sldLayoutId id="2147483648" r:id="rId3"/>
    <p:sldLayoutId id="2147483649" r:id="rId4"/>
    <p:sldLayoutId id="2147483650" r:id="rId5"/>
    <p:sldLayoutId id="2147483651" r:id="rId6"/>
    <p:sldLayoutId id="2147483652" r:id="rId7"/>
    <p:sldLayoutId id="2147483653" r:id="rId8"/>
    <p:sldLayoutId id="2147483654" r:id="rId9"/>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SPPF max-pool microkernel: 6 vmaxps per output</a:t>
            </a:r>
          </a:p>
        </p:txBody>
      </p:sp>
      <p:sp>
        <p:nvSpPr>
          <p:cNvPr id="3" name="step-0"/>
          <p:cNvSpPr/>
          <p:nvPr/>
        </p:nvSpPr>
        <p:spPr>
          <a:xfrm>
            <a:off x="457200" y="987552"/>
            <a:ext cx="420624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42416"/>
            <a:ext cx="4023360" cy="237744"/>
          </a:xfrm>
          <a:prstGeom prst="rect">
            <a:avLst/>
          </a:prstGeom>
          <a:noFill/>
        </p:spPr>
        <p:txBody>
          <a:bodyPr wrap="square" lIns="0" rIns="0" tIns="0" bIns="0" anchor="t">
            <a:spAutoFit/>
          </a:bodyPr>
          <a:lstStyle/>
          <a:p>
            <a:pPr algn="l"/>
            <a:r>
              <a:rPr sz="1150" b="1" i="0">
                <a:solidFill>
                  <a:srgbClr val="1B2630"/>
                </a:solidFill>
                <a:latin typeface="Open Sans"/>
              </a:rPr>
              <a:t>Unit of work</a:t>
            </a:r>
          </a:p>
        </p:txBody>
      </p:sp>
      <p:sp>
        <p:nvSpPr>
          <p:cNvPr id="5" name="TextBox 4"/>
          <p:cNvSpPr txBox="1"/>
          <p:nvPr/>
        </p:nvSpPr>
        <p:spPr>
          <a:xfrm>
            <a:off x="566928" y="1289304"/>
            <a:ext cx="4023360" cy="411480"/>
          </a:xfrm>
          <a:prstGeom prst="rect">
            <a:avLst/>
          </a:prstGeom>
          <a:noFill/>
        </p:spPr>
        <p:txBody>
          <a:bodyPr wrap="square" lIns="0" rIns="0" tIns="0" bIns="0" anchor="t">
            <a:spAutoFit/>
          </a:bodyPr>
          <a:lstStyle/>
          <a:p>
            <a:pPr algn="l"/>
            <a:r>
              <a:rPr sz="950" b="0" i="0">
                <a:solidFill>
                  <a:srgbClr val="5A6875"/>
                </a:solidFill>
                <a:latin typeface="Open Sans"/>
              </a:rPr>
              <a:t>vmaxps = max of 8 channels (one YMM register). Port 1 only on Broadwell: peak 1 per cycle.</a:t>
            </a:r>
          </a:p>
        </p:txBody>
      </p:sp>
      <p:sp>
        <p:nvSpPr>
          <p:cNvPr id="6" name="step-1"/>
          <p:cNvSpPr/>
          <p:nvPr/>
        </p:nvSpPr>
        <p:spPr>
          <a:xfrm>
            <a:off x="457200" y="1773936"/>
            <a:ext cx="420624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828800"/>
            <a:ext cx="4023360" cy="237744"/>
          </a:xfrm>
          <a:prstGeom prst="rect">
            <a:avLst/>
          </a:prstGeom>
          <a:noFill/>
        </p:spPr>
        <p:txBody>
          <a:bodyPr wrap="square" lIns="0" rIns="0" tIns="0" bIns="0" anchor="t">
            <a:spAutoFit/>
          </a:bodyPr>
          <a:lstStyle/>
          <a:p>
            <a:pPr algn="l"/>
            <a:r>
              <a:rPr sz="1150" b="1" i="0">
                <a:solidFill>
                  <a:srgbClr val="1B2630"/>
                </a:solidFill>
                <a:latin typeface="Open Sans"/>
              </a:rPr>
              <a:t>Separable (v1)</a:t>
            </a:r>
          </a:p>
        </p:txBody>
      </p:sp>
      <p:sp>
        <p:nvSpPr>
          <p:cNvPr id="8" name="TextBox 7"/>
          <p:cNvSpPr txBox="1"/>
          <p:nvPr/>
        </p:nvSpPr>
        <p:spPr>
          <a:xfrm>
            <a:off x="566928" y="2075688"/>
            <a:ext cx="4023360" cy="411480"/>
          </a:xfrm>
          <a:prstGeom prst="rect">
            <a:avLst/>
          </a:prstGeom>
          <a:noFill/>
        </p:spPr>
        <p:txBody>
          <a:bodyPr wrap="square" lIns="0" rIns="0" tIns="0" bIns="0" anchor="t">
            <a:spAutoFit/>
          </a:bodyPr>
          <a:lstStyle/>
          <a:p>
            <a:pPr algn="l"/>
            <a:r>
              <a:rPr sz="950" b="0" i="0">
                <a:solidFill>
                  <a:srgbClr val="5A6875"/>
                </a:solidFill>
                <a:latin typeface="Open Sans"/>
              </a:rPr>
              <a:t>5×5 = max over 5 columns, then 5 rows: 24 → 8 vmaxps per output.</a:t>
            </a:r>
          </a:p>
        </p:txBody>
      </p:sp>
      <p:sp>
        <p:nvSpPr>
          <p:cNvPr id="9" name="step-2"/>
          <p:cNvSpPr/>
          <p:nvPr/>
        </p:nvSpPr>
        <p:spPr>
          <a:xfrm>
            <a:off x="457200" y="2560320"/>
            <a:ext cx="4206240" cy="713232"/>
          </a:xfrm>
          <a:prstGeom prst="roundRect">
            <a:avLst>
              <a:gd name="adj" fmla="val 8000"/>
            </a:avLst>
          </a:prstGeom>
          <a:solidFill>
            <a:srgbClr val="F8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615184"/>
            <a:ext cx="4023360" cy="237744"/>
          </a:xfrm>
          <a:prstGeom prst="rect">
            <a:avLst/>
          </a:prstGeom>
          <a:noFill/>
        </p:spPr>
        <p:txBody>
          <a:bodyPr wrap="square" lIns="0" rIns="0" tIns="0" bIns="0" anchor="t">
            <a:spAutoFit/>
          </a:bodyPr>
          <a:lstStyle/>
          <a:p>
            <a:pPr algn="l"/>
            <a:r>
              <a:rPr sz="1150" b="1" i="0">
                <a:solidFill>
                  <a:srgbClr val="BB0027"/>
                </a:solidFill>
                <a:latin typeface="Open Sans"/>
              </a:rPr>
              <a:t>Shared pairs (v2)</a:t>
            </a:r>
          </a:p>
        </p:txBody>
      </p:sp>
      <p:sp>
        <p:nvSpPr>
          <p:cNvPr id="11" name="TextBox 10"/>
          <p:cNvSpPr txBox="1"/>
          <p:nvPr/>
        </p:nvSpPr>
        <p:spPr>
          <a:xfrm>
            <a:off x="566928" y="2862072"/>
            <a:ext cx="4023360" cy="411480"/>
          </a:xfrm>
          <a:prstGeom prst="rect">
            <a:avLst/>
          </a:prstGeom>
          <a:noFill/>
        </p:spPr>
        <p:txBody>
          <a:bodyPr wrap="square" lIns="0" rIns="0" tIns="0" bIns="0" anchor="t">
            <a:spAutoFit/>
          </a:bodyPr>
          <a:lstStyle/>
          <a:p>
            <a:pPr algn="l"/>
            <a:r>
              <a:rPr sz="950" b="0" i="0">
                <a:solidFill>
                  <a:srgbClr val="5A6875"/>
                </a:solidFill>
                <a:latin typeface="Open Sans"/>
              </a:rPr>
              <a:t>P[j] = max(s[j], s[j+1]); out[i] = max(P[i−2], P[i], s[i+2]): 3 per pass, 6 per output.</a:t>
            </a:r>
          </a:p>
        </p:txBody>
      </p:sp>
      <p:sp>
        <p:nvSpPr>
          <p:cNvPr id="12" name="step-3"/>
          <p:cNvSpPr/>
          <p:nvPr/>
        </p:nvSpPr>
        <p:spPr>
          <a:xfrm>
            <a:off x="457200" y="3346704"/>
            <a:ext cx="4206240" cy="713232"/>
          </a:xfrm>
          <a:prstGeom prst="roundRect">
            <a:avLst>
              <a:gd name="adj" fmla="val 8000"/>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401568"/>
            <a:ext cx="4023360" cy="237744"/>
          </a:xfrm>
          <a:prstGeom prst="rect">
            <a:avLst/>
          </a:prstGeom>
          <a:noFill/>
        </p:spPr>
        <p:txBody>
          <a:bodyPr wrap="square" lIns="0" rIns="0" tIns="0" bIns="0" anchor="t">
            <a:spAutoFit/>
          </a:bodyPr>
          <a:lstStyle/>
          <a:p>
            <a:pPr algn="l"/>
            <a:r>
              <a:rPr sz="1150" b="1" i="0">
                <a:solidFill>
                  <a:srgbClr val="1B2630"/>
                </a:solidFill>
                <a:latin typeface="Open Sans"/>
              </a:rPr>
              <a:t>Edges = −∞</a:t>
            </a:r>
          </a:p>
        </p:txBody>
      </p:sp>
      <p:sp>
        <p:nvSpPr>
          <p:cNvPr id="14" name="TextBox 13"/>
          <p:cNvSpPr txBox="1"/>
          <p:nvPr/>
        </p:nvSpPr>
        <p:spPr>
          <a:xfrm>
            <a:off x="566928" y="3648456"/>
            <a:ext cx="4023360" cy="411480"/>
          </a:xfrm>
          <a:prstGeom prst="rect">
            <a:avLst/>
          </a:prstGeom>
          <a:noFill/>
        </p:spPr>
        <p:txBody>
          <a:bodyPr wrap="square" lIns="0" rIns="0" tIns="0" bIns="0" anchor="t">
            <a:spAutoFit/>
          </a:bodyPr>
          <a:lstStyle/>
          <a:p>
            <a:pPr algn="l"/>
            <a:r>
              <a:rPr sz="950" b="0" i="0">
                <a:solidFill>
                  <a:srgbClr val="5A6875"/>
                </a:solidFill>
                <a:latin typeface="Open Sans"/>
              </a:rPr>
              <a:t>SiLU output can be negative, so a zero border is wrong: clamp the window at the 2 edge pixels.</a:t>
            </a:r>
          </a:p>
        </p:txBody>
      </p:sp>
      <p:sp>
        <p:nvSpPr>
          <p:cNvPr id="15" name="TextBox 14"/>
          <p:cNvSpPr txBox="1"/>
          <p:nvPr/>
        </p:nvSpPr>
        <p:spPr>
          <a:xfrm>
            <a:off x="4892040" y="987552"/>
            <a:ext cx="3840480" cy="274320"/>
          </a:xfrm>
          <a:prstGeom prst="rect">
            <a:avLst/>
          </a:prstGeom>
          <a:noFill/>
        </p:spPr>
        <p:txBody>
          <a:bodyPr wrap="square" lIns="0" rIns="0" tIns="0" bIns="0" anchor="t">
            <a:spAutoFit/>
          </a:bodyPr>
          <a:lstStyle/>
          <a:p>
            <a:pPr algn="l"/>
            <a:r>
              <a:rPr sz="1150" b="1" i="0">
                <a:solidFill>
                  <a:srgbClr val="1B2630"/>
                </a:solidFill>
                <a:latin typeface="Open Sans"/>
              </a:rPr>
              <a:t>Alone, one 20×20 plane (model.9), ece028</a:t>
            </a:r>
          </a:p>
        </p:txBody>
      </p:sp>
      <p:graphicFrame>
        <p:nvGraphicFramePr>
          <p:cNvPr id="16" name="Table 15"/>
          <p:cNvGraphicFramePr>
            <a:graphicFrameLocks noGrp="1"/>
          </p:cNvGraphicFramePr>
          <p:nvPr/>
        </p:nvGraphicFramePr>
        <p:xfrm>
          <a:off x="4892040" y="1280160"/>
          <a:ext cx="3794760" cy="1280160"/>
        </p:xfrm>
        <a:graphic>
          <a:graphicData uri="http://schemas.openxmlformats.org/drawingml/2006/table">
            <a:tbl>
              <a:tblPr firstRow="1" bandRow="1">
                <a:tableStyleId>{5C22544A-7EE6-4342-B048-85BDC9FD1C3A}</a:tableStyleId>
              </a:tblPr>
              <a:tblGrid>
                <a:gridCol w="1325880"/>
                <a:gridCol w="822960"/>
                <a:gridCol w="822960"/>
                <a:gridCol w="822960"/>
              </a:tblGrid>
              <a:tr h="320040">
                <a:tc>
                  <a:txBody>
                    <a:bodyPr/>
                    <a:lstStyle/>
                    <a:p>
                      <a:r>
                        <a:rPr sz="950" b="1">
                          <a:solidFill>
                            <a:srgbClr val="1B2630"/>
                          </a:solidFill>
                          <a:latin typeface="Open Sans"/>
                        </a:rPr>
                        <a:t>Version</a:t>
                      </a:r>
                    </a:p>
                  </a:txBody>
                  <a:tcPr marL="54864" marR="54864" marT="27432" marB="27432">
                    <a:solidFill>
                      <a:srgbClr val="F1F3F5"/>
                    </a:solidFill>
                  </a:tcPr>
                </a:tc>
                <a:tc>
                  <a:txBody>
                    <a:bodyPr/>
                    <a:lstStyle/>
                    <a:p>
                      <a:r>
                        <a:rPr sz="950" b="1">
                          <a:solidFill>
                            <a:srgbClr val="1B2630"/>
                          </a:solidFill>
                          <a:latin typeface="Open Sans"/>
                        </a:rPr>
                        <a:t>vmaxps / output</a:t>
                      </a:r>
                    </a:p>
                  </a:txBody>
                  <a:tcPr marL="54864" marR="54864" marT="27432" marB="27432">
                    <a:solidFill>
                      <a:srgbClr val="F1F3F5"/>
                    </a:solidFill>
                  </a:tcPr>
                </a:tc>
                <a:tc>
                  <a:txBody>
                    <a:bodyPr/>
                    <a:lstStyle/>
                    <a:p>
                      <a:r>
                        <a:rPr sz="950" b="1">
                          <a:solidFill>
                            <a:srgbClr val="1B2630"/>
                          </a:solidFill>
                          <a:latin typeface="Open Sans"/>
                        </a:rPr>
                        <a:t>Cycles / output</a:t>
                      </a:r>
                    </a:p>
                  </a:txBody>
                  <a:tcPr marL="54864" marR="54864" marT="27432" marB="27432">
                    <a:solidFill>
                      <a:srgbClr val="F1F3F5"/>
                    </a:solidFill>
                  </a:tcPr>
                </a:tc>
                <a:tc>
                  <a:txBody>
                    <a:bodyPr/>
                    <a:lstStyle/>
                    <a:p>
                      <a:r>
                        <a:rPr sz="950" b="1">
                          <a:solidFill>
                            <a:srgbClr val="1B2630"/>
                          </a:solidFill>
                          <a:latin typeface="Open Sans"/>
                        </a:rPr>
                        <a:t>vmaxps / cycle</a:t>
                      </a:r>
                    </a:p>
                  </a:txBody>
                  <a:tcPr marL="54864" marR="54864" marT="27432" marB="27432">
                    <a:solidFill>
                      <a:srgbClr val="F1F3F5"/>
                    </a:solidFill>
                  </a:tcPr>
                </a:tc>
              </a:tr>
              <a:tr h="320040">
                <a:tc>
                  <a:txBody>
                    <a:bodyPr/>
                    <a:lstStyle/>
                    <a:p>
                      <a:r>
                        <a:rPr sz="950" b="1">
                          <a:solidFill>
                            <a:srgbClr val="1B2630"/>
                          </a:solidFill>
                          <a:latin typeface="Open Sans"/>
                        </a:rPr>
                        <a:t>v1 separable</a:t>
                      </a:r>
                    </a:p>
                  </a:txBody>
                  <a:tcPr marL="54864" marR="54864" marT="27432" marB="27432">
                    <a:solidFill>
                      <a:srgbClr val="FFFFFF"/>
                    </a:solidFill>
                  </a:tcPr>
                </a:tc>
                <a:tc>
                  <a:txBody>
                    <a:bodyPr/>
                    <a:lstStyle/>
                    <a:p>
                      <a:r>
                        <a:rPr sz="950" b="0">
                          <a:solidFill>
                            <a:srgbClr val="1B2630"/>
                          </a:solidFill>
                          <a:latin typeface="Open Sans"/>
                        </a:rPr>
                        <a:t>7.4</a:t>
                      </a:r>
                    </a:p>
                  </a:txBody>
                  <a:tcPr marL="54864" marR="54864" marT="27432" marB="27432">
                    <a:solidFill>
                      <a:srgbClr val="FFFFFF"/>
                    </a:solidFill>
                  </a:tcPr>
                </a:tc>
                <a:tc>
                  <a:txBody>
                    <a:bodyPr/>
                    <a:lstStyle/>
                    <a:p>
                      <a:r>
                        <a:rPr sz="950" b="0">
                          <a:solidFill>
                            <a:srgbClr val="1B2630"/>
                          </a:solidFill>
                          <a:latin typeface="Open Sans"/>
                        </a:rPr>
                        <a:t>8.25</a:t>
                      </a:r>
                    </a:p>
                  </a:txBody>
                  <a:tcPr marL="54864" marR="54864" marT="27432" marB="27432">
                    <a:solidFill>
                      <a:srgbClr val="FFFFFF"/>
                    </a:solidFill>
                  </a:tcPr>
                </a:tc>
                <a:tc>
                  <a:txBody>
                    <a:bodyPr/>
                    <a:lstStyle/>
                    <a:p>
                      <a:r>
                        <a:rPr sz="950" b="0">
                          <a:solidFill>
                            <a:srgbClr val="1B2630"/>
                          </a:solidFill>
                          <a:latin typeface="Open Sans"/>
                        </a:rPr>
                        <a:t>0.90</a:t>
                      </a:r>
                    </a:p>
                  </a:txBody>
                  <a:tcPr marL="54864" marR="54864" marT="27432" marB="27432">
                    <a:solidFill>
                      <a:srgbClr val="FFFFFF"/>
                    </a:solidFill>
                  </a:tcPr>
                </a:tc>
              </a:tr>
              <a:tr h="320040">
                <a:tc>
                  <a:txBody>
                    <a:bodyPr/>
                    <a:lstStyle/>
                    <a:p>
                      <a:r>
                        <a:rPr sz="950" b="1">
                          <a:solidFill>
                            <a:srgbClr val="1B2630"/>
                          </a:solidFill>
                          <a:latin typeface="Open Sans"/>
                        </a:rPr>
                        <a:t>v2 shared pairs</a:t>
                      </a:r>
                    </a:p>
                  </a:txBody>
                  <a:tcPr marL="54864" marR="54864" marT="27432" marB="27432">
                    <a:solidFill>
                      <a:srgbClr val="F8E5E9"/>
                    </a:solidFill>
                  </a:tcPr>
                </a:tc>
                <a:tc>
                  <a:txBody>
                    <a:bodyPr/>
                    <a:lstStyle/>
                    <a:p>
                      <a:r>
                        <a:rPr sz="950" b="0">
                          <a:solidFill>
                            <a:srgbClr val="1B2630"/>
                          </a:solidFill>
                          <a:latin typeface="Open Sans"/>
                        </a:rPr>
                        <a:t>6.0</a:t>
                      </a:r>
                    </a:p>
                  </a:txBody>
                  <a:tcPr marL="54864" marR="54864" marT="27432" marB="27432">
                    <a:solidFill>
                      <a:srgbClr val="F8E5E9"/>
                    </a:solidFill>
                  </a:tcPr>
                </a:tc>
                <a:tc>
                  <a:txBody>
                    <a:bodyPr/>
                    <a:lstStyle/>
                    <a:p>
                      <a:r>
                        <a:rPr sz="950" b="0">
                          <a:solidFill>
                            <a:srgbClr val="1B2630"/>
                          </a:solidFill>
                          <a:latin typeface="Open Sans"/>
                        </a:rPr>
                        <a:t>6.94</a:t>
                      </a:r>
                    </a:p>
                  </a:txBody>
                  <a:tcPr marL="54864" marR="54864" marT="27432" marB="27432">
                    <a:solidFill>
                      <a:srgbClr val="F8E5E9"/>
                    </a:solidFill>
                  </a:tcPr>
                </a:tc>
                <a:tc>
                  <a:txBody>
                    <a:bodyPr/>
                    <a:lstStyle/>
                    <a:p>
                      <a:r>
                        <a:rPr sz="950" b="0">
                          <a:solidFill>
                            <a:srgbClr val="1B2630"/>
                          </a:solidFill>
                          <a:latin typeface="Open Sans"/>
                        </a:rPr>
                        <a:t>0.86</a:t>
                      </a:r>
                    </a:p>
                  </a:txBody>
                  <a:tcPr marL="54864" marR="54864" marT="27432" marB="27432">
                    <a:solidFill>
                      <a:srgbClr val="F8E5E9"/>
                    </a:solidFill>
                  </a:tcPr>
                </a:tc>
              </a:tr>
              <a:tr h="320040">
                <a:tc>
                  <a:txBody>
                    <a:bodyPr/>
                    <a:lstStyle/>
                    <a:p>
                      <a:r>
                        <a:rPr sz="950" b="1">
                          <a:solidFill>
                            <a:srgbClr val="1B2630"/>
                          </a:solidFill>
                          <a:latin typeface="Open Sans"/>
                        </a:rPr>
                        <a:t>v5 5-row ring</a:t>
                      </a:r>
                    </a:p>
                  </a:txBody>
                  <a:tcPr marL="54864" marR="54864" marT="27432" marB="27432">
                    <a:solidFill>
                      <a:srgbClr val="FFFFFF"/>
                    </a:solidFill>
                  </a:tcPr>
                </a:tc>
                <a:tc>
                  <a:txBody>
                    <a:bodyPr/>
                    <a:lstStyle/>
                    <a:p>
                      <a:r>
                        <a:rPr sz="950" b="0">
                          <a:solidFill>
                            <a:srgbClr val="1B2630"/>
                          </a:solidFill>
                          <a:latin typeface="Open Sans"/>
                        </a:rPr>
                        <a:t>6.5</a:t>
                      </a:r>
                    </a:p>
                  </a:txBody>
                  <a:tcPr marL="54864" marR="54864" marT="27432" marB="27432">
                    <a:solidFill>
                      <a:srgbClr val="FFFFFF"/>
                    </a:solidFill>
                  </a:tcPr>
                </a:tc>
                <a:tc>
                  <a:txBody>
                    <a:bodyPr/>
                    <a:lstStyle/>
                    <a:p>
                      <a:r>
                        <a:rPr sz="950" b="0">
                          <a:solidFill>
                            <a:srgbClr val="1B2630"/>
                          </a:solidFill>
                          <a:latin typeface="Open Sans"/>
                        </a:rPr>
                        <a:t>7.64</a:t>
                      </a:r>
                    </a:p>
                  </a:txBody>
                  <a:tcPr marL="54864" marR="54864" marT="27432" marB="27432">
                    <a:solidFill>
                      <a:srgbClr val="FFFFFF"/>
                    </a:solidFill>
                  </a:tcPr>
                </a:tc>
                <a:tc>
                  <a:txBody>
                    <a:bodyPr/>
                    <a:lstStyle/>
                    <a:p>
                      <a:r>
                        <a:rPr sz="950" b="0">
                          <a:solidFill>
                            <a:srgbClr val="1B2630"/>
                          </a:solidFill>
                          <a:latin typeface="Open Sans"/>
                        </a:rPr>
                        <a:t>0.85</a:t>
                      </a:r>
                    </a:p>
                  </a:txBody>
                  <a:tcPr marL="54864" marR="54864" marT="27432" marB="27432">
                    <a:solidFill>
                      <a:srgbClr val="FFFFFF"/>
                    </a:solidFill>
                  </a:tcPr>
                </a:tc>
              </a:tr>
            </a:tbl>
          </a:graphicData>
        </a:graphic>
      </p:graphicFrame>
      <p:sp>
        <p:nvSpPr>
          <p:cNvPr id="17" name="TextBox 16"/>
          <p:cNvSpPr txBox="1"/>
          <p:nvPr/>
        </p:nvSpPr>
        <p:spPr>
          <a:xfrm>
            <a:off x="4892040" y="2606040"/>
            <a:ext cx="3794760" cy="274320"/>
          </a:xfrm>
          <a:prstGeom prst="rect">
            <a:avLst/>
          </a:prstGeom>
          <a:noFill/>
        </p:spPr>
        <p:txBody>
          <a:bodyPr wrap="square" lIns="0" rIns="0" tIns="0" bIns="0" anchor="t">
            <a:spAutoFit/>
          </a:bodyPr>
          <a:lstStyle/>
          <a:p>
            <a:pPr algn="l"/>
            <a:r>
              <a:rPr sz="850" b="0" i="0">
                <a:solidFill>
                  <a:srgbClr val="5A6875"/>
                </a:solidFill>
                <a:latin typeface="Open Sans"/>
              </a:rPr>
              <a:t>vmaxps / output includes the cheaper edge pixels; at 1 vmaxps per cycle it is the floor in cycles.</a:t>
            </a:r>
          </a:p>
        </p:txBody>
      </p:sp>
      <p:sp>
        <p:nvSpPr>
          <p:cNvPr id="18" name="TextBox 17"/>
          <p:cNvSpPr txBox="1"/>
          <p:nvPr/>
        </p:nvSpPr>
        <p:spPr>
          <a:xfrm>
            <a:off x="4892040" y="2971800"/>
            <a:ext cx="1828800" cy="548640"/>
          </a:xfrm>
          <a:prstGeom prst="rect">
            <a:avLst/>
          </a:prstGeom>
          <a:noFill/>
        </p:spPr>
        <p:txBody>
          <a:bodyPr wrap="square" lIns="0" rIns="0" tIns="0" bIns="0" anchor="t">
            <a:spAutoFit/>
          </a:bodyPr>
          <a:lstStyle/>
          <a:p>
            <a:pPr algn="l"/>
            <a:r>
              <a:rPr sz="3000" b="1" i="0">
                <a:solidFill>
                  <a:srgbClr val="BB0027"/>
                </a:solidFill>
                <a:latin typeface="Open Sans"/>
              </a:rPr>
              <a:t>86%</a:t>
            </a:r>
          </a:p>
        </p:txBody>
      </p:sp>
      <p:sp>
        <p:nvSpPr>
          <p:cNvPr id="19" name="TextBox 18"/>
          <p:cNvSpPr txBox="1"/>
          <p:nvPr/>
        </p:nvSpPr>
        <p:spPr>
          <a:xfrm>
            <a:off x="4892040" y="3538728"/>
            <a:ext cx="1828800" cy="548640"/>
          </a:xfrm>
          <a:prstGeom prst="rect">
            <a:avLst/>
          </a:prstGeom>
          <a:noFill/>
        </p:spPr>
        <p:txBody>
          <a:bodyPr wrap="square" lIns="0" rIns="0" tIns="0" bIns="0" anchor="t">
            <a:spAutoFit/>
          </a:bodyPr>
          <a:lstStyle/>
          <a:p>
            <a:pPr algn="l"/>
            <a:r>
              <a:rPr sz="1200" b="0" i="0">
                <a:solidFill>
                  <a:srgbClr val="5A6875"/>
                </a:solidFill>
                <a:latin typeface="Open Sans"/>
              </a:rPr>
              <a:t>of the port-1 peak (v2: 0.86 vmaxps/cycle)</a:t>
            </a:r>
          </a:p>
        </p:txBody>
      </p:sp>
      <p:sp>
        <p:nvSpPr>
          <p:cNvPr id="20" name="TextBox 19"/>
          <p:cNvSpPr txBox="1"/>
          <p:nvPr/>
        </p:nvSpPr>
        <p:spPr>
          <a:xfrm>
            <a:off x="6812280" y="2971800"/>
            <a:ext cx="1874519" cy="548640"/>
          </a:xfrm>
          <a:prstGeom prst="rect">
            <a:avLst/>
          </a:prstGeom>
          <a:noFill/>
        </p:spPr>
        <p:txBody>
          <a:bodyPr wrap="square" lIns="0" rIns="0" tIns="0" bIns="0" anchor="t">
            <a:spAutoFit/>
          </a:bodyPr>
          <a:lstStyle/>
          <a:p>
            <a:pPr algn="l"/>
            <a:r>
              <a:rPr sz="3000" b="1" i="0">
                <a:solidFill>
                  <a:srgbClr val="0C6A87"/>
                </a:solidFill>
                <a:latin typeface="Open Sans"/>
              </a:rPr>
              <a:t>24 → 6</a:t>
            </a:r>
          </a:p>
        </p:txBody>
      </p:sp>
      <p:sp>
        <p:nvSpPr>
          <p:cNvPr id="21" name="TextBox 20"/>
          <p:cNvSpPr txBox="1"/>
          <p:nvPr/>
        </p:nvSpPr>
        <p:spPr>
          <a:xfrm>
            <a:off x="6812280" y="3538728"/>
            <a:ext cx="1874519" cy="548640"/>
          </a:xfrm>
          <a:prstGeom prst="rect">
            <a:avLst/>
          </a:prstGeom>
          <a:noFill/>
        </p:spPr>
        <p:txBody>
          <a:bodyPr wrap="square" lIns="0" rIns="0" tIns="0" bIns="0" anchor="t">
            <a:spAutoFit/>
          </a:bodyPr>
          <a:lstStyle/>
          <a:p>
            <a:pPr algn="l"/>
            <a:r>
              <a:rPr sz="1200" b="0" i="0">
                <a:solidFill>
                  <a:srgbClr val="5A6875"/>
                </a:solidFill>
                <a:latin typeface="Open Sans"/>
              </a:rPr>
              <a:t>vmaxps per output: direct → separable + shared pairs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Alone: v2 wins in L1, v5 removes the L1 cliff</a:t>
            </a:r>
          </a:p>
        </p:txBody>
      </p:sp>
      <p:pic>
        <p:nvPicPr>
          <p:cNvPr id="3" name="Picture 2" descr="pool_ukr_sweep_cycles.png"/>
          <p:cNvPicPr>
            <a:picLocks noChangeAspect="1"/>
          </p:cNvPicPr>
          <p:nvPr/>
        </p:nvPicPr>
        <p:blipFill>
          <a:blip r:embed="rId3"/>
          <a:stretch>
            <a:fillRect/>
          </a:stretch>
        </p:blipFill>
        <p:spPr>
          <a:xfrm>
            <a:off x="457200" y="914400"/>
            <a:ext cx="4994031" cy="3246120"/>
          </a:xfrm>
          <a:prstGeom prst="rect">
            <a:avLst/>
          </a:prstGeom>
        </p:spPr>
      </p:pic>
      <p:sp>
        <p:nvSpPr>
          <p:cNvPr id="4" name="TextBox 3"/>
          <p:cNvSpPr txBox="1"/>
          <p:nvPr/>
        </p:nvSpPr>
        <p:spPr>
          <a:xfrm>
            <a:off x="6355080" y="914400"/>
            <a:ext cx="2377440" cy="548640"/>
          </a:xfrm>
          <a:prstGeom prst="rect">
            <a:avLst/>
          </a:prstGeom>
          <a:noFill/>
        </p:spPr>
        <p:txBody>
          <a:bodyPr wrap="square" lIns="0" rIns="0" tIns="0" bIns="0" anchor="t">
            <a:spAutoFit/>
          </a:bodyPr>
          <a:lstStyle/>
          <a:p>
            <a:pPr algn="l"/>
            <a:r>
              <a:rPr sz="3000" b="1" i="0">
                <a:solidFill>
                  <a:srgbClr val="BB0027"/>
                </a:solidFill>
                <a:latin typeface="Open Sans"/>
              </a:rPr>
              <a:t>6.6</a:t>
            </a:r>
          </a:p>
        </p:txBody>
      </p:sp>
      <p:sp>
        <p:nvSpPr>
          <p:cNvPr id="5" name="TextBox 4"/>
          <p:cNvSpPr txBox="1"/>
          <p:nvPr/>
        </p:nvSpPr>
        <p:spPr>
          <a:xfrm>
            <a:off x="6355080" y="1481328"/>
            <a:ext cx="2377440" cy="548640"/>
          </a:xfrm>
          <a:prstGeom prst="rect">
            <a:avLst/>
          </a:prstGeom>
          <a:noFill/>
        </p:spPr>
        <p:txBody>
          <a:bodyPr wrap="square" lIns="0" rIns="0" tIns="0" bIns="0" anchor="t">
            <a:spAutoFit/>
          </a:bodyPr>
          <a:lstStyle/>
          <a:p>
            <a:pPr algn="l"/>
            <a:r>
              <a:rPr sz="1200" b="0" i="0">
                <a:solidFill>
                  <a:srgbClr val="5A6875"/>
                </a:solidFill>
                <a:latin typeface="Open Sans"/>
              </a:rPr>
              <a:t>cycles/output, v2 while in L1 (floor 6.0)</a:t>
            </a:r>
          </a:p>
        </p:txBody>
      </p:sp>
      <p:sp>
        <p:nvSpPr>
          <p:cNvPr id="6" name="TextBox 5"/>
          <p:cNvSpPr txBox="1"/>
          <p:nvPr/>
        </p:nvSpPr>
        <p:spPr>
          <a:xfrm>
            <a:off x="6355080" y="1965960"/>
            <a:ext cx="2377440" cy="548640"/>
          </a:xfrm>
          <a:prstGeom prst="rect">
            <a:avLst/>
          </a:prstGeom>
          <a:noFill/>
        </p:spPr>
        <p:txBody>
          <a:bodyPr wrap="square" lIns="0" rIns="0" tIns="0" bIns="0" anchor="t">
            <a:spAutoFit/>
          </a:bodyPr>
          <a:lstStyle/>
          <a:p>
            <a:pPr algn="l"/>
            <a:r>
              <a:rPr sz="3000" b="1" i="0">
                <a:solidFill>
                  <a:srgbClr val="6B7782"/>
                </a:solidFill>
                <a:latin typeface="Open Sans"/>
              </a:rPr>
              <a:t>9–14</a:t>
            </a:r>
          </a:p>
        </p:txBody>
      </p:sp>
      <p:sp>
        <p:nvSpPr>
          <p:cNvPr id="7" name="TextBox 6"/>
          <p:cNvSpPr txBox="1"/>
          <p:nvPr/>
        </p:nvSpPr>
        <p:spPr>
          <a:xfrm>
            <a:off x="6355080" y="2532888"/>
            <a:ext cx="2377440" cy="548640"/>
          </a:xfrm>
          <a:prstGeom prst="rect">
            <a:avLst/>
          </a:prstGeom>
          <a:noFill/>
        </p:spPr>
        <p:txBody>
          <a:bodyPr wrap="square" lIns="0" rIns="0" tIns="0" bIns="0" anchor="t">
            <a:spAutoFit/>
          </a:bodyPr>
          <a:lstStyle/>
          <a:p>
            <a:pPr algn="l"/>
            <a:r>
              <a:rPr sz="1200" b="0" i="0">
                <a:solidFill>
                  <a:srgbClr val="5A6875"/>
                </a:solidFill>
                <a:latin typeface="Open Sans"/>
              </a:rPr>
              <a:t>cycles/output, v2 past L1 (even–odd sizes)</a:t>
            </a:r>
          </a:p>
        </p:txBody>
      </p:sp>
      <p:sp>
        <p:nvSpPr>
          <p:cNvPr id="8" name="TextBox 7"/>
          <p:cNvSpPr txBox="1"/>
          <p:nvPr/>
        </p:nvSpPr>
        <p:spPr>
          <a:xfrm>
            <a:off x="6355080" y="3017520"/>
            <a:ext cx="2377440" cy="548640"/>
          </a:xfrm>
          <a:prstGeom prst="rect">
            <a:avLst/>
          </a:prstGeom>
          <a:noFill/>
        </p:spPr>
        <p:txBody>
          <a:bodyPr wrap="square" lIns="0" rIns="0" tIns="0" bIns="0" anchor="t">
            <a:spAutoFit/>
          </a:bodyPr>
          <a:lstStyle/>
          <a:p>
            <a:pPr algn="l"/>
            <a:r>
              <a:rPr sz="3000" b="1" i="0">
                <a:solidFill>
                  <a:srgbClr val="0C6A87"/>
                </a:solidFill>
                <a:latin typeface="Open Sans"/>
              </a:rPr>
              <a:t>7.6</a:t>
            </a:r>
          </a:p>
        </p:txBody>
      </p:sp>
      <p:sp>
        <p:nvSpPr>
          <p:cNvPr id="9" name="TextBox 8"/>
          <p:cNvSpPr txBox="1"/>
          <p:nvPr/>
        </p:nvSpPr>
        <p:spPr>
          <a:xfrm>
            <a:off x="6355080" y="3584448"/>
            <a:ext cx="2377440" cy="548640"/>
          </a:xfrm>
          <a:prstGeom prst="rect">
            <a:avLst/>
          </a:prstGeom>
          <a:noFill/>
        </p:spPr>
        <p:txBody>
          <a:bodyPr wrap="square" lIns="0" rIns="0" tIns="0" bIns="0" anchor="t">
            <a:spAutoFit/>
          </a:bodyPr>
          <a:lstStyle/>
          <a:p>
            <a:pPr algn="l"/>
            <a:r>
              <a:rPr sz="1200" b="0" i="0">
                <a:solidFill>
                  <a:srgbClr val="5A6875"/>
                </a:solidFill>
                <a:latin typeface="Open Sans"/>
              </a:rPr>
              <a:t>cycles/output, v5 at every size past L1</a:t>
            </a:r>
          </a:p>
        </p:txBody>
      </p:sp>
    </p:spTree>
  </p:cSld>
  <p:clrMapOvr>
    <a:masterClrMapping/>
  </p:clrMapOvr>
</p:sld>
</file>

<file path=ppt/theme/theme1.xml><?xml version="1.0" encoding="utf-8"?>
<a:theme xmlns:a="http://schemas.openxmlformats.org/drawingml/2006/main" xmlns:r="http://schemas.openxmlformats.org/officeDocument/2006/relationships" name="CMU PPT Theme">
  <a:themeElements>
    <a:clrScheme name="Custom 1">
      <a:dk1>
        <a:srgbClr val="000000"/>
      </a:dk1>
      <a:lt1>
        <a:srgbClr val="FFFFFF"/>
      </a:lt1>
      <a:dk2>
        <a:srgbClr val="75787B"/>
      </a:dk2>
      <a:lt2>
        <a:srgbClr val="C8C9C7"/>
      </a:lt2>
      <a:accent1>
        <a:srgbClr val="BB0000"/>
      </a:accent1>
      <a:accent2>
        <a:srgbClr val="75787B"/>
      </a:accent2>
      <a:accent3>
        <a:srgbClr val="00833C"/>
      </a:accent3>
      <a:accent4>
        <a:srgbClr val="F2A900"/>
      </a:accent4>
      <a:accent5>
        <a:srgbClr val="002C71"/>
      </a:accent5>
      <a:accent6>
        <a:srgbClr val="C8C9C7"/>
      </a:accent6>
      <a:hlink>
        <a:srgbClr val="BB0000"/>
      </a:hlink>
      <a:folHlink>
        <a:srgbClr val="8200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