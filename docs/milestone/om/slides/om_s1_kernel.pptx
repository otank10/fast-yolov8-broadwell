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ernel" id="{72355040-6252-fb6a-4b16-dc8115586518}">
          <p14:sldIdLst>
            <p14:sldId id="256"/>
            <p14:sldId id="257"/>
            <p14:sldId id="258"/>
          </p14:sldIdLst>
        </p14:section>
        <p14:section name="Design" id="{54227faf-c566-d6a7-bd9e-c0667ce55736}">
          <p14:sldIdLst>
            <p14:sldId id="259"/>
          </p14:sldIdLst>
        </p14:section>
        <p14:section name="Results" id="{951b756c-0714-b6a2-650b-42515dd8481d}">
          <p14:sldIdLst>
            <p14:sldId id="260"/>
            <p14:sldId id="261"/>
            <p14:sldId id="262"/>
          </p14:sldIdLst>
        </p14:section>
        <p14:section name="Layout" id="{a01c6850-757d-4ce4-4474-d67d03c3f19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FLOPs/cycle (1 core, all 32 layers)</c:v>
                </c:pt>
              </c:strCache>
            </c:strRef>
          </c:tx>
          <c:spPr>
            <a:solidFill>
              <a:srgbClr val="2A78D6"/>
            </a:solidFill>
            <a:effectLst/>
          </c:spPr>
          <c:invertIfNegative val="0"/>
          <c:dLbls>
            <c:numFmt formatCode="0.0" sourceLinked="0"/>
            <c:txPr>
              <a:bodyPr/>
              <a:lstStyle/>
              <a:p>
                <a:pPr>
                  <a:defRPr b="0" i="0" strike="noStrike" sz="1100" u="none">
                    <a:solidFill>
                      <a:srgbClr val="1F2329"/>
                    </a:solidFill>
                    <a:latin typeface="+mn-lt"/>
                  </a:defRPr>
                </a:pPr>
              </a:p>
            </c:txPr>
            <c:showLegendKey val="0"/>
            <c:showVal val="1"/>
            <c:showCatName val="0"/>
            <c:showSerName val="0"/>
            <c:showPercent val="0"/>
            <c:showBubbleSize val="0"/>
            <c:showLeaderLines val="0"/>
          </c:dLbls>
          <c:cat>
            <c:multiLvlStrRef>
              <c:f>Sheet1!$A$2:$A$7</c:f>
              <c:multiLvlStrCache>
                <c:ptCount val="6"/>
                <c:lvl>
                  <c:pt idx="0">
                    <c:v>ref</c:v>
                  </c:pt>
                  <c:pt idx="1">
                    <c:v>v0 scalar</c:v>
                  </c:pt>
                  <c:pt idx="2">
                    <c:v>v1 SIMD, 1 sum</c:v>
                  </c:pt>
                  <c:pt idx="3">
                    <c:v>v2 2×5, 10 sums</c:v>
                  </c:pt>
                  <c:pt idx="4">
                    <c:v>v4 2×6, 12 sums</c:v>
                  </c:pt>
                  <c:pt idx="5">
                    <c:v>v5 v4 + packing</c:v>
                  </c:pt>
                </c:lvl>
              </c:multiLvlStrCache>
            </c:multiLvlStrRef>
          </c:cat>
          <c:val>
            <c:numRef>
              <c:f>Sheet1!$B$2:$B$7</c:f>
              <c:numCache>
                <c:formatCode>General</c:formatCode>
                <c:ptCount val="6"/>
                <c:pt idx="0">
                  <c:v>0.29</c:v>
                </c:pt>
                <c:pt idx="1">
                  <c:v>2.84</c:v>
                </c:pt>
                <c:pt idx="2">
                  <c:v>3.23</c:v>
                </c:pt>
                <c:pt idx="3">
                  <c:v>24.68</c:v>
                </c:pt>
                <c:pt idx="4">
                  <c:v>24.17</c:v>
                </c:pt>
                <c:pt idx="5">
                  <c:v>24.58</c:v>
                </c:pt>
              </c:numCache>
            </c:numRef>
          </c:val>
        </c:ser>
        <c:dLbls>
          <c:numFmt formatCode="0.0" sourceLinked="0"/>
          <c:txPr>
            <a:bodyPr/>
            <a:lstStyle/>
            <a:p>
              <a:pPr>
                <a:defRPr b="0" i="0" strike="noStrike" sz="1100" u="none">
                  <a:solidFill>
                    <a:srgbClr val="1F232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8"/>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model: min(sums × 3.2, 32)</c:v>
                </c:pt>
              </c:strCache>
            </c:strRef>
          </c:tx>
          <c:spPr>
            <a:solidFill>
              <a:srgbClr val="9AA1AB"/>
            </a:solidFill>
            <a:ln w="31750" cap="flat">
              <a:solidFill>
                <a:srgbClr val="9AA1A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9AA1AB"/>
              </a:solidFill>
              <a:ln w="9525" cap="flat">
                <a:solidFill>
                  <a:srgbClr val="9AA1AB"/>
                </a:solidFill>
                <a:prstDash val="solid"/>
                <a:round/>
              </a:ln>
              <a:effectLst/>
            </c:spPr>
          </c:marker>
          <c:cat>
            <c:multiLvlStrRef>
              <c:f>Sheet1!$A$2:$A$8</c:f>
              <c:multiLvlStrCache>
                <c:ptCount val="7"/>
                <c:lvl>
                  <c:pt idx="0">
                    <c:v>1</c:v>
                  </c:pt>
                  <c:pt idx="1">
                    <c:v>2</c:v>
                  </c:pt>
                  <c:pt idx="2">
                    <c:v>4</c:v>
                  </c:pt>
                  <c:pt idx="3">
                    <c:v>5</c:v>
                  </c:pt>
                  <c:pt idx="4">
                    <c:v>8</c:v>
                  </c:pt>
                  <c:pt idx="5">
                    <c:v>10</c:v>
                  </c:pt>
                  <c:pt idx="6">
                    <c:v>12</c:v>
                  </c:pt>
                </c:lvl>
              </c:multiLvlStrCache>
            </c:multiLvlStrRef>
          </c:cat>
          <c:val>
            <c:numRef>
              <c:f>Sheet1!$B$2:$B$8</c:f>
              <c:numCache>
                <c:formatCode>General</c:formatCode>
                <c:ptCount val="7"/>
                <c:pt idx="0">
                  <c:v>3.2</c:v>
                </c:pt>
                <c:pt idx="1">
                  <c:v>6.4</c:v>
                </c:pt>
                <c:pt idx="2">
                  <c:v>12.8</c:v>
                </c:pt>
                <c:pt idx="3">
                  <c:v>16</c:v>
                </c:pt>
                <c:pt idx="4">
                  <c:v>25.6</c:v>
                </c:pt>
                <c:pt idx="5">
                  <c:v>32</c:v>
                </c:pt>
                <c:pt idx="6">
                  <c:v>32</c:v>
                </c:pt>
              </c:numCache>
            </c:numRef>
          </c:val>
          <c:smooth val="0"/>
        </c:ser>
        <c:ser>
          <c:idx val="1"/>
          <c:order val="1"/>
          <c:tx>
            <c:strRef>
              <c:f>Sheet1!$C$1</c:f>
              <c:strCache>
                <c:ptCount val="1"/>
                <c:pt idx="0">
                  <c:v>measured (best tile)</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Sheet1!$A$2:$A$8</c:f>
              <c:multiLvlStrCache>
                <c:ptCount val="7"/>
                <c:lvl>
                  <c:pt idx="0">
                    <c:v>1</c:v>
                  </c:pt>
                  <c:pt idx="1">
                    <c:v>2</c:v>
                  </c:pt>
                  <c:pt idx="2">
                    <c:v>4</c:v>
                  </c:pt>
                  <c:pt idx="3">
                    <c:v>5</c:v>
                  </c:pt>
                  <c:pt idx="4">
                    <c:v>8</c:v>
                  </c:pt>
                  <c:pt idx="5">
                    <c:v>10</c:v>
                  </c:pt>
                  <c:pt idx="6">
                    <c:v>12</c:v>
                  </c:pt>
                </c:lvl>
              </c:multiLvlStrCache>
            </c:multiLvlStrRef>
          </c:cat>
          <c:val>
            <c:numRef>
              <c:f>Sheet1!$C$2:$C$8</c:f>
              <c:numCache>
                <c:formatCode>General</c:formatCode>
                <c:ptCount val="7"/>
                <c:pt idx="0">
                  <c:v>3.2</c:v>
                </c:pt>
                <c:pt idx="1">
                  <c:v>6.3</c:v>
                </c:pt>
                <c:pt idx="2">
                  <c:v>12</c:v>
                </c:pt>
                <c:pt idx="3">
                  <c:v>14.7</c:v>
                </c:pt>
                <c:pt idx="4">
                  <c:v>20.5</c:v>
                </c:pt>
                <c:pt idx="5">
                  <c:v>24.6</c:v>
                </c:pt>
                <c:pt idx="6">
                  <c:v>23.2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280"/>
                    </a:solidFill>
                    <a:latin typeface="Arial"/>
                  </a:defRPr>
                </a:pPr>
                <a:r>
                  <a:rPr sz="1100" b="0" i="0" u="none" strike="noStrike">
                    <a:solidFill>
                      <a:srgbClr val="6B7280"/>
                    </a:solidFill>
                    <a:latin typeface="Arial"/>
                  </a:rPr>
                  <a:t>independent sums (tile 1×1 … 2×6)</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9525"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FLOPs / cycle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8"/>
      </c:valAx>
      <c:spPr>
        <a:noFill/>
        <a:ln>
          <a:noFill/>
        </a:ln>
        <a:effectLst/>
      </c:spPr>
    </c:plotArea>
    <c:legend>
      <c:legendPos val="t"/>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OpenCV DNN</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C16 160²</c:v>
                  </c:pt>
                  <c:pt idx="1">
                    <c:v>C32 80²</c:v>
                  </c:pt>
                  <c:pt idx="2">
                    <c:v>C64 80²</c:v>
                  </c:pt>
                  <c:pt idx="3">
                    <c:v>C64 40²</c:v>
                  </c:pt>
                  <c:pt idx="4">
                    <c:v>C64 20²</c:v>
                  </c:pt>
                  <c:pt idx="5">
                    <c:v>C80 80²</c:v>
                  </c:pt>
                  <c:pt idx="6">
                    <c:v>C80 40²</c:v>
                  </c:pt>
                  <c:pt idx="7">
                    <c:v>C80 20²</c:v>
                  </c:pt>
                  <c:pt idx="8">
                    <c:v>C128 40²</c:v>
                  </c:pt>
                  <c:pt idx="9">
                    <c:v>C128 20²</c:v>
                  </c:pt>
                  <c:pt idx="10">
                    <c:v>C256 20²</c:v>
                  </c:pt>
                </c:lvl>
              </c:multiLvlStrCache>
            </c:multiLvlStrRef>
          </c:cat>
          <c:val>
            <c:numRef>
              <c:f>Sheet1!$B$2:$B$12</c:f>
              <c:numCache>
                <c:formatCode>General</c:formatCode>
                <c:ptCount val="11"/>
                <c:pt idx="0">
                  <c:v>12.7</c:v>
                </c:pt>
                <c:pt idx="1">
                  <c:v>13.1</c:v>
                </c:pt>
                <c:pt idx="2">
                  <c:v>21.8</c:v>
                </c:pt>
                <c:pt idx="3">
                  <c:v>22.7</c:v>
                </c:pt>
                <c:pt idx="4">
                  <c:v>21.6</c:v>
                </c:pt>
                <c:pt idx="5">
                  <c:v>21.7</c:v>
                </c:pt>
                <c:pt idx="6">
                  <c:v>23.3</c:v>
                </c:pt>
                <c:pt idx="7">
                  <c:v>22.4</c:v>
                </c:pt>
                <c:pt idx="8">
                  <c:v>22.1</c:v>
                </c:pt>
                <c:pt idx="9">
                  <c:v>22.7</c:v>
                </c:pt>
                <c:pt idx="10">
                  <c:v>21</c:v>
                </c:pt>
              </c:numCache>
            </c:numRef>
          </c:val>
        </c:ser>
        <c:ser>
          <c:idx val="1"/>
          <c:order val="1"/>
          <c:tx>
            <c:strRef>
              <c:f>Sheet1!$C$1</c:f>
              <c:strCache>
                <c:ptCount val="1"/>
                <c:pt idx="0">
                  <c:v>ours (v2)</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C16 160²</c:v>
                  </c:pt>
                  <c:pt idx="1">
                    <c:v>C32 80²</c:v>
                  </c:pt>
                  <c:pt idx="2">
                    <c:v>C64 80²</c:v>
                  </c:pt>
                  <c:pt idx="3">
                    <c:v>C64 40²</c:v>
                  </c:pt>
                  <c:pt idx="4">
                    <c:v>C64 20²</c:v>
                  </c:pt>
                  <c:pt idx="5">
                    <c:v>C80 80²</c:v>
                  </c:pt>
                  <c:pt idx="6">
                    <c:v>C80 40²</c:v>
                  </c:pt>
                  <c:pt idx="7">
                    <c:v>C80 20²</c:v>
                  </c:pt>
                  <c:pt idx="8">
                    <c:v>C128 40²</c:v>
                  </c:pt>
                  <c:pt idx="9">
                    <c:v>C128 20²</c:v>
                  </c:pt>
                  <c:pt idx="10">
                    <c:v>C256 20²</c:v>
                  </c:pt>
                </c:lvl>
              </c:multiLvlStrCache>
            </c:multiLvlStrRef>
          </c:cat>
          <c:val>
            <c:numRef>
              <c:f>Sheet1!$C$2:$C$12</c:f>
              <c:numCache>
                <c:formatCode>General</c:formatCode>
                <c:ptCount val="11"/>
                <c:pt idx="0">
                  <c:v>22</c:v>
                </c:pt>
                <c:pt idx="1">
                  <c:v>25.1</c:v>
                </c:pt>
                <c:pt idx="2">
                  <c:v>24.4</c:v>
                </c:pt>
                <c:pt idx="3">
                  <c:v>25.2</c:v>
                </c:pt>
                <c:pt idx="4">
                  <c:v>25.2</c:v>
                </c:pt>
                <c:pt idx="5">
                  <c:v>25.6</c:v>
                </c:pt>
                <c:pt idx="6">
                  <c:v>25.4</c:v>
                </c:pt>
                <c:pt idx="7">
                  <c:v>25.6</c:v>
                </c:pt>
                <c:pt idx="8">
                  <c:v>24.3</c:v>
                </c:pt>
                <c:pt idx="9">
                  <c:v>25.4</c:v>
                </c:pt>
                <c:pt idx="10">
                  <c:v>22.1</c:v>
                </c:pt>
              </c:numCache>
            </c:numRef>
          </c:val>
        </c:ser>
        <c:ser>
          <c:idx val="2"/>
          <c:order val="2"/>
          <c:tx>
            <c:strRef>
              <c:f>Sheet1!$D$1</c:f>
              <c:strCache>
                <c:ptCount val="1"/>
                <c:pt idx="0">
                  <c:v>ONNX Runtime</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Sheet1!$A$2:$A$12</c:f>
              <c:multiLvlStrCache>
                <c:ptCount val="11"/>
                <c:lvl>
                  <c:pt idx="0">
                    <c:v>C16 160²</c:v>
                  </c:pt>
                  <c:pt idx="1">
                    <c:v>C32 80²</c:v>
                  </c:pt>
                  <c:pt idx="2">
                    <c:v>C64 80²</c:v>
                  </c:pt>
                  <c:pt idx="3">
                    <c:v>C64 40²</c:v>
                  </c:pt>
                  <c:pt idx="4">
                    <c:v>C64 20²</c:v>
                  </c:pt>
                  <c:pt idx="5">
                    <c:v>C80 80²</c:v>
                  </c:pt>
                  <c:pt idx="6">
                    <c:v>C80 40²</c:v>
                  </c:pt>
                  <c:pt idx="7">
                    <c:v>C80 20²</c:v>
                  </c:pt>
                  <c:pt idx="8">
                    <c:v>C128 40²</c:v>
                  </c:pt>
                  <c:pt idx="9">
                    <c:v>C128 20²</c:v>
                  </c:pt>
                  <c:pt idx="10">
                    <c:v>C256 20²</c:v>
                  </c:pt>
                </c:lvl>
              </c:multiLvlStrCache>
            </c:multiLvlStrRef>
          </c:cat>
          <c:val>
            <c:numRef>
              <c:f>Sheet1!$D$2:$D$12</c:f>
              <c:numCache>
                <c:formatCode>General</c:formatCode>
                <c:ptCount val="11"/>
                <c:pt idx="0">
                  <c:v>18.6</c:v>
                </c:pt>
                <c:pt idx="1">
                  <c:v>29.5</c:v>
                </c:pt>
                <c:pt idx="2">
                  <c:v>28.4</c:v>
                </c:pt>
                <c:pt idx="3">
                  <c:v>28.9</c:v>
                </c:pt>
                <c:pt idx="4">
                  <c:v>27</c:v>
                </c:pt>
                <c:pt idx="5">
                  <c:v>26.6</c:v>
                </c:pt>
                <c:pt idx="6">
                  <c:v>25.7</c:v>
                </c:pt>
                <c:pt idx="7">
                  <c:v>24.6</c:v>
                </c:pt>
                <c:pt idx="8">
                  <c:v>27.1</c:v>
                </c:pt>
                <c:pt idx="9">
                  <c:v>28</c:v>
                </c:pt>
                <c:pt idx="10">
                  <c:v>26.2</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9525"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FLOPs / cycle (peak 32)</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8"/>
      </c:valAx>
      <c:spPr>
        <a:noFill/>
        <a:ln>
          <a:noFill/>
        </a:ln>
        <a:effectLst/>
      </c:spPr>
    </c:plotArea>
    <c:legend>
      <c:legendPos val="t"/>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own the 3x3 stride-1 convolution. It is 32 of YOLOv8n's 64 conv layers and two thirds of its FLOPs, so it is most of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output is an independent dot product of length 9C, so there is plenty of parallelism. Inside one output, the reduction is a dependent chain of FMAs. That chain is what we have to hide. Everything is checked against the baseline's own outputs on real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per core is 2 FMAs per cycle times 8 lanes times 2 FLOPs, 32 FLOPs per cycle. The catch is latency: an FMA takes 5 cycles, so to start 2 per cycle we need 10 independent running sums. SiLU and bias are negligible: SiLU off gains under 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microkernel computes 2 blocks of 8 output channels times 5 pixels. Each step loads 2 weight vectors and broadcasts 5 inputs into 10 FMAs. 13 of the 16 YMM registers, no spills in the assembly. 1x10 has the same 10 sums but needs 11 loads per 10 FMAs, more than the 2 load ports can do; 3x4 and 4x3 don't fit the channel counts or the registers. The tile size is a template parameter so the compiler fully unrolls and keeps every sum in its own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loop runs at 0.29. v1 measures 3.23 FLOPs per cycle on every single layer, exactly 32 over 10: one FMA every 5 cycles, the latency bound. v2 with 10 independent sums jumps to 24.7, 77 percent of peak. v4 and v5 come back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microkernel, different tile shapes, averaged over 4 layers. Up to 5 sums we land on the latency model. From 8 sums on we flatten around 77 to 80 percent. 12 sums (v4) does not help. So past 10, latency is no longer what limits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 counters on the C=64 layer, 1000 runs. Front end: 2.95 of 4 uops per cycle, not the limit. FMA ports: busy 80 percent, and almost everything on them is an FMA, so nothing steals slots. Allocation stalls 24 percent of cycles, half on the scheduler. SiLU off gains under 1 percent. Next step is software pipelining the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ONNX's NCHW scatters the 8 channels of a pixel. NCHW8c puts them together, one aligned load per register. The halo stores the padding so the 3x3 window never branches. The weights are packed offline. The whole team uses this one layout, which makes Split and Concat free. Weight slabs are 576 times C bytes per tile pair; only the two C=256 layers overflow L2 and drop to about 70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ONNX model, same images, single thread; baseline times converted to real cycles at the measured 3.39 GHz. OpenCV DNN reaches 62 percent of peak, ONNX Runtime 86, ours 77 and the most uniform across shapes: on the 16-channel 160 by 160 layers we beat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 runs all 32 layers in 5.15 ms on 20 cores versus 69.5 ms on one, 13.5 times, 1127 GFLOP/s. Two layers stay near 50 percent in two separate runs; likely memory placement across the two sockets, which is the next thing to test. Next steps: software pipelining, cache blocking for the two 256-channel layers, NUMA first-touch and batch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651760"/>
            <a:ext cx="8046720" cy="12801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Om Tank · 18-645 · 3x3 stride-1 kernel</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indent="0" marL="0">
              <a:buNone/>
            </a:pPr>
            <a:r>
              <a:rPr lang="en-US" sz="4000" b="1" dirty="0">
                <a:solidFill>
                  <a:schemeClr val="bg1"/>
                </a:solidFill>
              </a:rPr>
              <a:t>3×3 stride-1 convolution</a:t>
            </a:r>
            <a:endParaRPr lang="en-US" sz="4000" dirty="0"/>
          </a:p>
        </p:txBody>
      </p:sp>
      <p:sp>
        <p:nvSpPr>
          <p:cNvPr id="3" name="Text 0"/>
          <p:cNvSpPr/>
          <p:nvPr>
            <p:ph idx="101" type="body" hasCustomPrompt="1"/>
          </p:nvPr>
        </p:nvSpPr>
        <p:spPr>
          <a:xfrm>
            <a:off x="548640" y="2651760"/>
            <a:ext cx="8046720" cy="1280160"/>
          </a:xfrm>
          <a:prstGeom prst="rect">
            <a:avLst/>
          </a:prstGeom>
          <a:noFill/>
          <a:ln/>
        </p:spPr>
        <p:txBody>
          <a:bodyPr wrap="square" lIns="0" tIns="0" rIns="0" bIns="0" rtlCol="0" anchor="t"/>
          <a:lstStyle/>
          <a:p>
            <a:pPr indent="0" marL="0">
              <a:buNone/>
            </a:pPr>
            <a:r>
              <a:rPr lang="en-US" sz="1800" dirty="0">
                <a:solidFill>
                  <a:schemeClr val="accent6"/>
                </a:solidFill>
              </a:rPr>
              <a:t>Om Tank  ·  fast YOLOv8n on a Broadwell Xeon (ece028)  ·  32 layers, 66% of the model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One output = one long chain of multiply-adds</a:t>
            </a:r>
            <a:endParaRPr lang="en-US" sz="3000" dirty="0"/>
          </a:p>
        </p:txBody>
      </p:sp>
      <p:sp>
        <p:nvSpPr>
          <p:cNvPr id="3" name="Shape 1"/>
          <p:cNvSpPr/>
          <p:nvPr/>
        </p:nvSpPr>
        <p:spPr>
          <a:xfrm>
            <a:off x="457200" y="1143000"/>
            <a:ext cx="4023360" cy="3383280"/>
          </a:xfrm>
          <a:prstGeom prst="roundRect">
            <a:avLst>
              <a:gd name="adj" fmla="val 2162"/>
            </a:avLst>
          </a:prstGeom>
          <a:solidFill>
            <a:srgbClr val="F3F4F6"/>
          </a:solidFill>
          <a:ln w="12700">
            <a:solidFill>
              <a:srgbClr val="F3F4F6"/>
            </a:solidFill>
            <a:prstDash val="solid"/>
          </a:ln>
        </p:spPr>
      </p:sp>
      <p:sp>
        <p:nvSpPr>
          <p:cNvPr id="4" name="Text 2"/>
          <p:cNvSpPr txBox="1"/>
          <p:nvPr/>
        </p:nvSpPr>
        <p:spPr>
          <a:xfrm>
            <a:off x="685800" y="1325880"/>
            <a:ext cx="3657600" cy="640080"/>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y[k][h][w] = SiLU( b[k] + Σc Σr Σs  x[c][h+r−1][w+s−1] · W[k][c][r][s] )</a:t>
            </a:r>
            <a:endParaRPr lang="en-US" sz="1400" dirty="0"/>
          </a:p>
        </p:txBody>
      </p:sp>
      <p:sp>
        <p:nvSpPr>
          <p:cNvPr id="5" name="Text 3"/>
          <p:cNvSpPr txBox="1"/>
          <p:nvPr/>
        </p:nvSpPr>
        <p:spPr>
          <a:xfrm>
            <a:off x="685800" y="2057400"/>
            <a:ext cx="3657600" cy="237744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Independent: </a:t>
            </a:r>
            <a:pPr indent="0" marL="0">
              <a:spcAft>
                <a:spcPts val="600"/>
              </a:spcAft>
              <a:buNone/>
            </a:pPr>
            <a:r>
              <a:rPr lang="en-US" sz="1400" dirty="0">
                <a:solidFill>
                  <a:schemeClr val="tx1"/>
                </a:solidFill>
              </a:rPr>
              <a:t>every output element, 25,600 to 512,000 per layer</a:t>
            </a:r>
            <a:endParaRPr lang="en-US" sz="1400" dirty="0"/>
          </a:p>
          <a:p>
            <a:pPr indent="0" marL="0">
              <a:spcAft>
                <a:spcPts val="600"/>
              </a:spcAft>
              <a:buNone/>
            </a:pPr>
            <a:r>
              <a:rPr lang="en-US" sz="1400" b="1" dirty="0">
                <a:solidFill>
                  <a:schemeClr val="tx1"/>
                </a:solidFill>
              </a:rPr>
              <a:t>Dependent: </a:t>
            </a:r>
            <a:pPr indent="0" marL="0">
              <a:spcAft>
                <a:spcPts val="600"/>
              </a:spcAft>
              <a:buNone/>
            </a:pPr>
            <a:r>
              <a:rPr lang="en-US" sz="1400" dirty="0">
                <a:solidFill>
                  <a:schemeClr val="tx1"/>
                </a:solidFill>
              </a:rPr>
              <a:t>9C fused multiply-adds into one sum (144 to 2,304 long)</a:t>
            </a:r>
            <a:endParaRPr lang="en-US" sz="1400" dirty="0"/>
          </a:p>
          <a:p>
            <a:pPr indent="0" marL="0">
              <a:spcAft>
                <a:spcPts val="600"/>
              </a:spcAft>
              <a:buNone/>
            </a:pPr>
            <a:r>
              <a:rPr lang="en-US" sz="1400" b="1" dirty="0">
                <a:solidFill>
                  <a:schemeClr val="tx1"/>
                </a:solidFill>
              </a:rPr>
              <a:t>Units: </a:t>
            </a:r>
            <a:pPr indent="0" marL="0">
              <a:spcAft>
                <a:spcPts val="600"/>
              </a:spcAft>
              <a:buNone/>
            </a:pPr>
            <a:r>
              <a:rPr lang="en-US" sz="1400" dirty="0">
                <a:solidFill>
                  <a:schemeClr val="tx1"/>
                </a:solidFill>
              </a:rPr>
              <a:t>2 FMA ports, 2 load ports, 1 store port</a:t>
            </a:r>
            <a:endParaRPr lang="en-US" sz="1400" dirty="0"/>
          </a:p>
          <a:p>
            <a:pPr indent="0" marL="0">
              <a:spcAft>
                <a:spcPts val="600"/>
              </a:spcAft>
              <a:buNone/>
            </a:pPr>
            <a:r>
              <a:rPr lang="en-US" sz="1400" b="1" dirty="0">
                <a:solidFill>
                  <a:schemeClr val="tx1"/>
                </a:solidFill>
              </a:rPr>
              <a:t>SIMD: </a:t>
            </a:r>
            <a:pPr indent="0" marL="0">
              <a:spcAft>
                <a:spcPts val="600"/>
              </a:spcAft>
              <a:buNone/>
            </a:pPr>
            <a:r>
              <a:rPr lang="en-US" sz="1400" dirty="0">
                <a:solidFill>
                  <a:schemeClr val="tx1"/>
                </a:solidFill>
              </a:rPr>
              <a:t>AVX2 + FMA3, 16 registers × 8 floats</a:t>
            </a:r>
            <a:endParaRPr lang="en-US" sz="1400" dirty="0"/>
          </a:p>
          <a:p>
            <a:pPr indent="0" marL="0">
              <a:spcAft>
                <a:spcPts val="600"/>
              </a:spcAft>
              <a:buNone/>
            </a:pPr>
            <a:r>
              <a:rPr lang="en-US" sz="1400" b="1" dirty="0">
                <a:solidFill>
                  <a:schemeClr val="tx1"/>
                </a:solidFill>
              </a:rPr>
              <a:t>Special units: </a:t>
            </a:r>
            <a:pPr indent="0" marL="0">
              <a:spcAft>
                <a:spcPts val="600"/>
              </a:spcAft>
              <a:buNone/>
            </a:pPr>
            <a:r>
              <a:rPr lang="en-US" sz="1400" dirty="0">
                <a:solidFill>
                  <a:schemeClr val="tx1"/>
                </a:solidFill>
              </a:rPr>
              <a:t>none for FP32 (no AVX-512); BatchNorm is already folded into W</a:t>
            </a:r>
            <a:endParaRPr lang="en-US" sz="1400" dirty="0"/>
          </a:p>
        </p:txBody>
      </p:sp>
      <p:sp>
        <p:nvSpPr>
          <p:cNvPr id="6" name="Text 4"/>
          <p:cNvSpPr txBox="1"/>
          <p:nvPr/>
        </p:nvSpPr>
        <p:spPr>
          <a:xfrm>
            <a:off x="4937760" y="1234440"/>
            <a:ext cx="3749040" cy="685800"/>
          </a:xfrm>
          <a:prstGeom prst="rect">
            <a:avLst/>
          </a:prstGeom>
          <a:noFill/>
          <a:ln/>
        </p:spPr>
        <p:txBody>
          <a:bodyPr wrap="square" lIns="0" tIns="0" rIns="0" bIns="0" rtlCol="0" anchor="ctr"/>
          <a:lstStyle/>
          <a:p>
            <a:pPr indent="0" marL="0">
              <a:buNone/>
            </a:pPr>
            <a:r>
              <a:rPr lang="en-US" sz="4000" b="1" dirty="0">
                <a:solidFill>
                  <a:schemeClr val="accent1"/>
                </a:solidFill>
              </a:rPr>
              <a:t>32 layers</a:t>
            </a:r>
            <a:endParaRPr lang="en-US" sz="4000" dirty="0"/>
          </a:p>
        </p:txBody>
      </p:sp>
      <p:sp>
        <p:nvSpPr>
          <p:cNvPr id="7" name="Text 5"/>
          <p:cNvSpPr txBox="1"/>
          <p:nvPr/>
        </p:nvSpPr>
        <p:spPr>
          <a:xfrm>
            <a:off x="4937760" y="1947672"/>
            <a:ext cx="3749040" cy="548640"/>
          </a:xfrm>
          <a:prstGeom prst="rect">
            <a:avLst/>
          </a:prstGeom>
          <a:noFill/>
          <a:ln/>
        </p:spPr>
        <p:txBody>
          <a:bodyPr wrap="square" lIns="0" tIns="0" rIns="0" bIns="0" rtlCol="0" anchor="t"/>
          <a:lstStyle/>
          <a:p>
            <a:pPr indent="0" marL="0">
              <a:buNone/>
            </a:pPr>
            <a:r>
              <a:rPr lang="en-US" sz="1300" dirty="0">
                <a:solidFill>
                  <a:schemeClr val="tx2"/>
                </a:solidFill>
              </a:rPr>
              <a:t>the 2 convs in every C2f bottleneck + the first 2 of each Detect branch</a:t>
            </a:r>
            <a:endParaRPr lang="en-US" sz="1300" dirty="0"/>
          </a:p>
        </p:txBody>
      </p:sp>
      <p:sp>
        <p:nvSpPr>
          <p:cNvPr id="8" name="Text 6"/>
          <p:cNvSpPr txBox="1"/>
          <p:nvPr/>
        </p:nvSpPr>
        <p:spPr>
          <a:xfrm>
            <a:off x="4937760" y="2377440"/>
            <a:ext cx="3749040" cy="685800"/>
          </a:xfrm>
          <a:prstGeom prst="rect">
            <a:avLst/>
          </a:prstGeom>
          <a:noFill/>
          <a:ln/>
        </p:spPr>
        <p:txBody>
          <a:bodyPr wrap="square" lIns="0" tIns="0" rIns="0" bIns="0" rtlCol="0" anchor="ctr"/>
          <a:lstStyle/>
          <a:p>
            <a:pPr indent="0" marL="0">
              <a:buNone/>
            </a:pPr>
            <a:r>
              <a:rPr lang="en-US" sz="4000" b="1" dirty="0">
                <a:solidFill>
                  <a:schemeClr val="accent2"/>
                </a:solidFill>
              </a:rPr>
              <a:t>5.80 of 8.74</a:t>
            </a:r>
            <a:endParaRPr lang="en-US" sz="4000" dirty="0"/>
          </a:p>
        </p:txBody>
      </p:sp>
      <p:sp>
        <p:nvSpPr>
          <p:cNvPr id="9" name="Text 7"/>
          <p:cNvSpPr txBox="1"/>
          <p:nvPr/>
        </p:nvSpPr>
        <p:spPr>
          <a:xfrm>
            <a:off x="4937760" y="3090672"/>
            <a:ext cx="3749040" cy="548640"/>
          </a:xfrm>
          <a:prstGeom prst="rect">
            <a:avLst/>
          </a:prstGeom>
          <a:noFill/>
          <a:ln/>
        </p:spPr>
        <p:txBody>
          <a:bodyPr wrap="square" lIns="0" tIns="0" rIns="0" bIns="0" rtlCol="0" anchor="t"/>
          <a:lstStyle/>
          <a:p>
            <a:pPr indent="0" marL="0">
              <a:buNone/>
            </a:pPr>
            <a:r>
              <a:rPr lang="en-US" sz="1300" dirty="0">
                <a:solidFill>
                  <a:schemeClr val="tx2"/>
                </a:solidFill>
              </a:rPr>
              <a:t>GFLOP per 640×640 image: 66% of the whole model</a:t>
            </a:r>
            <a:endParaRPr lang="en-US" sz="1300" dirty="0"/>
          </a:p>
        </p:txBody>
      </p:sp>
      <p:sp>
        <p:nvSpPr>
          <p:cNvPr id="10" name="Text 8"/>
          <p:cNvSpPr txBox="1"/>
          <p:nvPr/>
        </p:nvSpPr>
        <p:spPr>
          <a:xfrm>
            <a:off x="4937760" y="3520440"/>
            <a:ext cx="3749040" cy="685800"/>
          </a:xfrm>
          <a:prstGeom prst="rect">
            <a:avLst/>
          </a:prstGeom>
          <a:noFill/>
          <a:ln/>
        </p:spPr>
        <p:txBody>
          <a:bodyPr wrap="square" lIns="0" tIns="0" rIns="0" bIns="0" rtlCol="0" anchor="ctr"/>
          <a:lstStyle/>
          <a:p>
            <a:pPr indent="0" marL="0">
              <a:buNone/>
            </a:pPr>
            <a:r>
              <a:rPr lang="en-US" sz="4000" b="1" dirty="0">
                <a:solidFill>
                  <a:schemeClr val="accent3"/>
                </a:solidFill>
              </a:rPr>
              <a:t>≤ 2.6e-5</a:t>
            </a:r>
            <a:endParaRPr lang="en-US" sz="4000" dirty="0"/>
          </a:p>
        </p:txBody>
      </p:sp>
      <p:sp>
        <p:nvSpPr>
          <p:cNvPr id="11" name="Text 9"/>
          <p:cNvSpPr txBox="1"/>
          <p:nvPr/>
        </p:nvSpPr>
        <p:spPr>
          <a:xfrm>
            <a:off x="4937760" y="4233672"/>
            <a:ext cx="3749040" cy="548640"/>
          </a:xfrm>
          <a:prstGeom prst="rect">
            <a:avLst/>
          </a:prstGeom>
          <a:noFill/>
          <a:ln/>
        </p:spPr>
        <p:txBody>
          <a:bodyPr wrap="square" lIns="0" tIns="0" rIns="0" bIns="0" rtlCol="0" anchor="t"/>
          <a:lstStyle/>
          <a:p>
            <a:pPr indent="0" marL="0">
              <a:buNone/>
            </a:pPr>
            <a:r>
              <a:rPr lang="en-US" sz="1300" dirty="0">
                <a:solidFill>
                  <a:schemeClr val="tx2"/>
                </a:solidFill>
              </a:rPr>
              <a:t>max relative error vs the real model's outputs, all layers (limit 1e-4)</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Peak: 32 FLOPs/cycle, if 10 sums are in flight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937760" cy="914400"/>
        </p:xfrm>
        <a:graphic>
          <a:graphicData uri="http://schemas.openxmlformats.org/drawingml/2006/table">
            <a:tbl>
              <a:tblPr/>
              <a:tblGrid>
                <a:gridCol w="2377440"/>
                <a:gridCol w="822960"/>
                <a:gridCol w="1005840"/>
                <a:gridCol w="731520"/>
              </a:tblGrid>
              <a:tr h="384048">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Instruction</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Throughput</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b="1" dirty="0">
                          <a:solidFill>
                            <a:srgbClr val="6B7280"/>
                          </a:solidFill>
                          <a:latin typeface="Calibri" pitchFamily="34" charset="0"/>
                          <a:ea typeface="Calibri" pitchFamily="34" charset="-122"/>
                          <a:cs typeface="Calibri" pitchFamily="34" charset="-120"/>
                        </a:rPr>
                        <a:t>Ports</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vfmadd231ps (8-lane FMA)</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5 cycles</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2 / cycle</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0, 1</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vbroadcastss (1 input → 8 lanes)</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2 / cycle</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2, 3</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vmovaps load (8 weights)</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2 / cycle</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2, 3</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vmovaps store</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1 / cycle</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300" dirty="0">
                          <a:solidFill>
                            <a:srgbClr val="1F2329"/>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4" name="Shape 1"/>
          <p:cNvSpPr/>
          <p:nvPr/>
        </p:nvSpPr>
        <p:spPr>
          <a:xfrm>
            <a:off x="5760720" y="1188720"/>
            <a:ext cx="2926080" cy="3291840"/>
          </a:xfrm>
          <a:prstGeom prst="roundRect">
            <a:avLst>
              <a:gd name="adj" fmla="val 2500"/>
            </a:avLst>
          </a:prstGeom>
          <a:solidFill>
            <a:srgbClr val="1E2761"/>
          </a:solidFill>
          <a:ln w="12700">
            <a:solidFill>
              <a:srgbClr val="1E2761"/>
            </a:solidFill>
            <a:prstDash val="solid"/>
          </a:ln>
        </p:spPr>
      </p:sp>
      <p:sp>
        <p:nvSpPr>
          <p:cNvPr id="5" name="Text 2"/>
          <p:cNvSpPr txBox="1"/>
          <p:nvPr/>
        </p:nvSpPr>
        <p:spPr>
          <a:xfrm>
            <a:off x="5989320" y="1371600"/>
            <a:ext cx="2560320" cy="457200"/>
          </a:xfrm>
          <a:prstGeom prst="rect">
            <a:avLst/>
          </a:prstGeom>
          <a:noFill/>
          <a:ln/>
        </p:spPr>
        <p:txBody>
          <a:bodyPr wrap="square" lIns="0" tIns="0" rIns="0" bIns="0" rtlCol="0" anchor="ctr"/>
          <a:lstStyle/>
          <a:p>
            <a:pPr indent="0" marL="0">
              <a:buNone/>
            </a:pPr>
            <a:r>
              <a:rPr lang="en-US" sz="1400" dirty="0">
                <a:solidFill>
                  <a:schemeClr val="accent6"/>
                </a:solidFill>
              </a:rPr>
              <a:t>2 FMA/cycle × 8 lanes × 2 FLOPs</a:t>
            </a:r>
            <a:endParaRPr lang="en-US" sz="1400" dirty="0"/>
          </a:p>
        </p:txBody>
      </p:sp>
      <p:sp>
        <p:nvSpPr>
          <p:cNvPr id="6" name="Text 3"/>
          <p:cNvSpPr txBox="1"/>
          <p:nvPr/>
        </p:nvSpPr>
        <p:spPr>
          <a:xfrm>
            <a:off x="5989320" y="1783080"/>
            <a:ext cx="2560320" cy="685800"/>
          </a:xfrm>
          <a:prstGeom prst="rect">
            <a:avLst/>
          </a:prstGeom>
          <a:noFill/>
          <a:ln/>
        </p:spPr>
        <p:txBody>
          <a:bodyPr wrap="square" lIns="0" tIns="0" rIns="0" bIns="0" rtlCol="0" anchor="ctr"/>
          <a:lstStyle/>
          <a:p>
            <a:pPr indent="0" marL="0">
              <a:buNone/>
            </a:pPr>
            <a:r>
              <a:rPr lang="en-US" sz="4000" b="1" dirty="0">
                <a:solidFill>
                  <a:schemeClr val="bg1"/>
                </a:solidFill>
              </a:rPr>
              <a:t>= 32</a:t>
            </a:r>
            <a:endParaRPr lang="en-US" sz="4000" dirty="0"/>
          </a:p>
        </p:txBody>
      </p:sp>
      <p:sp>
        <p:nvSpPr>
          <p:cNvPr id="7" name="Text 4"/>
          <p:cNvSpPr txBox="1"/>
          <p:nvPr/>
        </p:nvSpPr>
        <p:spPr>
          <a:xfrm>
            <a:off x="5989320" y="2423160"/>
            <a:ext cx="2560320" cy="320040"/>
          </a:xfrm>
          <a:prstGeom prst="rect">
            <a:avLst/>
          </a:prstGeom>
          <a:noFill/>
          <a:ln/>
        </p:spPr>
        <p:txBody>
          <a:bodyPr wrap="square" lIns="0" tIns="0" rIns="0" bIns="0" rtlCol="0" anchor="ctr"/>
          <a:lstStyle/>
          <a:p>
            <a:pPr indent="0" marL="0">
              <a:buNone/>
            </a:pPr>
            <a:r>
              <a:rPr lang="en-US" sz="1300" dirty="0">
                <a:solidFill>
                  <a:schemeClr val="accent6"/>
                </a:solidFill>
              </a:rPr>
              <a:t>FLOPs/cycle/core</a:t>
            </a:r>
            <a:endParaRPr lang="en-US" sz="1300" dirty="0"/>
          </a:p>
        </p:txBody>
      </p:sp>
      <p:sp>
        <p:nvSpPr>
          <p:cNvPr id="8" name="Text 5"/>
          <p:cNvSpPr txBox="1"/>
          <p:nvPr/>
        </p:nvSpPr>
        <p:spPr>
          <a:xfrm>
            <a:off x="5989320" y="2926080"/>
            <a:ext cx="2560320" cy="365760"/>
          </a:xfrm>
          <a:prstGeom prst="rect">
            <a:avLst/>
          </a:prstGeom>
          <a:noFill/>
          <a:ln/>
        </p:spPr>
        <p:txBody>
          <a:bodyPr wrap="square" lIns="0" tIns="0" rIns="0" bIns="0" rtlCol="0" anchor="ctr"/>
          <a:lstStyle/>
          <a:p>
            <a:pPr indent="0" marL="0">
              <a:buNone/>
            </a:pPr>
            <a:r>
              <a:rPr lang="en-US" sz="1400" dirty="0">
                <a:solidFill>
                  <a:schemeClr val="accent6"/>
                </a:solidFill>
              </a:rPr>
              <a:t>5-cycle latency × 2 per cycle</a:t>
            </a:r>
            <a:endParaRPr lang="en-US" sz="1400" dirty="0"/>
          </a:p>
        </p:txBody>
      </p:sp>
      <p:sp>
        <p:nvSpPr>
          <p:cNvPr id="9" name="Text 6"/>
          <p:cNvSpPr txBox="1"/>
          <p:nvPr/>
        </p:nvSpPr>
        <p:spPr>
          <a:xfrm>
            <a:off x="5989320" y="3246120"/>
            <a:ext cx="2560320" cy="548640"/>
          </a:xfrm>
          <a:prstGeom prst="rect">
            <a:avLst/>
          </a:prstGeom>
          <a:noFill/>
          <a:ln/>
        </p:spPr>
        <p:txBody>
          <a:bodyPr wrap="square" lIns="0" tIns="0" rIns="0" bIns="0" rtlCol="0" anchor="ctr"/>
          <a:lstStyle/>
          <a:p>
            <a:pPr indent="0" marL="0">
              <a:buNone/>
            </a:pPr>
            <a:r>
              <a:rPr lang="en-US" sz="3000" b="1" dirty="0">
                <a:solidFill>
                  <a:schemeClr val="bg1"/>
                </a:solidFill>
              </a:rPr>
              <a:t>= 10 sums</a:t>
            </a:r>
            <a:endParaRPr lang="en-US" sz="3000" dirty="0"/>
          </a:p>
        </p:txBody>
      </p:sp>
      <p:sp>
        <p:nvSpPr>
          <p:cNvPr id="10" name="Text 7"/>
          <p:cNvSpPr txBox="1"/>
          <p:nvPr/>
        </p:nvSpPr>
        <p:spPr>
          <a:xfrm>
            <a:off x="5989320" y="3794760"/>
            <a:ext cx="2560320" cy="365760"/>
          </a:xfrm>
          <a:prstGeom prst="rect">
            <a:avLst/>
          </a:prstGeom>
          <a:noFill/>
          <a:ln/>
        </p:spPr>
        <p:txBody>
          <a:bodyPr wrap="square" lIns="0" tIns="0" rIns="0" bIns="0" rtlCol="0" anchor="ctr"/>
          <a:lstStyle/>
          <a:p>
            <a:pPr indent="0" marL="0">
              <a:buNone/>
            </a:pPr>
            <a:r>
              <a:rPr lang="en-US" sz="1300" dirty="0">
                <a:solidFill>
                  <a:schemeClr val="accent6"/>
                </a:solidFill>
              </a:rPr>
              <a:t>must be independent to never wait</a:t>
            </a:r>
            <a:endParaRPr lang="en-US" sz="1300" dirty="0"/>
          </a:p>
        </p:txBody>
      </p:sp>
      <p:sp>
        <p:nvSpPr>
          <p:cNvPr id="11" name="Text 8"/>
          <p:cNvSpPr txBox="1"/>
          <p:nvPr/>
        </p:nvSpPr>
        <p:spPr>
          <a:xfrm>
            <a:off x="457200" y="3291840"/>
            <a:ext cx="4937760" cy="822960"/>
          </a:xfrm>
          <a:prstGeom prst="rect">
            <a:avLst/>
          </a:prstGeom>
          <a:noFill/>
          <a:ln/>
        </p:spPr>
        <p:txBody>
          <a:bodyPr wrap="square" lIns="0" tIns="0" rIns="0" bIns="0" rtlCol="0" anchor="t"/>
          <a:lstStyle/>
          <a:p>
            <a:pPr indent="0" marL="0">
              <a:buNone/>
            </a:pPr>
            <a:r>
              <a:rPr lang="en-US" sz="1300" dirty="0">
                <a:solidFill>
                  <a:schemeClr val="tx2"/>
                </a:solidFill>
              </a:rPr>
              <a:t>ece028: Xeon E5-2640 v4 (Broadwell), 2 × 10 cores, 32 KB L1 / 256 KB L2 per core, 25 MB L3 per socket. 1 core runs at 3.39 GHz; 20 cores = 640 FLOPs/cycle.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The 2×5 register tile: 80 outputs, 13 of 16 registers</a:t>
            </a:r>
            <a:endParaRPr lang="en-US" sz="3000" dirty="0"/>
          </a:p>
        </p:txBody>
      </p:sp>
      <p:sp>
        <p:nvSpPr>
          <p:cNvPr id="3" name="Text 1"/>
          <p:cNvSpPr txBox="1"/>
          <p:nvPr/>
        </p:nvSpPr>
        <p:spPr>
          <a:xfrm>
            <a:off x="1417320" y="1188720"/>
            <a:ext cx="3127248" cy="274320"/>
          </a:xfrm>
          <a:prstGeom prst="rect">
            <a:avLst/>
          </a:prstGeom>
          <a:noFill/>
          <a:ln/>
        </p:spPr>
        <p:txBody>
          <a:bodyPr wrap="square" lIns="0" tIns="0" rIns="0" bIns="0" rtlCol="0" anchor="ctr"/>
          <a:lstStyle/>
          <a:p>
            <a:pPr algn="ctr" indent="0" marL="0">
              <a:buNone/>
            </a:pPr>
            <a:r>
              <a:rPr lang="en-US" sz="1200" dirty="0">
                <a:solidFill>
                  <a:schemeClr val="tx2"/>
                </a:solidFill>
              </a:rPr>
              <a:t>5 output pixels  w … w+4</a:t>
            </a:r>
            <a:endParaRPr lang="en-US" sz="1200" dirty="0"/>
          </a:p>
        </p:txBody>
      </p:sp>
      <p:sp>
        <p:nvSpPr>
          <p:cNvPr id="4" name="Shape 2"/>
          <p:cNvSpPr/>
          <p:nvPr/>
        </p:nvSpPr>
        <p:spPr>
          <a:xfrm>
            <a:off x="1417320" y="1481328"/>
            <a:ext cx="566928" cy="292608"/>
          </a:xfrm>
          <a:prstGeom prst="roundRect">
            <a:avLst>
              <a:gd name="adj" fmla="val 15625"/>
            </a:avLst>
          </a:prstGeom>
          <a:solidFill>
            <a:srgbClr val="FDEBE2"/>
          </a:solidFill>
          <a:ln w="12700">
            <a:solidFill>
              <a:srgbClr val="EB6834"/>
            </a:solidFill>
            <a:prstDash val="solid"/>
          </a:ln>
        </p:spPr>
      </p:sp>
      <p:sp>
        <p:nvSpPr>
          <p:cNvPr id="5" name="Text 3"/>
          <p:cNvSpPr txBox="1"/>
          <p:nvPr/>
        </p:nvSpPr>
        <p:spPr>
          <a:xfrm>
            <a:off x="1417320" y="1481328"/>
            <a:ext cx="566928" cy="29260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x[0]</a:t>
            </a:r>
            <a:endParaRPr lang="en-US" sz="1100" dirty="0"/>
          </a:p>
        </p:txBody>
      </p:sp>
      <p:sp>
        <p:nvSpPr>
          <p:cNvPr id="6" name="Shape 4"/>
          <p:cNvSpPr/>
          <p:nvPr/>
        </p:nvSpPr>
        <p:spPr>
          <a:xfrm>
            <a:off x="1417320" y="1874520"/>
            <a:ext cx="566928" cy="502920"/>
          </a:xfrm>
          <a:prstGeom prst="roundRect">
            <a:avLst>
              <a:gd name="adj" fmla="val 10909"/>
            </a:avLst>
          </a:prstGeom>
          <a:solidFill>
            <a:srgbClr val="E3EEFB"/>
          </a:solidFill>
          <a:ln w="15875">
            <a:solidFill>
              <a:srgbClr val="2A78D6"/>
            </a:solidFill>
            <a:prstDash val="solid"/>
          </a:ln>
        </p:spPr>
      </p:sp>
      <p:sp>
        <p:nvSpPr>
          <p:cNvPr id="7" name="Text 5"/>
          <p:cNvSpPr txBox="1"/>
          <p:nvPr/>
        </p:nvSpPr>
        <p:spPr>
          <a:xfrm>
            <a:off x="1417320" y="1874520"/>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0,0</a:t>
            </a:r>
            <a:endParaRPr lang="en-US" sz="1100" dirty="0"/>
          </a:p>
        </p:txBody>
      </p:sp>
      <p:sp>
        <p:nvSpPr>
          <p:cNvPr id="8" name="Shape 6"/>
          <p:cNvSpPr/>
          <p:nvPr/>
        </p:nvSpPr>
        <p:spPr>
          <a:xfrm>
            <a:off x="1417320" y="2450592"/>
            <a:ext cx="566928" cy="502920"/>
          </a:xfrm>
          <a:prstGeom prst="roundRect">
            <a:avLst>
              <a:gd name="adj" fmla="val 10909"/>
            </a:avLst>
          </a:prstGeom>
          <a:solidFill>
            <a:srgbClr val="E3EEFB"/>
          </a:solidFill>
          <a:ln w="15875">
            <a:solidFill>
              <a:srgbClr val="2A78D6"/>
            </a:solidFill>
            <a:prstDash val="solid"/>
          </a:ln>
        </p:spPr>
      </p:sp>
      <p:sp>
        <p:nvSpPr>
          <p:cNvPr id="9" name="Text 7"/>
          <p:cNvSpPr txBox="1"/>
          <p:nvPr/>
        </p:nvSpPr>
        <p:spPr>
          <a:xfrm>
            <a:off x="1417320" y="2450592"/>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1,0</a:t>
            </a:r>
            <a:endParaRPr lang="en-US" sz="1100" dirty="0"/>
          </a:p>
        </p:txBody>
      </p:sp>
      <p:sp>
        <p:nvSpPr>
          <p:cNvPr id="10" name="Shape 8"/>
          <p:cNvSpPr/>
          <p:nvPr/>
        </p:nvSpPr>
        <p:spPr>
          <a:xfrm>
            <a:off x="2057400" y="1481328"/>
            <a:ext cx="566928" cy="292608"/>
          </a:xfrm>
          <a:prstGeom prst="roundRect">
            <a:avLst>
              <a:gd name="adj" fmla="val 15625"/>
            </a:avLst>
          </a:prstGeom>
          <a:solidFill>
            <a:srgbClr val="FDEBE2"/>
          </a:solidFill>
          <a:ln w="12700">
            <a:solidFill>
              <a:srgbClr val="EB6834"/>
            </a:solidFill>
            <a:prstDash val="solid"/>
          </a:ln>
        </p:spPr>
      </p:sp>
      <p:sp>
        <p:nvSpPr>
          <p:cNvPr id="11" name="Text 9"/>
          <p:cNvSpPr txBox="1"/>
          <p:nvPr/>
        </p:nvSpPr>
        <p:spPr>
          <a:xfrm>
            <a:off x="2057400" y="1481328"/>
            <a:ext cx="566928" cy="29260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x[1]</a:t>
            </a:r>
            <a:endParaRPr lang="en-US" sz="1100" dirty="0"/>
          </a:p>
        </p:txBody>
      </p:sp>
      <p:sp>
        <p:nvSpPr>
          <p:cNvPr id="12" name="Shape 10"/>
          <p:cNvSpPr/>
          <p:nvPr/>
        </p:nvSpPr>
        <p:spPr>
          <a:xfrm>
            <a:off x="2057400" y="1874520"/>
            <a:ext cx="566928" cy="502920"/>
          </a:xfrm>
          <a:prstGeom prst="roundRect">
            <a:avLst>
              <a:gd name="adj" fmla="val 10909"/>
            </a:avLst>
          </a:prstGeom>
          <a:solidFill>
            <a:srgbClr val="E3EEFB"/>
          </a:solidFill>
          <a:ln w="15875">
            <a:solidFill>
              <a:srgbClr val="2A78D6"/>
            </a:solidFill>
            <a:prstDash val="solid"/>
          </a:ln>
        </p:spPr>
      </p:sp>
      <p:sp>
        <p:nvSpPr>
          <p:cNvPr id="13" name="Text 11"/>
          <p:cNvSpPr txBox="1"/>
          <p:nvPr/>
        </p:nvSpPr>
        <p:spPr>
          <a:xfrm>
            <a:off x="2057400" y="1874520"/>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0,1</a:t>
            </a:r>
            <a:endParaRPr lang="en-US" sz="1100" dirty="0"/>
          </a:p>
        </p:txBody>
      </p:sp>
      <p:sp>
        <p:nvSpPr>
          <p:cNvPr id="14" name="Shape 12"/>
          <p:cNvSpPr/>
          <p:nvPr/>
        </p:nvSpPr>
        <p:spPr>
          <a:xfrm>
            <a:off x="2057400" y="2450592"/>
            <a:ext cx="566928" cy="502920"/>
          </a:xfrm>
          <a:prstGeom prst="roundRect">
            <a:avLst>
              <a:gd name="adj" fmla="val 10909"/>
            </a:avLst>
          </a:prstGeom>
          <a:solidFill>
            <a:srgbClr val="E3EEFB"/>
          </a:solidFill>
          <a:ln w="15875">
            <a:solidFill>
              <a:srgbClr val="2A78D6"/>
            </a:solidFill>
            <a:prstDash val="solid"/>
          </a:ln>
        </p:spPr>
      </p:sp>
      <p:sp>
        <p:nvSpPr>
          <p:cNvPr id="15" name="Text 13"/>
          <p:cNvSpPr txBox="1"/>
          <p:nvPr/>
        </p:nvSpPr>
        <p:spPr>
          <a:xfrm>
            <a:off x="2057400" y="2450592"/>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1,1</a:t>
            </a:r>
            <a:endParaRPr lang="en-US" sz="1100" dirty="0"/>
          </a:p>
        </p:txBody>
      </p:sp>
      <p:sp>
        <p:nvSpPr>
          <p:cNvPr id="16" name="Shape 14"/>
          <p:cNvSpPr/>
          <p:nvPr/>
        </p:nvSpPr>
        <p:spPr>
          <a:xfrm>
            <a:off x="2697480" y="1481328"/>
            <a:ext cx="566928" cy="292608"/>
          </a:xfrm>
          <a:prstGeom prst="roundRect">
            <a:avLst>
              <a:gd name="adj" fmla="val 15625"/>
            </a:avLst>
          </a:prstGeom>
          <a:solidFill>
            <a:srgbClr val="FDEBE2"/>
          </a:solidFill>
          <a:ln w="12700">
            <a:solidFill>
              <a:srgbClr val="EB6834"/>
            </a:solidFill>
            <a:prstDash val="solid"/>
          </a:ln>
        </p:spPr>
      </p:sp>
      <p:sp>
        <p:nvSpPr>
          <p:cNvPr id="17" name="Text 15"/>
          <p:cNvSpPr txBox="1"/>
          <p:nvPr/>
        </p:nvSpPr>
        <p:spPr>
          <a:xfrm>
            <a:off x="2697480" y="1481328"/>
            <a:ext cx="566928" cy="29260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x[2]</a:t>
            </a:r>
            <a:endParaRPr lang="en-US" sz="1100" dirty="0"/>
          </a:p>
        </p:txBody>
      </p:sp>
      <p:sp>
        <p:nvSpPr>
          <p:cNvPr id="18" name="Shape 16"/>
          <p:cNvSpPr/>
          <p:nvPr/>
        </p:nvSpPr>
        <p:spPr>
          <a:xfrm>
            <a:off x="2697480" y="1874520"/>
            <a:ext cx="566928" cy="502920"/>
          </a:xfrm>
          <a:prstGeom prst="roundRect">
            <a:avLst>
              <a:gd name="adj" fmla="val 10909"/>
            </a:avLst>
          </a:prstGeom>
          <a:solidFill>
            <a:srgbClr val="E3EEFB"/>
          </a:solidFill>
          <a:ln w="15875">
            <a:solidFill>
              <a:srgbClr val="2A78D6"/>
            </a:solidFill>
            <a:prstDash val="solid"/>
          </a:ln>
        </p:spPr>
      </p:sp>
      <p:sp>
        <p:nvSpPr>
          <p:cNvPr id="19" name="Text 17"/>
          <p:cNvSpPr txBox="1"/>
          <p:nvPr/>
        </p:nvSpPr>
        <p:spPr>
          <a:xfrm>
            <a:off x="2697480" y="1874520"/>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0,2</a:t>
            </a:r>
            <a:endParaRPr lang="en-US" sz="1100" dirty="0"/>
          </a:p>
        </p:txBody>
      </p:sp>
      <p:sp>
        <p:nvSpPr>
          <p:cNvPr id="20" name="Shape 18"/>
          <p:cNvSpPr/>
          <p:nvPr/>
        </p:nvSpPr>
        <p:spPr>
          <a:xfrm>
            <a:off x="2697480" y="2450592"/>
            <a:ext cx="566928" cy="502920"/>
          </a:xfrm>
          <a:prstGeom prst="roundRect">
            <a:avLst>
              <a:gd name="adj" fmla="val 10909"/>
            </a:avLst>
          </a:prstGeom>
          <a:solidFill>
            <a:srgbClr val="E3EEFB"/>
          </a:solidFill>
          <a:ln w="15875">
            <a:solidFill>
              <a:srgbClr val="2A78D6"/>
            </a:solidFill>
            <a:prstDash val="solid"/>
          </a:ln>
        </p:spPr>
      </p:sp>
      <p:sp>
        <p:nvSpPr>
          <p:cNvPr id="21" name="Text 19"/>
          <p:cNvSpPr txBox="1"/>
          <p:nvPr/>
        </p:nvSpPr>
        <p:spPr>
          <a:xfrm>
            <a:off x="2697480" y="2450592"/>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1,2</a:t>
            </a:r>
            <a:endParaRPr lang="en-US" sz="1100" dirty="0"/>
          </a:p>
        </p:txBody>
      </p:sp>
      <p:sp>
        <p:nvSpPr>
          <p:cNvPr id="22" name="Shape 20"/>
          <p:cNvSpPr/>
          <p:nvPr/>
        </p:nvSpPr>
        <p:spPr>
          <a:xfrm>
            <a:off x="3337560" y="1481328"/>
            <a:ext cx="566928" cy="292608"/>
          </a:xfrm>
          <a:prstGeom prst="roundRect">
            <a:avLst>
              <a:gd name="adj" fmla="val 15625"/>
            </a:avLst>
          </a:prstGeom>
          <a:solidFill>
            <a:srgbClr val="FDEBE2"/>
          </a:solidFill>
          <a:ln w="12700">
            <a:solidFill>
              <a:srgbClr val="EB6834"/>
            </a:solidFill>
            <a:prstDash val="solid"/>
          </a:ln>
        </p:spPr>
      </p:sp>
      <p:sp>
        <p:nvSpPr>
          <p:cNvPr id="23" name="Text 21"/>
          <p:cNvSpPr txBox="1"/>
          <p:nvPr/>
        </p:nvSpPr>
        <p:spPr>
          <a:xfrm>
            <a:off x="3337560" y="1481328"/>
            <a:ext cx="566928" cy="29260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x[3]</a:t>
            </a:r>
            <a:endParaRPr lang="en-US" sz="1100" dirty="0"/>
          </a:p>
        </p:txBody>
      </p:sp>
      <p:sp>
        <p:nvSpPr>
          <p:cNvPr id="24" name="Shape 22"/>
          <p:cNvSpPr/>
          <p:nvPr/>
        </p:nvSpPr>
        <p:spPr>
          <a:xfrm>
            <a:off x="3337560" y="1874520"/>
            <a:ext cx="566928" cy="502920"/>
          </a:xfrm>
          <a:prstGeom prst="roundRect">
            <a:avLst>
              <a:gd name="adj" fmla="val 10909"/>
            </a:avLst>
          </a:prstGeom>
          <a:solidFill>
            <a:srgbClr val="E3EEFB"/>
          </a:solidFill>
          <a:ln w="15875">
            <a:solidFill>
              <a:srgbClr val="2A78D6"/>
            </a:solidFill>
            <a:prstDash val="solid"/>
          </a:ln>
        </p:spPr>
      </p:sp>
      <p:sp>
        <p:nvSpPr>
          <p:cNvPr id="25" name="Text 23"/>
          <p:cNvSpPr txBox="1"/>
          <p:nvPr/>
        </p:nvSpPr>
        <p:spPr>
          <a:xfrm>
            <a:off x="3337560" y="1874520"/>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0,3</a:t>
            </a:r>
            <a:endParaRPr lang="en-US" sz="1100" dirty="0"/>
          </a:p>
        </p:txBody>
      </p:sp>
      <p:sp>
        <p:nvSpPr>
          <p:cNvPr id="26" name="Shape 24"/>
          <p:cNvSpPr/>
          <p:nvPr/>
        </p:nvSpPr>
        <p:spPr>
          <a:xfrm>
            <a:off x="3337560" y="2450592"/>
            <a:ext cx="566928" cy="502920"/>
          </a:xfrm>
          <a:prstGeom prst="roundRect">
            <a:avLst>
              <a:gd name="adj" fmla="val 10909"/>
            </a:avLst>
          </a:prstGeom>
          <a:solidFill>
            <a:srgbClr val="E3EEFB"/>
          </a:solidFill>
          <a:ln w="15875">
            <a:solidFill>
              <a:srgbClr val="2A78D6"/>
            </a:solidFill>
            <a:prstDash val="solid"/>
          </a:ln>
        </p:spPr>
      </p:sp>
      <p:sp>
        <p:nvSpPr>
          <p:cNvPr id="27" name="Text 25"/>
          <p:cNvSpPr txBox="1"/>
          <p:nvPr/>
        </p:nvSpPr>
        <p:spPr>
          <a:xfrm>
            <a:off x="3337560" y="2450592"/>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1,3</a:t>
            </a:r>
            <a:endParaRPr lang="en-US" sz="1100" dirty="0"/>
          </a:p>
        </p:txBody>
      </p:sp>
      <p:sp>
        <p:nvSpPr>
          <p:cNvPr id="28" name="Shape 26"/>
          <p:cNvSpPr/>
          <p:nvPr/>
        </p:nvSpPr>
        <p:spPr>
          <a:xfrm>
            <a:off x="3977640" y="1481328"/>
            <a:ext cx="566928" cy="292608"/>
          </a:xfrm>
          <a:prstGeom prst="roundRect">
            <a:avLst>
              <a:gd name="adj" fmla="val 15625"/>
            </a:avLst>
          </a:prstGeom>
          <a:solidFill>
            <a:srgbClr val="FDEBE2"/>
          </a:solidFill>
          <a:ln w="12700">
            <a:solidFill>
              <a:srgbClr val="EB6834"/>
            </a:solidFill>
            <a:prstDash val="solid"/>
          </a:ln>
        </p:spPr>
      </p:sp>
      <p:sp>
        <p:nvSpPr>
          <p:cNvPr id="29" name="Text 27"/>
          <p:cNvSpPr txBox="1"/>
          <p:nvPr/>
        </p:nvSpPr>
        <p:spPr>
          <a:xfrm>
            <a:off x="3977640" y="1481328"/>
            <a:ext cx="566928" cy="292608"/>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x[4]</a:t>
            </a:r>
            <a:endParaRPr lang="en-US" sz="1100" dirty="0"/>
          </a:p>
        </p:txBody>
      </p:sp>
      <p:sp>
        <p:nvSpPr>
          <p:cNvPr id="30" name="Shape 28"/>
          <p:cNvSpPr/>
          <p:nvPr/>
        </p:nvSpPr>
        <p:spPr>
          <a:xfrm>
            <a:off x="3977640" y="1874520"/>
            <a:ext cx="566928" cy="502920"/>
          </a:xfrm>
          <a:prstGeom prst="roundRect">
            <a:avLst>
              <a:gd name="adj" fmla="val 10909"/>
            </a:avLst>
          </a:prstGeom>
          <a:solidFill>
            <a:srgbClr val="E3EEFB"/>
          </a:solidFill>
          <a:ln w="15875">
            <a:solidFill>
              <a:srgbClr val="2A78D6"/>
            </a:solidFill>
            <a:prstDash val="solid"/>
          </a:ln>
        </p:spPr>
      </p:sp>
      <p:sp>
        <p:nvSpPr>
          <p:cNvPr id="31" name="Text 29"/>
          <p:cNvSpPr txBox="1"/>
          <p:nvPr/>
        </p:nvSpPr>
        <p:spPr>
          <a:xfrm>
            <a:off x="3977640" y="1874520"/>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0,4</a:t>
            </a:r>
            <a:endParaRPr lang="en-US" sz="1100" dirty="0"/>
          </a:p>
        </p:txBody>
      </p:sp>
      <p:sp>
        <p:nvSpPr>
          <p:cNvPr id="32" name="Shape 30"/>
          <p:cNvSpPr/>
          <p:nvPr/>
        </p:nvSpPr>
        <p:spPr>
          <a:xfrm>
            <a:off x="3977640" y="2450592"/>
            <a:ext cx="566928" cy="502920"/>
          </a:xfrm>
          <a:prstGeom prst="roundRect">
            <a:avLst>
              <a:gd name="adj" fmla="val 10909"/>
            </a:avLst>
          </a:prstGeom>
          <a:solidFill>
            <a:srgbClr val="E3EEFB"/>
          </a:solidFill>
          <a:ln w="15875">
            <a:solidFill>
              <a:srgbClr val="2A78D6"/>
            </a:solidFill>
            <a:prstDash val="solid"/>
          </a:ln>
        </p:spPr>
      </p:sp>
      <p:sp>
        <p:nvSpPr>
          <p:cNvPr id="33" name="Text 31"/>
          <p:cNvSpPr txBox="1"/>
          <p:nvPr/>
        </p:nvSpPr>
        <p:spPr>
          <a:xfrm>
            <a:off x="3977640" y="2450592"/>
            <a:ext cx="566928"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acc</a:t>
            </a:r>
            <a:endParaRPr lang="en-US" sz="1100" dirty="0"/>
          </a:p>
          <a:p>
            <a:pPr algn="ctr" indent="0" marL="0">
              <a:buNone/>
            </a:pPr>
            <a:r>
              <a:rPr lang="en-US" sz="1100" dirty="0">
                <a:solidFill>
                  <a:schemeClr val="tx1"/>
                </a:solidFill>
                <a:latin typeface="Courier New" pitchFamily="34" charset="0"/>
                <a:ea typeface="Courier New" pitchFamily="34" charset="-122"/>
                <a:cs typeface="Courier New" pitchFamily="34" charset="-120"/>
              </a:rPr>
              <a:t>1,4</a:t>
            </a:r>
            <a:endParaRPr lang="en-US" sz="1100" dirty="0"/>
          </a:p>
        </p:txBody>
      </p:sp>
      <p:sp>
        <p:nvSpPr>
          <p:cNvPr id="34" name="Shape 32"/>
          <p:cNvSpPr/>
          <p:nvPr/>
        </p:nvSpPr>
        <p:spPr>
          <a:xfrm>
            <a:off x="457200" y="1874520"/>
            <a:ext cx="777240" cy="502920"/>
          </a:xfrm>
          <a:prstGeom prst="roundRect">
            <a:avLst>
              <a:gd name="adj" fmla="val 10909"/>
            </a:avLst>
          </a:prstGeom>
          <a:solidFill>
            <a:srgbClr val="DDF4EA"/>
          </a:solidFill>
          <a:ln w="15875">
            <a:solidFill>
              <a:srgbClr val="1BAF7A"/>
            </a:solidFill>
            <a:prstDash val="solid"/>
          </a:ln>
        </p:spPr>
      </p:sp>
      <p:sp>
        <p:nvSpPr>
          <p:cNvPr id="35" name="Text 33"/>
          <p:cNvSpPr txBox="1"/>
          <p:nvPr/>
        </p:nvSpPr>
        <p:spPr>
          <a:xfrm>
            <a:off x="457200" y="1874520"/>
            <a:ext cx="777240"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wv[0]</a:t>
            </a:r>
            <a:endParaRPr lang="en-US" sz="1100" dirty="0"/>
          </a:p>
        </p:txBody>
      </p:sp>
      <p:sp>
        <p:nvSpPr>
          <p:cNvPr id="36" name="Shape 34"/>
          <p:cNvSpPr/>
          <p:nvPr/>
        </p:nvSpPr>
        <p:spPr>
          <a:xfrm>
            <a:off x="457200" y="2450592"/>
            <a:ext cx="777240" cy="502920"/>
          </a:xfrm>
          <a:prstGeom prst="roundRect">
            <a:avLst>
              <a:gd name="adj" fmla="val 10909"/>
            </a:avLst>
          </a:prstGeom>
          <a:solidFill>
            <a:srgbClr val="DDF4EA"/>
          </a:solidFill>
          <a:ln w="15875">
            <a:solidFill>
              <a:srgbClr val="1BAF7A"/>
            </a:solidFill>
            <a:prstDash val="solid"/>
          </a:ln>
        </p:spPr>
      </p:sp>
      <p:sp>
        <p:nvSpPr>
          <p:cNvPr id="37" name="Text 35"/>
          <p:cNvSpPr txBox="1"/>
          <p:nvPr/>
        </p:nvSpPr>
        <p:spPr>
          <a:xfrm>
            <a:off x="457200" y="2450592"/>
            <a:ext cx="777240" cy="50292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wv[1]</a:t>
            </a:r>
            <a:endParaRPr lang="en-US" sz="1100" dirty="0"/>
          </a:p>
        </p:txBody>
      </p:sp>
      <p:sp>
        <p:nvSpPr>
          <p:cNvPr id="38" name="Text 36"/>
          <p:cNvSpPr txBox="1"/>
          <p:nvPr/>
        </p:nvSpPr>
        <p:spPr>
          <a:xfrm>
            <a:off x="457200" y="3063240"/>
            <a:ext cx="914400" cy="457200"/>
          </a:xfrm>
          <a:prstGeom prst="rect">
            <a:avLst/>
          </a:prstGeom>
          <a:noFill/>
          <a:ln/>
        </p:spPr>
        <p:txBody>
          <a:bodyPr wrap="square" lIns="0" tIns="0" rIns="0" bIns="0" rtlCol="0" anchor="ctr"/>
          <a:lstStyle/>
          <a:p>
            <a:pPr indent="0" marL="0">
              <a:buNone/>
            </a:pPr>
            <a:r>
              <a:rPr lang="en-US" sz="1100" dirty="0">
                <a:solidFill>
                  <a:schemeClr val="tx2"/>
                </a:solidFill>
              </a:rPr>
              <a:t>8 output channels</a:t>
            </a:r>
            <a:endParaRPr lang="en-US" sz="1100" dirty="0"/>
          </a:p>
          <a:p>
            <a:pPr indent="0" marL="0">
              <a:buNone/>
            </a:pPr>
            <a:r>
              <a:rPr lang="en-US" sz="1100" dirty="0">
                <a:solidFill>
                  <a:schemeClr val="tx2"/>
                </a:solidFill>
              </a:rPr>
              <a:t>per row</a:t>
            </a:r>
            <a:endParaRPr lang="en-US" sz="1100" dirty="0"/>
          </a:p>
        </p:txBody>
      </p:sp>
      <p:sp>
        <p:nvSpPr>
          <p:cNvPr id="39" name="Text 37"/>
          <p:cNvSpPr txBox="1"/>
          <p:nvPr/>
        </p:nvSpPr>
        <p:spPr>
          <a:xfrm>
            <a:off x="457200" y="3611880"/>
            <a:ext cx="4572000" cy="822960"/>
          </a:xfrm>
          <a:prstGeom prst="rect">
            <a:avLst/>
          </a:prstGeom>
          <a:noFill/>
          <a:ln/>
        </p:spPr>
        <p:txBody>
          <a:bodyPr wrap="square" lIns="0" tIns="0" rIns="0" bIns="0" rtlCol="0" anchor="t"/>
          <a:lstStyle/>
          <a:p>
            <a:pPr indent="0" marL="0">
              <a:buNone/>
            </a:pPr>
            <a:r>
              <a:rPr lang="en-US" sz="1300" b="1" dirty="0">
                <a:solidFill>
                  <a:schemeClr val="tx1"/>
                </a:solidFill>
              </a:rPr>
              <a:t>Per step (1 input channel, 1 tap): </a:t>
            </a:r>
            <a:pPr indent="0" marL="0">
              <a:buNone/>
            </a:pPr>
            <a:r>
              <a:rPr lang="en-US" sz="1300" dirty="0">
                <a:solidFill>
                  <a:schemeClr val="tx1"/>
                </a:solidFill>
              </a:rPr>
              <a:t>2 weight loads + 5 broadcasts feed 10 FMAs. Every weight meets every input.</a:t>
            </a:r>
            <a:endParaRPr lang="en-US" sz="1300" dirty="0"/>
          </a:p>
        </p:txBody>
      </p:sp>
      <p:sp>
        <p:nvSpPr>
          <p:cNvPr id="40" name="Shape 38"/>
          <p:cNvSpPr/>
          <p:nvPr/>
        </p:nvSpPr>
        <p:spPr>
          <a:xfrm>
            <a:off x="5394960" y="1188720"/>
            <a:ext cx="3291840" cy="3291840"/>
          </a:xfrm>
          <a:prstGeom prst="roundRect">
            <a:avLst>
              <a:gd name="adj" fmla="val 2222"/>
            </a:avLst>
          </a:prstGeom>
          <a:solidFill>
            <a:srgbClr val="F3F4F6"/>
          </a:solidFill>
          <a:ln w="12700">
            <a:solidFill>
              <a:srgbClr val="F3F4F6"/>
            </a:solidFill>
            <a:prstDash val="solid"/>
          </a:ln>
        </p:spPr>
      </p:sp>
      <p:sp>
        <p:nvSpPr>
          <p:cNvPr id="41" name="Text 39"/>
          <p:cNvSpPr txBox="1"/>
          <p:nvPr/>
        </p:nvSpPr>
        <p:spPr>
          <a:xfrm>
            <a:off x="5577840" y="1325880"/>
            <a:ext cx="2971800" cy="3063240"/>
          </a:xfrm>
          <a:prstGeom prst="rect">
            <a:avLst/>
          </a:prstGeom>
          <a:noFill/>
          <a:ln/>
        </p:spPr>
        <p:txBody>
          <a:bodyPr wrap="square" lIns="0" tIns="0" rIns="0" bIns="0" rtlCol="0" anchor="t"/>
          <a:lstStyle/>
          <a:p>
            <a:pPr indent="0" marL="0">
              <a:spcAft>
                <a:spcPts val="300"/>
              </a:spcAft>
              <a:buNone/>
            </a:pPr>
            <a:r>
              <a:rPr lang="en-US" sz="1300" b="1" dirty="0">
                <a:solidFill>
                  <a:schemeClr val="tx1"/>
                </a:solidFill>
              </a:rPr>
              <a:t>Size</a:t>
            </a:r>
            <a:endParaRPr lang="en-US" sz="1300" dirty="0"/>
          </a:p>
          <a:p>
            <a:pPr indent="0" marL="0">
              <a:spcAft>
                <a:spcPts val="300"/>
              </a:spcAft>
              <a:buNone/>
            </a:pPr>
            <a:r>
              <a:rPr lang="en-US" sz="1300" dirty="0">
                <a:solidFill>
                  <a:schemeClr val="tx1"/>
                </a:solidFill>
              </a:rPr>
              <a:t>2 blocks × 8 ch × 5 px = 80 outputs</a:t>
            </a:r>
            <a:endParaRPr lang="en-US" sz="1300" dirty="0"/>
          </a:p>
          <a:p>
            <a:pPr indent="0" marL="0">
              <a:spcAft>
                <a:spcPts val="300"/>
              </a:spcAft>
              <a:buNone/>
            </a:pPr>
            <a:r>
              <a:rPr lang="en-US" sz="1300" b="1" dirty="0">
                <a:solidFill>
                  <a:schemeClr val="tx1"/>
                </a:solidFill>
              </a:rPr>
              <a:t>Registers</a:t>
            </a:r>
            <a:endParaRPr lang="en-US" sz="1300" dirty="0"/>
          </a:p>
          <a:p>
            <a:pPr indent="0" marL="0">
              <a:spcAft>
                <a:spcPts val="300"/>
              </a:spcAft>
              <a:buNone/>
            </a:pPr>
            <a:r>
              <a:rPr lang="en-US" sz="1300" dirty="0">
                <a:solidFill>
                  <a:schemeClr val="tx1"/>
                </a:solidFill>
              </a:rPr>
              <a:t>10 sums + 2 weights + 1 broadcast = 13</a:t>
            </a:r>
            <a:endParaRPr lang="en-US" sz="1300" dirty="0"/>
          </a:p>
          <a:p>
            <a:pPr indent="0" marL="0">
              <a:spcAft>
                <a:spcPts val="300"/>
              </a:spcAft>
              <a:buNone/>
            </a:pPr>
            <a:r>
              <a:rPr lang="en-US" sz="1300" b="1" dirty="0">
                <a:solidFill>
                  <a:schemeClr val="tx1"/>
                </a:solidFill>
              </a:rPr>
              <a:t>Reuse</a:t>
            </a:r>
            <a:endParaRPr lang="en-US" sz="1300" dirty="0"/>
          </a:p>
          <a:p>
            <a:pPr indent="0" marL="0">
              <a:spcAft>
                <a:spcPts val="300"/>
              </a:spcAft>
              <a:buNone/>
            </a:pPr>
            <a:r>
              <a:rPr lang="en-US" sz="1300" dirty="0">
                <a:solidFill>
                  <a:schemeClr val="tx1"/>
                </a:solidFill>
              </a:rPr>
              <a:t>weight ×5, input ×2, sums stay in registers for all 9C steps, stored once; bias = initial value</a:t>
            </a:r>
            <a:endParaRPr lang="en-US" sz="1300" dirty="0"/>
          </a:p>
          <a:p>
            <a:pPr indent="0" marL="0">
              <a:spcAft>
                <a:spcPts val="300"/>
              </a:spcAft>
              <a:buNone/>
            </a:pPr>
            <a:r>
              <a:rPr lang="en-US" sz="1300" b="1" dirty="0">
                <a:solidFill>
                  <a:schemeClr val="tx1"/>
                </a:solidFill>
              </a:rPr>
              <a:t>Why 2×5</a:t>
            </a:r>
            <a:endParaRPr lang="en-US" sz="1300" dirty="0"/>
          </a:p>
          <a:p>
            <a:pPr indent="0" marL="0">
              <a:spcAft>
                <a:spcPts val="300"/>
              </a:spcAft>
              <a:buNone/>
            </a:pPr>
            <a:r>
              <a:rPr lang="en-US" sz="1300" dirty="0">
                <a:solidFill>
                  <a:schemeClr val="tx1"/>
                </a:solidFill>
              </a:rPr>
              <a:t>divides every width (160, 80, 40, 20) and every K/8; 7 loads per 10 FMAs fits the 2 load ports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Each version removes one bottleneck</a:t>
            </a:r>
            <a:endParaRPr lang="en-US" sz="3000" dirty="0"/>
          </a:p>
        </p:txBody>
      </p:sp>
      <p:graphicFrame>
        <p:nvGraphicFramePr>
          <p:cNvPr id="3" name="Chart 0" descr=""/>
          <p:cNvGraphicFramePr/>
          <p:nvPr/>
        </p:nvGraphicFramePr>
        <p:xfrm>
          <a:off x="36576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989320" y="1234440"/>
            <a:ext cx="2743200" cy="3291840"/>
          </a:xfrm>
          <a:prstGeom prst="rect">
            <a:avLst/>
          </a:prstGeom>
          <a:noFill/>
          <a:ln/>
        </p:spPr>
        <p:txBody>
          <a:bodyPr wrap="square" lIns="0" tIns="0" rIns="0" bIns="0" rtlCol="0" anchor="t"/>
          <a:lstStyle/>
          <a:p>
            <a:pPr indent="0" marL="0">
              <a:buNone/>
            </a:pPr>
            <a:r>
              <a:rPr lang="en-US" sz="1300" b="1" dirty="0">
                <a:solidFill>
                  <a:schemeClr val="tx1"/>
                </a:solidFill>
              </a:rPr>
              <a:t>v1: 3.23 on every layer</a:t>
            </a:r>
            <a:endParaRPr lang="en-US" sz="1300" dirty="0"/>
          </a:p>
          <a:p>
            <a:pPr indent="0" marL="0">
              <a:buNone/>
            </a:pPr>
            <a:r>
              <a:rPr lang="en-US" sz="1300" dirty="0">
                <a:solidFill>
                  <a:schemeClr val="tx1"/>
                </a:solidFill>
              </a:rPr>
              <a:t>= 32 ÷ 10 exactly: one FMA per 5-cycle latency</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v2: 24.7 = 77% of peak</a:t>
            </a:r>
            <a:endParaRPr lang="en-US" sz="1300" dirty="0"/>
          </a:p>
          <a:p>
            <a:pPr indent="0" marL="0">
              <a:buNone/>
            </a:pPr>
            <a:r>
              <a:rPr lang="en-US" sz="1300" dirty="0">
                <a:solidFill>
                  <a:schemeClr val="tx1"/>
                </a:solidFill>
              </a:rPr>
              <a:t>10 independent sums hide the latency (21.3–25.8 per layer)</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v0 is not really scalar</a:t>
            </a:r>
            <a:endParaRPr lang="en-US" sz="1300" dirty="0"/>
          </a:p>
          <a:p>
            <a:pPr indent="0" marL="0">
              <a:buNone/>
            </a:pPr>
            <a:r>
              <a:rPr lang="en-US" sz="1300" dirty="0">
                <a:solidFill>
                  <a:schemeClr val="tx1"/>
                </a:solidFill>
              </a:rPr>
              <a:t>the blocked layout let the compiler vectorize it (mul + add)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More sums help until 8, then it flattens</a:t>
            </a:r>
            <a:endParaRPr lang="en-US" sz="3000" dirty="0"/>
          </a:p>
        </p:txBody>
      </p:sp>
      <p:graphicFrame>
        <p:nvGraphicFramePr>
          <p:cNvPr id="3" name="Chart 0" descr=""/>
          <p:cNvGraphicFramePr/>
          <p:nvPr/>
        </p:nvGraphicFramePr>
        <p:xfrm>
          <a:off x="36576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234440"/>
            <a:ext cx="2651760" cy="685800"/>
          </a:xfrm>
          <a:prstGeom prst="rect">
            <a:avLst/>
          </a:prstGeom>
          <a:noFill/>
          <a:ln/>
        </p:spPr>
        <p:txBody>
          <a:bodyPr wrap="square" lIns="0" tIns="0" rIns="0" bIns="0" rtlCol="0" anchor="ctr"/>
          <a:lstStyle/>
          <a:p>
            <a:pPr indent="0" marL="0">
              <a:buNone/>
            </a:pPr>
            <a:r>
              <a:rPr lang="en-US" sz="4000" b="1" dirty="0">
                <a:solidFill>
                  <a:schemeClr val="accent1"/>
                </a:solidFill>
              </a:rPr>
              <a:t>90–101%</a:t>
            </a:r>
            <a:endParaRPr lang="en-US" sz="4000" dirty="0"/>
          </a:p>
        </p:txBody>
      </p:sp>
      <p:sp>
        <p:nvSpPr>
          <p:cNvPr id="5" name="Text 2"/>
          <p:cNvSpPr txBox="1"/>
          <p:nvPr/>
        </p:nvSpPr>
        <p:spPr>
          <a:xfrm>
            <a:off x="6035040" y="1947672"/>
            <a:ext cx="2651760" cy="548640"/>
          </a:xfrm>
          <a:prstGeom prst="rect">
            <a:avLst/>
          </a:prstGeom>
          <a:noFill/>
          <a:ln/>
        </p:spPr>
        <p:txBody>
          <a:bodyPr wrap="square" lIns="0" tIns="0" rIns="0" bIns="0" rtlCol="0" anchor="t"/>
          <a:lstStyle/>
          <a:p>
            <a:pPr indent="0" marL="0">
              <a:buNone/>
            </a:pPr>
            <a:r>
              <a:rPr lang="en-US" sz="1300" dirty="0">
                <a:solidFill>
                  <a:schemeClr val="tx2"/>
                </a:solidFill>
              </a:rPr>
              <a:t>of the latency model with up to 5 sums</a:t>
            </a:r>
            <a:endParaRPr lang="en-US" sz="1300" dirty="0"/>
          </a:p>
        </p:txBody>
      </p:sp>
      <p:sp>
        <p:nvSpPr>
          <p:cNvPr id="6" name="Text 3"/>
          <p:cNvSpPr txBox="1"/>
          <p:nvPr/>
        </p:nvSpPr>
        <p:spPr>
          <a:xfrm>
            <a:off x="6035040" y="2377440"/>
            <a:ext cx="2651760" cy="685800"/>
          </a:xfrm>
          <a:prstGeom prst="rect">
            <a:avLst/>
          </a:prstGeom>
          <a:noFill/>
          <a:ln/>
        </p:spPr>
        <p:txBody>
          <a:bodyPr wrap="square" lIns="0" tIns="0" rIns="0" bIns="0" rtlCol="0" anchor="ctr"/>
          <a:lstStyle/>
          <a:p>
            <a:pPr indent="0" marL="0">
              <a:buNone/>
            </a:pPr>
            <a:r>
              <a:rPr lang="en-US" sz="4000" b="1" dirty="0">
                <a:solidFill>
                  <a:schemeClr val="accent2"/>
                </a:solidFill>
              </a:rPr>
              <a:t>77–80%</a:t>
            </a:r>
            <a:endParaRPr lang="en-US" sz="4000" dirty="0"/>
          </a:p>
        </p:txBody>
      </p:sp>
      <p:sp>
        <p:nvSpPr>
          <p:cNvPr id="7" name="Text 4"/>
          <p:cNvSpPr txBox="1"/>
          <p:nvPr/>
        </p:nvSpPr>
        <p:spPr>
          <a:xfrm>
            <a:off x="6035040" y="3090672"/>
            <a:ext cx="2651760" cy="548640"/>
          </a:xfrm>
          <a:prstGeom prst="rect">
            <a:avLst/>
          </a:prstGeom>
          <a:noFill/>
          <a:ln/>
        </p:spPr>
        <p:txBody>
          <a:bodyPr wrap="square" lIns="0" tIns="0" rIns="0" bIns="0" rtlCol="0" anchor="t"/>
          <a:lstStyle/>
          <a:p>
            <a:pPr indent="0" marL="0">
              <a:buNone/>
            </a:pPr>
            <a:r>
              <a:rPr lang="en-US" sz="1300" dirty="0">
                <a:solidFill>
                  <a:schemeClr val="tx2"/>
                </a:solidFill>
              </a:rPr>
              <a:t>of the model with 8 to 12 sums</a:t>
            </a:r>
            <a:endParaRPr lang="en-US" sz="1300" dirty="0"/>
          </a:p>
        </p:txBody>
      </p:sp>
      <p:sp>
        <p:nvSpPr>
          <p:cNvPr id="8" name="Text 5"/>
          <p:cNvSpPr txBox="1"/>
          <p:nvPr/>
        </p:nvSpPr>
        <p:spPr>
          <a:xfrm>
            <a:off x="6035040" y="3566160"/>
            <a:ext cx="2651760" cy="822960"/>
          </a:xfrm>
          <a:prstGeom prst="rect">
            <a:avLst/>
          </a:prstGeom>
          <a:noFill/>
          <a:ln/>
        </p:spPr>
        <p:txBody>
          <a:bodyPr wrap="square" lIns="0" tIns="0" rIns="0" bIns="0" rtlCol="0" anchor="t"/>
          <a:lstStyle/>
          <a:p>
            <a:pPr indent="0" marL="0">
              <a:buNone/>
            </a:pPr>
            <a:r>
              <a:rPr lang="en-US" sz="1300" dirty="0">
                <a:solidFill>
                  <a:schemeClr val="tx2"/>
                </a:solidFill>
              </a:rPr>
              <a:t>1×10 has 10 sums too but needs 11 loads per 10 FMAs: load-bound at 21.4</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Where the last 23% goes</a:t>
            </a:r>
            <a:endParaRPr lang="en-US" sz="3000" dirty="0"/>
          </a:p>
        </p:txBody>
      </p:sp>
      <p:sp>
        <p:nvSpPr>
          <p:cNvPr id="3" name="Shape 1"/>
          <p:cNvSpPr/>
          <p:nvPr/>
        </p:nvSpPr>
        <p:spPr>
          <a:xfrm>
            <a:off x="457200" y="1188720"/>
            <a:ext cx="2596896" cy="1874520"/>
          </a:xfrm>
          <a:prstGeom prst="roundRect">
            <a:avLst>
              <a:gd name="adj" fmla="val 3902"/>
            </a:avLst>
          </a:prstGeom>
          <a:solidFill>
            <a:srgbClr val="F3F4F6"/>
          </a:solidFill>
          <a:ln w="12700">
            <a:solidFill>
              <a:srgbClr val="F3F4F6"/>
            </a:solidFill>
            <a:prstDash val="solid"/>
          </a:ln>
        </p:spPr>
      </p:sp>
      <p:sp>
        <p:nvSpPr>
          <p:cNvPr id="4" name="Text 2"/>
          <p:cNvSpPr txBox="1"/>
          <p:nvPr/>
        </p:nvSpPr>
        <p:spPr>
          <a:xfrm>
            <a:off x="640080" y="1325880"/>
            <a:ext cx="2286000" cy="685800"/>
          </a:xfrm>
          <a:prstGeom prst="rect">
            <a:avLst/>
          </a:prstGeom>
          <a:noFill/>
          <a:ln/>
        </p:spPr>
        <p:txBody>
          <a:bodyPr wrap="square" lIns="0" tIns="0" rIns="0" bIns="0" rtlCol="0" anchor="ctr"/>
          <a:lstStyle/>
          <a:p>
            <a:pPr indent="0" marL="0">
              <a:buNone/>
            </a:pPr>
            <a:r>
              <a:rPr lang="en-US" sz="4000" b="1" dirty="0">
                <a:solidFill>
                  <a:schemeClr val="accent3"/>
                </a:solidFill>
              </a:rPr>
              <a:t>2.95 / 4</a:t>
            </a:r>
            <a:endParaRPr lang="en-US" sz="4000" dirty="0"/>
          </a:p>
        </p:txBody>
      </p:sp>
      <p:sp>
        <p:nvSpPr>
          <p:cNvPr id="5" name="Text 3"/>
          <p:cNvSpPr txBox="1"/>
          <p:nvPr/>
        </p:nvSpPr>
        <p:spPr>
          <a:xfrm>
            <a:off x="640080" y="2039112"/>
            <a:ext cx="2286000" cy="548640"/>
          </a:xfrm>
          <a:prstGeom prst="rect">
            <a:avLst/>
          </a:prstGeom>
          <a:noFill/>
          <a:ln/>
        </p:spPr>
        <p:txBody>
          <a:bodyPr wrap="square" lIns="0" tIns="0" rIns="0" bIns="0" rtlCol="0" anchor="t"/>
          <a:lstStyle/>
          <a:p>
            <a:pPr indent="0" marL="0">
              <a:buNone/>
            </a:pPr>
            <a:r>
              <a:rPr lang="en-US" sz="1300" dirty="0">
                <a:solidFill>
                  <a:schemeClr val="tx2"/>
                </a:solidFill>
              </a:rPr>
              <a:t>uops issued per cycle: the front end has room</a:t>
            </a:r>
            <a:endParaRPr lang="en-US" sz="1300" dirty="0"/>
          </a:p>
        </p:txBody>
      </p:sp>
      <p:sp>
        <p:nvSpPr>
          <p:cNvPr id="6" name="Shape 4"/>
          <p:cNvSpPr/>
          <p:nvPr/>
        </p:nvSpPr>
        <p:spPr>
          <a:xfrm>
            <a:off x="3273552" y="1188720"/>
            <a:ext cx="2596896" cy="1874520"/>
          </a:xfrm>
          <a:prstGeom prst="roundRect">
            <a:avLst>
              <a:gd name="adj" fmla="val 3902"/>
            </a:avLst>
          </a:prstGeom>
          <a:solidFill>
            <a:srgbClr val="F3F4F6"/>
          </a:solidFill>
          <a:ln w="12700">
            <a:solidFill>
              <a:srgbClr val="F3F4F6"/>
            </a:solidFill>
            <a:prstDash val="solid"/>
          </a:ln>
        </p:spPr>
      </p:sp>
      <p:sp>
        <p:nvSpPr>
          <p:cNvPr id="7" name="Text 5"/>
          <p:cNvSpPr txBox="1"/>
          <p:nvPr/>
        </p:nvSpPr>
        <p:spPr>
          <a:xfrm>
            <a:off x="3456432" y="1325880"/>
            <a:ext cx="2286000" cy="685800"/>
          </a:xfrm>
          <a:prstGeom prst="rect">
            <a:avLst/>
          </a:prstGeom>
          <a:noFill/>
          <a:ln/>
        </p:spPr>
        <p:txBody>
          <a:bodyPr wrap="square" lIns="0" tIns="0" rIns="0" bIns="0" rtlCol="0" anchor="ctr"/>
          <a:lstStyle/>
          <a:p>
            <a:pPr indent="0" marL="0">
              <a:buNone/>
            </a:pPr>
            <a:r>
              <a:rPr lang="en-US" sz="4000" b="1" dirty="0">
                <a:solidFill>
                  <a:schemeClr val="accent1"/>
                </a:solidFill>
              </a:rPr>
              <a:t>80%</a:t>
            </a:r>
            <a:endParaRPr lang="en-US" sz="4000" dirty="0"/>
          </a:p>
        </p:txBody>
      </p:sp>
      <p:sp>
        <p:nvSpPr>
          <p:cNvPr id="8" name="Text 6"/>
          <p:cNvSpPr txBox="1"/>
          <p:nvPr/>
        </p:nvSpPr>
        <p:spPr>
          <a:xfrm>
            <a:off x="3456432" y="2039112"/>
            <a:ext cx="2286000" cy="548640"/>
          </a:xfrm>
          <a:prstGeom prst="rect">
            <a:avLst/>
          </a:prstGeom>
          <a:noFill/>
          <a:ln/>
        </p:spPr>
        <p:txBody>
          <a:bodyPr wrap="square" lIns="0" tIns="0" rIns="0" bIns="0" rtlCol="0" anchor="t"/>
          <a:lstStyle/>
          <a:p>
            <a:pPr indent="0" marL="0">
              <a:buNone/>
            </a:pPr>
            <a:r>
              <a:rPr lang="en-US" sz="1300" dirty="0">
                <a:solidFill>
                  <a:schemeClr val="tx2"/>
                </a:solidFill>
              </a:rPr>
              <a:t>of cycles each FMA port is busy, almost only with FMAs (7.75 G uops for 7.39 G FMAs)</a:t>
            </a:r>
            <a:endParaRPr lang="en-US" sz="1300" dirty="0"/>
          </a:p>
        </p:txBody>
      </p:sp>
      <p:sp>
        <p:nvSpPr>
          <p:cNvPr id="9" name="Shape 7"/>
          <p:cNvSpPr/>
          <p:nvPr/>
        </p:nvSpPr>
        <p:spPr>
          <a:xfrm>
            <a:off x="6089904" y="1188720"/>
            <a:ext cx="2596896" cy="1874520"/>
          </a:xfrm>
          <a:prstGeom prst="roundRect">
            <a:avLst>
              <a:gd name="adj" fmla="val 3902"/>
            </a:avLst>
          </a:prstGeom>
          <a:solidFill>
            <a:srgbClr val="F3F4F6"/>
          </a:solidFill>
          <a:ln w="12700">
            <a:solidFill>
              <a:srgbClr val="F3F4F6"/>
            </a:solidFill>
            <a:prstDash val="solid"/>
          </a:ln>
        </p:spPr>
      </p:sp>
      <p:sp>
        <p:nvSpPr>
          <p:cNvPr id="10" name="Text 8"/>
          <p:cNvSpPr txBox="1"/>
          <p:nvPr/>
        </p:nvSpPr>
        <p:spPr>
          <a:xfrm>
            <a:off x="6272784" y="1325880"/>
            <a:ext cx="2286000" cy="685800"/>
          </a:xfrm>
          <a:prstGeom prst="rect">
            <a:avLst/>
          </a:prstGeom>
          <a:noFill/>
          <a:ln/>
        </p:spPr>
        <p:txBody>
          <a:bodyPr wrap="square" lIns="0" tIns="0" rIns="0" bIns="0" rtlCol="0" anchor="ctr"/>
          <a:lstStyle/>
          <a:p>
            <a:pPr indent="0" marL="0">
              <a:buNone/>
            </a:pPr>
            <a:r>
              <a:rPr lang="en-US" sz="4000" b="1" dirty="0">
                <a:solidFill>
                  <a:schemeClr val="accent2"/>
                </a:solidFill>
              </a:rPr>
              <a:t>24%</a:t>
            </a:r>
            <a:endParaRPr lang="en-US" sz="4000" dirty="0"/>
          </a:p>
        </p:txBody>
      </p:sp>
      <p:sp>
        <p:nvSpPr>
          <p:cNvPr id="11" name="Text 9"/>
          <p:cNvSpPr txBox="1"/>
          <p:nvPr/>
        </p:nvSpPr>
        <p:spPr>
          <a:xfrm>
            <a:off x="6272784" y="2039112"/>
            <a:ext cx="2286000" cy="548640"/>
          </a:xfrm>
          <a:prstGeom prst="rect">
            <a:avLst/>
          </a:prstGeom>
          <a:noFill/>
          <a:ln/>
        </p:spPr>
        <p:txBody>
          <a:bodyPr wrap="square" lIns="0" tIns="0" rIns="0" bIns="0" rtlCol="0" anchor="t"/>
          <a:lstStyle/>
          <a:p>
            <a:pPr indent="0" marL="0">
              <a:buNone/>
            </a:pPr>
            <a:r>
              <a:rPr lang="en-US" sz="1300" dirty="0">
                <a:solidFill>
                  <a:schemeClr val="tx2"/>
                </a:solidFill>
              </a:rPr>
              <a:t>of cycles allocation stalls; half on a full scheduler, none on ROB or store buffer</a:t>
            </a:r>
            <a:endParaRPr lang="en-US" sz="1300" dirty="0"/>
          </a:p>
        </p:txBody>
      </p:sp>
      <p:sp>
        <p:nvSpPr>
          <p:cNvPr id="12" name="Shape 10"/>
          <p:cNvSpPr/>
          <p:nvPr/>
        </p:nvSpPr>
        <p:spPr>
          <a:xfrm>
            <a:off x="457200" y="3246120"/>
            <a:ext cx="8229600" cy="1280160"/>
          </a:xfrm>
          <a:prstGeom prst="roundRect">
            <a:avLst>
              <a:gd name="adj" fmla="val 5714"/>
            </a:avLst>
          </a:prstGeom>
          <a:solidFill>
            <a:srgbClr val="E3EEFB"/>
          </a:solidFill>
          <a:ln w="12700">
            <a:solidFill>
              <a:srgbClr val="E3EEFB"/>
            </a:solidFill>
            <a:prstDash val="solid"/>
          </a:ln>
        </p:spPr>
      </p:sp>
      <p:sp>
        <p:nvSpPr>
          <p:cNvPr id="13" name="Text 11"/>
          <p:cNvSpPr txBox="1"/>
          <p:nvPr/>
        </p:nvSpPr>
        <p:spPr>
          <a:xfrm>
            <a:off x="685800" y="3337560"/>
            <a:ext cx="7772400" cy="1097280"/>
          </a:xfrm>
          <a:prstGeom prst="rect">
            <a:avLst/>
          </a:prstGeom>
          <a:noFill/>
          <a:ln/>
        </p:spPr>
        <p:txBody>
          <a:bodyPr wrap="square" lIns="0" tIns="0" rIns="0" bIns="0" rtlCol="0" anchor="ctr"/>
          <a:lstStyle/>
          <a:p>
            <a:pPr indent="0" marL="0">
              <a:buNone/>
            </a:pPr>
            <a:r>
              <a:rPr lang="en-US" sz="1300" b="1" dirty="0">
                <a:solidFill>
                  <a:schemeClr val="tx1"/>
                </a:solidFill>
              </a:rPr>
              <a:t>Reading: </a:t>
            </a:r>
            <a:pPr indent="0" marL="0">
              <a:buNone/>
            </a:pPr>
            <a:r>
              <a:rPr lang="en-US" sz="1300" dirty="0">
                <a:solidFill>
                  <a:schemeClr val="tx1"/>
                </a:solidFill>
              </a:rPr>
              <a:t>the core issues faster than 2 FMA units retire, the scheduler fills with FMAs waiting on their running sums, and the next steps' broadcast loads can't enter early, so their latency shows. That is why 12 sums (v4) and one-stream weight packing (v5) did not help. Fix: issue loads one step ahead (software pipelining), as BLIS does in assembly.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Intermediate layout: NCHW8c with a zero halo</a:t>
            </a:r>
            <a:endParaRPr lang="en-US" sz="3000" dirty="0"/>
          </a:p>
        </p:txBody>
      </p:sp>
      <p:sp>
        <p:nvSpPr>
          <p:cNvPr id="3" name="Text 1"/>
          <p:cNvSpPr txBox="1"/>
          <p:nvPr/>
        </p:nvSpPr>
        <p:spPr>
          <a:xfrm>
            <a:off x="457200" y="1325880"/>
            <a:ext cx="914400" cy="365760"/>
          </a:xfrm>
          <a:prstGeom prst="rect">
            <a:avLst/>
          </a:prstGeom>
          <a:noFill/>
          <a:ln/>
        </p:spPr>
        <p:txBody>
          <a:bodyPr wrap="square" lIns="0" tIns="0" rIns="0" bIns="0" rtlCol="0" anchor="ctr"/>
          <a:lstStyle/>
          <a:p>
            <a:pPr indent="0" marL="0">
              <a:buNone/>
            </a:pPr>
            <a:r>
              <a:rPr lang="en-US" sz="1400" b="1" dirty="0">
                <a:solidFill>
                  <a:schemeClr val="tx1"/>
                </a:solidFill>
              </a:rPr>
              <a:t>NCHW</a:t>
            </a:r>
            <a:endParaRPr lang="en-US" sz="1400" dirty="0"/>
          </a:p>
        </p:txBody>
      </p:sp>
      <p:sp>
        <p:nvSpPr>
          <p:cNvPr id="4" name="Text 2"/>
          <p:cNvSpPr txBox="1"/>
          <p:nvPr/>
        </p:nvSpPr>
        <p:spPr>
          <a:xfrm>
            <a:off x="457200" y="2148840"/>
            <a:ext cx="914400" cy="365760"/>
          </a:xfrm>
          <a:prstGeom prst="rect">
            <a:avLst/>
          </a:prstGeom>
          <a:noFill/>
          <a:ln/>
        </p:spPr>
        <p:txBody>
          <a:bodyPr wrap="square" lIns="0" tIns="0" rIns="0" bIns="0" rtlCol="0" anchor="ctr"/>
          <a:lstStyle/>
          <a:p>
            <a:pPr indent="0" marL="0">
              <a:buNone/>
            </a:pPr>
            <a:r>
              <a:rPr lang="en-US" sz="1400" b="1" dirty="0">
                <a:solidFill>
                  <a:schemeClr val="tx1"/>
                </a:solidFill>
              </a:rPr>
              <a:t>NCHW8c</a:t>
            </a:r>
            <a:endParaRPr lang="en-US" sz="1400" dirty="0"/>
          </a:p>
        </p:txBody>
      </p:sp>
      <p:sp>
        <p:nvSpPr>
          <p:cNvPr id="5" name="Shape 3"/>
          <p:cNvSpPr/>
          <p:nvPr/>
        </p:nvSpPr>
        <p:spPr>
          <a:xfrm>
            <a:off x="1463040" y="1280160"/>
            <a:ext cx="411480" cy="411480"/>
          </a:xfrm>
          <a:prstGeom prst="rect">
            <a:avLst/>
          </a:prstGeom>
          <a:solidFill>
            <a:srgbClr val="E3EEFB"/>
          </a:solidFill>
          <a:ln w="9525">
            <a:solidFill>
              <a:srgbClr val="2A78D6"/>
            </a:solidFill>
            <a:prstDash val="solid"/>
          </a:ln>
        </p:spPr>
      </p:sp>
      <p:sp>
        <p:nvSpPr>
          <p:cNvPr id="6" name="Text 4"/>
          <p:cNvSpPr txBox="1"/>
          <p:nvPr/>
        </p:nvSpPr>
        <p:spPr>
          <a:xfrm>
            <a:off x="1463040"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7" name="Shape 5"/>
          <p:cNvSpPr/>
          <p:nvPr/>
        </p:nvSpPr>
        <p:spPr>
          <a:xfrm>
            <a:off x="1463040" y="2103120"/>
            <a:ext cx="411480" cy="411480"/>
          </a:xfrm>
          <a:prstGeom prst="rect">
            <a:avLst/>
          </a:prstGeom>
          <a:solidFill>
            <a:srgbClr val="E3EEFB"/>
          </a:solidFill>
          <a:ln w="9525">
            <a:solidFill>
              <a:srgbClr val="2A78D6"/>
            </a:solidFill>
            <a:prstDash val="solid"/>
          </a:ln>
        </p:spPr>
      </p:sp>
      <p:sp>
        <p:nvSpPr>
          <p:cNvPr id="8" name="Text 6"/>
          <p:cNvSpPr txBox="1"/>
          <p:nvPr/>
        </p:nvSpPr>
        <p:spPr>
          <a:xfrm>
            <a:off x="1463040"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9" name="Shape 7"/>
          <p:cNvSpPr/>
          <p:nvPr/>
        </p:nvSpPr>
        <p:spPr>
          <a:xfrm>
            <a:off x="1901952" y="1280160"/>
            <a:ext cx="411480" cy="411480"/>
          </a:xfrm>
          <a:prstGeom prst="rect">
            <a:avLst/>
          </a:prstGeom>
          <a:solidFill>
            <a:srgbClr val="E3EEFB"/>
          </a:solidFill>
          <a:ln w="9525">
            <a:solidFill>
              <a:srgbClr val="2A78D6"/>
            </a:solidFill>
            <a:prstDash val="solid"/>
          </a:ln>
        </p:spPr>
      </p:sp>
      <p:sp>
        <p:nvSpPr>
          <p:cNvPr id="10" name="Text 8"/>
          <p:cNvSpPr txBox="1"/>
          <p:nvPr/>
        </p:nvSpPr>
        <p:spPr>
          <a:xfrm>
            <a:off x="1901952"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11" name="Shape 9"/>
          <p:cNvSpPr/>
          <p:nvPr/>
        </p:nvSpPr>
        <p:spPr>
          <a:xfrm>
            <a:off x="1901952" y="2103120"/>
            <a:ext cx="411480" cy="411480"/>
          </a:xfrm>
          <a:prstGeom prst="rect">
            <a:avLst/>
          </a:prstGeom>
          <a:solidFill>
            <a:srgbClr val="E3EEFB"/>
          </a:solidFill>
          <a:ln w="9525">
            <a:solidFill>
              <a:srgbClr val="2A78D6"/>
            </a:solidFill>
            <a:prstDash val="solid"/>
          </a:ln>
        </p:spPr>
      </p:sp>
      <p:sp>
        <p:nvSpPr>
          <p:cNvPr id="12" name="Text 10"/>
          <p:cNvSpPr txBox="1"/>
          <p:nvPr/>
        </p:nvSpPr>
        <p:spPr>
          <a:xfrm>
            <a:off x="1901952"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13" name="Shape 11"/>
          <p:cNvSpPr/>
          <p:nvPr/>
        </p:nvSpPr>
        <p:spPr>
          <a:xfrm>
            <a:off x="2340864" y="1280160"/>
            <a:ext cx="411480" cy="411480"/>
          </a:xfrm>
          <a:prstGeom prst="rect">
            <a:avLst/>
          </a:prstGeom>
          <a:solidFill>
            <a:srgbClr val="E3EEFB"/>
          </a:solidFill>
          <a:ln w="9525">
            <a:solidFill>
              <a:srgbClr val="2A78D6"/>
            </a:solidFill>
            <a:prstDash val="solid"/>
          </a:ln>
        </p:spPr>
      </p:sp>
      <p:sp>
        <p:nvSpPr>
          <p:cNvPr id="14" name="Text 12"/>
          <p:cNvSpPr txBox="1"/>
          <p:nvPr/>
        </p:nvSpPr>
        <p:spPr>
          <a:xfrm>
            <a:off x="2340864"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15" name="Shape 13"/>
          <p:cNvSpPr/>
          <p:nvPr/>
        </p:nvSpPr>
        <p:spPr>
          <a:xfrm>
            <a:off x="2340864" y="2103120"/>
            <a:ext cx="411480" cy="411480"/>
          </a:xfrm>
          <a:prstGeom prst="rect">
            <a:avLst/>
          </a:prstGeom>
          <a:solidFill>
            <a:srgbClr val="E3EEFB"/>
          </a:solidFill>
          <a:ln w="9525">
            <a:solidFill>
              <a:srgbClr val="2A78D6"/>
            </a:solidFill>
            <a:prstDash val="solid"/>
          </a:ln>
        </p:spPr>
      </p:sp>
      <p:sp>
        <p:nvSpPr>
          <p:cNvPr id="16" name="Text 14"/>
          <p:cNvSpPr txBox="1"/>
          <p:nvPr/>
        </p:nvSpPr>
        <p:spPr>
          <a:xfrm>
            <a:off x="2340864"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c2</a:t>
            </a:r>
            <a:endParaRPr lang="en-US" sz="1000" dirty="0"/>
          </a:p>
        </p:txBody>
      </p:sp>
      <p:sp>
        <p:nvSpPr>
          <p:cNvPr id="17" name="Shape 15"/>
          <p:cNvSpPr/>
          <p:nvPr/>
        </p:nvSpPr>
        <p:spPr>
          <a:xfrm>
            <a:off x="2779776" y="1280160"/>
            <a:ext cx="411480" cy="411480"/>
          </a:xfrm>
          <a:prstGeom prst="rect">
            <a:avLst/>
          </a:prstGeom>
          <a:solidFill>
            <a:srgbClr val="E3EEFB"/>
          </a:solidFill>
          <a:ln w="9525">
            <a:solidFill>
              <a:srgbClr val="2A78D6"/>
            </a:solidFill>
            <a:prstDash val="solid"/>
          </a:ln>
        </p:spPr>
      </p:sp>
      <p:sp>
        <p:nvSpPr>
          <p:cNvPr id="18" name="Text 16"/>
          <p:cNvSpPr txBox="1"/>
          <p:nvPr/>
        </p:nvSpPr>
        <p:spPr>
          <a:xfrm>
            <a:off x="2779776"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19" name="Shape 17"/>
          <p:cNvSpPr/>
          <p:nvPr/>
        </p:nvSpPr>
        <p:spPr>
          <a:xfrm>
            <a:off x="2779776" y="2103120"/>
            <a:ext cx="411480" cy="411480"/>
          </a:xfrm>
          <a:prstGeom prst="rect">
            <a:avLst/>
          </a:prstGeom>
          <a:solidFill>
            <a:srgbClr val="E3EEFB"/>
          </a:solidFill>
          <a:ln w="9525">
            <a:solidFill>
              <a:srgbClr val="2A78D6"/>
            </a:solidFill>
            <a:prstDash val="solid"/>
          </a:ln>
        </p:spPr>
      </p:sp>
      <p:sp>
        <p:nvSpPr>
          <p:cNvPr id="20" name="Text 18"/>
          <p:cNvSpPr txBox="1"/>
          <p:nvPr/>
        </p:nvSpPr>
        <p:spPr>
          <a:xfrm>
            <a:off x="2779776"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c3</a:t>
            </a:r>
            <a:endParaRPr lang="en-US" sz="1000" dirty="0"/>
          </a:p>
        </p:txBody>
      </p:sp>
      <p:sp>
        <p:nvSpPr>
          <p:cNvPr id="21" name="Shape 19"/>
          <p:cNvSpPr/>
          <p:nvPr/>
        </p:nvSpPr>
        <p:spPr>
          <a:xfrm>
            <a:off x="3218688" y="1280160"/>
            <a:ext cx="411480" cy="411480"/>
          </a:xfrm>
          <a:prstGeom prst="rect">
            <a:avLst/>
          </a:prstGeom>
          <a:solidFill>
            <a:srgbClr val="E3EEFB"/>
          </a:solidFill>
          <a:ln w="9525">
            <a:solidFill>
              <a:srgbClr val="2A78D6"/>
            </a:solidFill>
            <a:prstDash val="solid"/>
          </a:ln>
        </p:spPr>
      </p:sp>
      <p:sp>
        <p:nvSpPr>
          <p:cNvPr id="22" name="Text 20"/>
          <p:cNvSpPr txBox="1"/>
          <p:nvPr/>
        </p:nvSpPr>
        <p:spPr>
          <a:xfrm>
            <a:off x="3218688"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23" name="Shape 21"/>
          <p:cNvSpPr/>
          <p:nvPr/>
        </p:nvSpPr>
        <p:spPr>
          <a:xfrm>
            <a:off x="3218688" y="2103120"/>
            <a:ext cx="411480" cy="411480"/>
          </a:xfrm>
          <a:prstGeom prst="rect">
            <a:avLst/>
          </a:prstGeom>
          <a:solidFill>
            <a:srgbClr val="E3EEFB"/>
          </a:solidFill>
          <a:ln w="9525">
            <a:solidFill>
              <a:srgbClr val="2A78D6"/>
            </a:solidFill>
            <a:prstDash val="solid"/>
          </a:ln>
        </p:spPr>
      </p:sp>
      <p:sp>
        <p:nvSpPr>
          <p:cNvPr id="24" name="Text 22"/>
          <p:cNvSpPr txBox="1"/>
          <p:nvPr/>
        </p:nvSpPr>
        <p:spPr>
          <a:xfrm>
            <a:off x="3218688"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c4</a:t>
            </a:r>
            <a:endParaRPr lang="en-US" sz="1000" dirty="0"/>
          </a:p>
        </p:txBody>
      </p:sp>
      <p:sp>
        <p:nvSpPr>
          <p:cNvPr id="25" name="Shape 23"/>
          <p:cNvSpPr/>
          <p:nvPr/>
        </p:nvSpPr>
        <p:spPr>
          <a:xfrm>
            <a:off x="3657600" y="1280160"/>
            <a:ext cx="411480" cy="411480"/>
          </a:xfrm>
          <a:prstGeom prst="rect">
            <a:avLst/>
          </a:prstGeom>
          <a:solidFill>
            <a:srgbClr val="E3EEFB"/>
          </a:solidFill>
          <a:ln w="9525">
            <a:solidFill>
              <a:srgbClr val="2A78D6"/>
            </a:solidFill>
            <a:prstDash val="solid"/>
          </a:ln>
        </p:spPr>
      </p:sp>
      <p:sp>
        <p:nvSpPr>
          <p:cNvPr id="26" name="Text 24"/>
          <p:cNvSpPr txBox="1"/>
          <p:nvPr/>
        </p:nvSpPr>
        <p:spPr>
          <a:xfrm>
            <a:off x="3657600"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27" name="Shape 25"/>
          <p:cNvSpPr/>
          <p:nvPr/>
        </p:nvSpPr>
        <p:spPr>
          <a:xfrm>
            <a:off x="3657600" y="2103120"/>
            <a:ext cx="411480" cy="411480"/>
          </a:xfrm>
          <a:prstGeom prst="rect">
            <a:avLst/>
          </a:prstGeom>
          <a:solidFill>
            <a:srgbClr val="E3EEFB"/>
          </a:solidFill>
          <a:ln w="9525">
            <a:solidFill>
              <a:srgbClr val="2A78D6"/>
            </a:solidFill>
            <a:prstDash val="solid"/>
          </a:ln>
        </p:spPr>
      </p:sp>
      <p:sp>
        <p:nvSpPr>
          <p:cNvPr id="28" name="Text 26"/>
          <p:cNvSpPr txBox="1"/>
          <p:nvPr/>
        </p:nvSpPr>
        <p:spPr>
          <a:xfrm>
            <a:off x="3657600"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c5</a:t>
            </a:r>
            <a:endParaRPr lang="en-US" sz="1000" dirty="0"/>
          </a:p>
        </p:txBody>
      </p:sp>
      <p:sp>
        <p:nvSpPr>
          <p:cNvPr id="29" name="Shape 27"/>
          <p:cNvSpPr/>
          <p:nvPr/>
        </p:nvSpPr>
        <p:spPr>
          <a:xfrm>
            <a:off x="4096512" y="1280160"/>
            <a:ext cx="411480" cy="411480"/>
          </a:xfrm>
          <a:prstGeom prst="rect">
            <a:avLst/>
          </a:prstGeom>
          <a:solidFill>
            <a:srgbClr val="E3EEFB"/>
          </a:solidFill>
          <a:ln w="9525">
            <a:solidFill>
              <a:srgbClr val="2A78D6"/>
            </a:solidFill>
            <a:prstDash val="solid"/>
          </a:ln>
        </p:spPr>
      </p:sp>
      <p:sp>
        <p:nvSpPr>
          <p:cNvPr id="30" name="Text 28"/>
          <p:cNvSpPr txBox="1"/>
          <p:nvPr/>
        </p:nvSpPr>
        <p:spPr>
          <a:xfrm>
            <a:off x="4096512"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31" name="Shape 29"/>
          <p:cNvSpPr/>
          <p:nvPr/>
        </p:nvSpPr>
        <p:spPr>
          <a:xfrm>
            <a:off x="4096512" y="2103120"/>
            <a:ext cx="411480" cy="411480"/>
          </a:xfrm>
          <a:prstGeom prst="rect">
            <a:avLst/>
          </a:prstGeom>
          <a:solidFill>
            <a:srgbClr val="E3EEFB"/>
          </a:solidFill>
          <a:ln w="9525">
            <a:solidFill>
              <a:srgbClr val="2A78D6"/>
            </a:solidFill>
            <a:prstDash val="solid"/>
          </a:ln>
        </p:spPr>
      </p:sp>
      <p:sp>
        <p:nvSpPr>
          <p:cNvPr id="32" name="Text 30"/>
          <p:cNvSpPr txBox="1"/>
          <p:nvPr/>
        </p:nvSpPr>
        <p:spPr>
          <a:xfrm>
            <a:off x="4096512"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c6</a:t>
            </a:r>
            <a:endParaRPr lang="en-US" sz="1000" dirty="0"/>
          </a:p>
        </p:txBody>
      </p:sp>
      <p:sp>
        <p:nvSpPr>
          <p:cNvPr id="33" name="Shape 31"/>
          <p:cNvSpPr/>
          <p:nvPr/>
        </p:nvSpPr>
        <p:spPr>
          <a:xfrm>
            <a:off x="4535424" y="1280160"/>
            <a:ext cx="411480" cy="411480"/>
          </a:xfrm>
          <a:prstGeom prst="rect">
            <a:avLst/>
          </a:prstGeom>
          <a:solidFill>
            <a:srgbClr val="E3EEFB"/>
          </a:solidFill>
          <a:ln w="9525">
            <a:solidFill>
              <a:srgbClr val="2A78D6"/>
            </a:solidFill>
            <a:prstDash val="solid"/>
          </a:ln>
        </p:spPr>
      </p:sp>
      <p:sp>
        <p:nvSpPr>
          <p:cNvPr id="34" name="Text 32"/>
          <p:cNvSpPr txBox="1"/>
          <p:nvPr/>
        </p:nvSpPr>
        <p:spPr>
          <a:xfrm>
            <a:off x="4535424"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35" name="Shape 33"/>
          <p:cNvSpPr/>
          <p:nvPr/>
        </p:nvSpPr>
        <p:spPr>
          <a:xfrm>
            <a:off x="4535424" y="2103120"/>
            <a:ext cx="411480" cy="411480"/>
          </a:xfrm>
          <a:prstGeom prst="rect">
            <a:avLst/>
          </a:prstGeom>
          <a:solidFill>
            <a:srgbClr val="E3EEFB"/>
          </a:solidFill>
          <a:ln w="9525">
            <a:solidFill>
              <a:srgbClr val="2A78D6"/>
            </a:solidFill>
            <a:prstDash val="solid"/>
          </a:ln>
        </p:spPr>
      </p:sp>
      <p:sp>
        <p:nvSpPr>
          <p:cNvPr id="36" name="Text 34"/>
          <p:cNvSpPr txBox="1"/>
          <p:nvPr/>
        </p:nvSpPr>
        <p:spPr>
          <a:xfrm>
            <a:off x="4535424"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c7</a:t>
            </a:r>
            <a:endParaRPr lang="en-US" sz="1000" dirty="0"/>
          </a:p>
        </p:txBody>
      </p:sp>
      <p:sp>
        <p:nvSpPr>
          <p:cNvPr id="37" name="Shape 35"/>
          <p:cNvSpPr/>
          <p:nvPr/>
        </p:nvSpPr>
        <p:spPr>
          <a:xfrm>
            <a:off x="4974336" y="1280160"/>
            <a:ext cx="411480" cy="411480"/>
          </a:xfrm>
          <a:prstGeom prst="rect">
            <a:avLst/>
          </a:prstGeom>
          <a:solidFill>
            <a:srgbClr val="F3F4F6"/>
          </a:solidFill>
          <a:ln w="9525">
            <a:solidFill>
              <a:srgbClr val="E5E7EB"/>
            </a:solidFill>
            <a:prstDash val="solid"/>
          </a:ln>
        </p:spPr>
      </p:sp>
      <p:sp>
        <p:nvSpPr>
          <p:cNvPr id="38" name="Text 36"/>
          <p:cNvSpPr txBox="1"/>
          <p:nvPr/>
        </p:nvSpPr>
        <p:spPr>
          <a:xfrm>
            <a:off x="4974336"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39" name="Shape 37"/>
          <p:cNvSpPr/>
          <p:nvPr/>
        </p:nvSpPr>
        <p:spPr>
          <a:xfrm>
            <a:off x="4974336" y="2103120"/>
            <a:ext cx="411480" cy="411480"/>
          </a:xfrm>
          <a:prstGeom prst="rect">
            <a:avLst/>
          </a:prstGeom>
          <a:solidFill>
            <a:srgbClr val="F3F4F6"/>
          </a:solidFill>
          <a:ln w="9525">
            <a:solidFill>
              <a:srgbClr val="E5E7EB"/>
            </a:solidFill>
            <a:prstDash val="solid"/>
          </a:ln>
        </p:spPr>
      </p:sp>
      <p:sp>
        <p:nvSpPr>
          <p:cNvPr id="40" name="Text 38"/>
          <p:cNvSpPr txBox="1"/>
          <p:nvPr/>
        </p:nvSpPr>
        <p:spPr>
          <a:xfrm>
            <a:off x="4974336"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c0</a:t>
            </a:r>
            <a:endParaRPr lang="en-US" sz="1000" dirty="0"/>
          </a:p>
        </p:txBody>
      </p:sp>
      <p:sp>
        <p:nvSpPr>
          <p:cNvPr id="41" name="Shape 39"/>
          <p:cNvSpPr/>
          <p:nvPr/>
        </p:nvSpPr>
        <p:spPr>
          <a:xfrm>
            <a:off x="5413248" y="1280160"/>
            <a:ext cx="411480" cy="411480"/>
          </a:xfrm>
          <a:prstGeom prst="rect">
            <a:avLst/>
          </a:prstGeom>
          <a:solidFill>
            <a:srgbClr val="F3F4F6"/>
          </a:solidFill>
          <a:ln w="9525">
            <a:solidFill>
              <a:srgbClr val="E5E7EB"/>
            </a:solidFill>
            <a:prstDash val="solid"/>
          </a:ln>
        </p:spPr>
      </p:sp>
      <p:sp>
        <p:nvSpPr>
          <p:cNvPr id="42" name="Text 40"/>
          <p:cNvSpPr txBox="1"/>
          <p:nvPr/>
        </p:nvSpPr>
        <p:spPr>
          <a:xfrm>
            <a:off x="5413248"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43" name="Shape 41"/>
          <p:cNvSpPr/>
          <p:nvPr/>
        </p:nvSpPr>
        <p:spPr>
          <a:xfrm>
            <a:off x="5413248" y="2103120"/>
            <a:ext cx="411480" cy="411480"/>
          </a:xfrm>
          <a:prstGeom prst="rect">
            <a:avLst/>
          </a:prstGeom>
          <a:solidFill>
            <a:srgbClr val="F3F4F6"/>
          </a:solidFill>
          <a:ln w="9525">
            <a:solidFill>
              <a:srgbClr val="E5E7EB"/>
            </a:solidFill>
            <a:prstDash val="solid"/>
          </a:ln>
        </p:spPr>
      </p:sp>
      <p:sp>
        <p:nvSpPr>
          <p:cNvPr id="44" name="Text 42"/>
          <p:cNvSpPr txBox="1"/>
          <p:nvPr/>
        </p:nvSpPr>
        <p:spPr>
          <a:xfrm>
            <a:off x="5413248"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45" name="Shape 43"/>
          <p:cNvSpPr/>
          <p:nvPr/>
        </p:nvSpPr>
        <p:spPr>
          <a:xfrm>
            <a:off x="5852160" y="1280160"/>
            <a:ext cx="411480" cy="411480"/>
          </a:xfrm>
          <a:prstGeom prst="rect">
            <a:avLst/>
          </a:prstGeom>
          <a:solidFill>
            <a:srgbClr val="F3F4F6"/>
          </a:solidFill>
          <a:ln w="9525">
            <a:solidFill>
              <a:srgbClr val="E5E7EB"/>
            </a:solidFill>
            <a:prstDash val="solid"/>
          </a:ln>
        </p:spPr>
      </p:sp>
      <p:sp>
        <p:nvSpPr>
          <p:cNvPr id="46" name="Text 44"/>
          <p:cNvSpPr txBox="1"/>
          <p:nvPr/>
        </p:nvSpPr>
        <p:spPr>
          <a:xfrm>
            <a:off x="5852160"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47" name="Shape 45"/>
          <p:cNvSpPr/>
          <p:nvPr/>
        </p:nvSpPr>
        <p:spPr>
          <a:xfrm>
            <a:off x="5852160" y="2103120"/>
            <a:ext cx="411480" cy="411480"/>
          </a:xfrm>
          <a:prstGeom prst="rect">
            <a:avLst/>
          </a:prstGeom>
          <a:solidFill>
            <a:srgbClr val="F3F4F6"/>
          </a:solidFill>
          <a:ln w="9525">
            <a:solidFill>
              <a:srgbClr val="E5E7EB"/>
            </a:solidFill>
            <a:prstDash val="solid"/>
          </a:ln>
        </p:spPr>
      </p:sp>
      <p:sp>
        <p:nvSpPr>
          <p:cNvPr id="48" name="Text 46"/>
          <p:cNvSpPr txBox="1"/>
          <p:nvPr/>
        </p:nvSpPr>
        <p:spPr>
          <a:xfrm>
            <a:off x="5852160"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c2</a:t>
            </a:r>
            <a:endParaRPr lang="en-US" sz="1000" dirty="0"/>
          </a:p>
        </p:txBody>
      </p:sp>
      <p:sp>
        <p:nvSpPr>
          <p:cNvPr id="49" name="Shape 47"/>
          <p:cNvSpPr/>
          <p:nvPr/>
        </p:nvSpPr>
        <p:spPr>
          <a:xfrm>
            <a:off x="6291072" y="1280160"/>
            <a:ext cx="411480" cy="411480"/>
          </a:xfrm>
          <a:prstGeom prst="rect">
            <a:avLst/>
          </a:prstGeom>
          <a:solidFill>
            <a:srgbClr val="F3F4F6"/>
          </a:solidFill>
          <a:ln w="9525">
            <a:solidFill>
              <a:srgbClr val="E5E7EB"/>
            </a:solidFill>
            <a:prstDash val="solid"/>
          </a:ln>
        </p:spPr>
      </p:sp>
      <p:sp>
        <p:nvSpPr>
          <p:cNvPr id="50" name="Text 48"/>
          <p:cNvSpPr txBox="1"/>
          <p:nvPr/>
        </p:nvSpPr>
        <p:spPr>
          <a:xfrm>
            <a:off x="6291072"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51" name="Shape 49"/>
          <p:cNvSpPr/>
          <p:nvPr/>
        </p:nvSpPr>
        <p:spPr>
          <a:xfrm>
            <a:off x="6291072" y="2103120"/>
            <a:ext cx="411480" cy="411480"/>
          </a:xfrm>
          <a:prstGeom prst="rect">
            <a:avLst/>
          </a:prstGeom>
          <a:solidFill>
            <a:srgbClr val="F3F4F6"/>
          </a:solidFill>
          <a:ln w="9525">
            <a:solidFill>
              <a:srgbClr val="E5E7EB"/>
            </a:solidFill>
            <a:prstDash val="solid"/>
          </a:ln>
        </p:spPr>
      </p:sp>
      <p:sp>
        <p:nvSpPr>
          <p:cNvPr id="52" name="Text 50"/>
          <p:cNvSpPr txBox="1"/>
          <p:nvPr/>
        </p:nvSpPr>
        <p:spPr>
          <a:xfrm>
            <a:off x="6291072"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c3</a:t>
            </a:r>
            <a:endParaRPr lang="en-US" sz="1000" dirty="0"/>
          </a:p>
        </p:txBody>
      </p:sp>
      <p:sp>
        <p:nvSpPr>
          <p:cNvPr id="53" name="Shape 51"/>
          <p:cNvSpPr/>
          <p:nvPr/>
        </p:nvSpPr>
        <p:spPr>
          <a:xfrm>
            <a:off x="6729984" y="1280160"/>
            <a:ext cx="411480" cy="411480"/>
          </a:xfrm>
          <a:prstGeom prst="rect">
            <a:avLst/>
          </a:prstGeom>
          <a:solidFill>
            <a:srgbClr val="F3F4F6"/>
          </a:solidFill>
          <a:ln w="9525">
            <a:solidFill>
              <a:srgbClr val="E5E7EB"/>
            </a:solidFill>
            <a:prstDash val="solid"/>
          </a:ln>
        </p:spPr>
      </p:sp>
      <p:sp>
        <p:nvSpPr>
          <p:cNvPr id="54" name="Text 52"/>
          <p:cNvSpPr txBox="1"/>
          <p:nvPr/>
        </p:nvSpPr>
        <p:spPr>
          <a:xfrm>
            <a:off x="6729984"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55" name="Shape 53"/>
          <p:cNvSpPr/>
          <p:nvPr/>
        </p:nvSpPr>
        <p:spPr>
          <a:xfrm>
            <a:off x="6729984" y="2103120"/>
            <a:ext cx="411480" cy="411480"/>
          </a:xfrm>
          <a:prstGeom prst="rect">
            <a:avLst/>
          </a:prstGeom>
          <a:solidFill>
            <a:srgbClr val="F3F4F6"/>
          </a:solidFill>
          <a:ln w="9525">
            <a:solidFill>
              <a:srgbClr val="E5E7EB"/>
            </a:solidFill>
            <a:prstDash val="solid"/>
          </a:ln>
        </p:spPr>
      </p:sp>
      <p:sp>
        <p:nvSpPr>
          <p:cNvPr id="56" name="Text 54"/>
          <p:cNvSpPr txBox="1"/>
          <p:nvPr/>
        </p:nvSpPr>
        <p:spPr>
          <a:xfrm>
            <a:off x="6729984"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c4</a:t>
            </a:r>
            <a:endParaRPr lang="en-US" sz="1000" dirty="0"/>
          </a:p>
        </p:txBody>
      </p:sp>
      <p:sp>
        <p:nvSpPr>
          <p:cNvPr id="57" name="Shape 55"/>
          <p:cNvSpPr/>
          <p:nvPr/>
        </p:nvSpPr>
        <p:spPr>
          <a:xfrm>
            <a:off x="7168896" y="1280160"/>
            <a:ext cx="411480" cy="411480"/>
          </a:xfrm>
          <a:prstGeom prst="rect">
            <a:avLst/>
          </a:prstGeom>
          <a:solidFill>
            <a:srgbClr val="F3F4F6"/>
          </a:solidFill>
          <a:ln w="9525">
            <a:solidFill>
              <a:srgbClr val="E5E7EB"/>
            </a:solidFill>
            <a:prstDash val="solid"/>
          </a:ln>
        </p:spPr>
      </p:sp>
      <p:sp>
        <p:nvSpPr>
          <p:cNvPr id="58" name="Text 56"/>
          <p:cNvSpPr txBox="1"/>
          <p:nvPr/>
        </p:nvSpPr>
        <p:spPr>
          <a:xfrm>
            <a:off x="7168896"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59" name="Shape 57"/>
          <p:cNvSpPr/>
          <p:nvPr/>
        </p:nvSpPr>
        <p:spPr>
          <a:xfrm>
            <a:off x="7168896" y="2103120"/>
            <a:ext cx="411480" cy="411480"/>
          </a:xfrm>
          <a:prstGeom prst="rect">
            <a:avLst/>
          </a:prstGeom>
          <a:solidFill>
            <a:srgbClr val="F3F4F6"/>
          </a:solidFill>
          <a:ln w="9525">
            <a:solidFill>
              <a:srgbClr val="E5E7EB"/>
            </a:solidFill>
            <a:prstDash val="solid"/>
          </a:ln>
        </p:spPr>
      </p:sp>
      <p:sp>
        <p:nvSpPr>
          <p:cNvPr id="60" name="Text 58"/>
          <p:cNvSpPr txBox="1"/>
          <p:nvPr/>
        </p:nvSpPr>
        <p:spPr>
          <a:xfrm>
            <a:off x="7168896"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c5</a:t>
            </a:r>
            <a:endParaRPr lang="en-US" sz="1000" dirty="0"/>
          </a:p>
        </p:txBody>
      </p:sp>
      <p:sp>
        <p:nvSpPr>
          <p:cNvPr id="61" name="Shape 59"/>
          <p:cNvSpPr/>
          <p:nvPr/>
        </p:nvSpPr>
        <p:spPr>
          <a:xfrm>
            <a:off x="7607808" y="1280160"/>
            <a:ext cx="411480" cy="411480"/>
          </a:xfrm>
          <a:prstGeom prst="rect">
            <a:avLst/>
          </a:prstGeom>
          <a:solidFill>
            <a:srgbClr val="F3F4F6"/>
          </a:solidFill>
          <a:ln w="9525">
            <a:solidFill>
              <a:srgbClr val="E5E7EB"/>
            </a:solidFill>
            <a:prstDash val="solid"/>
          </a:ln>
        </p:spPr>
      </p:sp>
      <p:sp>
        <p:nvSpPr>
          <p:cNvPr id="62" name="Text 60"/>
          <p:cNvSpPr txBox="1"/>
          <p:nvPr/>
        </p:nvSpPr>
        <p:spPr>
          <a:xfrm>
            <a:off x="7607808"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63" name="Shape 61"/>
          <p:cNvSpPr/>
          <p:nvPr/>
        </p:nvSpPr>
        <p:spPr>
          <a:xfrm>
            <a:off x="7607808" y="2103120"/>
            <a:ext cx="411480" cy="411480"/>
          </a:xfrm>
          <a:prstGeom prst="rect">
            <a:avLst/>
          </a:prstGeom>
          <a:solidFill>
            <a:srgbClr val="F3F4F6"/>
          </a:solidFill>
          <a:ln w="9525">
            <a:solidFill>
              <a:srgbClr val="E5E7EB"/>
            </a:solidFill>
            <a:prstDash val="solid"/>
          </a:ln>
        </p:spPr>
      </p:sp>
      <p:sp>
        <p:nvSpPr>
          <p:cNvPr id="64" name="Text 62"/>
          <p:cNvSpPr txBox="1"/>
          <p:nvPr/>
        </p:nvSpPr>
        <p:spPr>
          <a:xfrm>
            <a:off x="7607808"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c6</a:t>
            </a:r>
            <a:endParaRPr lang="en-US" sz="1000" dirty="0"/>
          </a:p>
        </p:txBody>
      </p:sp>
      <p:sp>
        <p:nvSpPr>
          <p:cNvPr id="65" name="Shape 63"/>
          <p:cNvSpPr/>
          <p:nvPr/>
        </p:nvSpPr>
        <p:spPr>
          <a:xfrm>
            <a:off x="8046720" y="1280160"/>
            <a:ext cx="411480" cy="411480"/>
          </a:xfrm>
          <a:prstGeom prst="rect">
            <a:avLst/>
          </a:prstGeom>
          <a:solidFill>
            <a:srgbClr val="F3F4F6"/>
          </a:solidFill>
          <a:ln w="9525">
            <a:solidFill>
              <a:srgbClr val="E5E7EB"/>
            </a:solidFill>
            <a:prstDash val="solid"/>
          </a:ln>
        </p:spPr>
      </p:sp>
      <p:sp>
        <p:nvSpPr>
          <p:cNvPr id="66" name="Text 64"/>
          <p:cNvSpPr txBox="1"/>
          <p:nvPr/>
        </p:nvSpPr>
        <p:spPr>
          <a:xfrm>
            <a:off x="8046720" y="128016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c1</a:t>
            </a:r>
            <a:endParaRPr lang="en-US" sz="1000" dirty="0"/>
          </a:p>
        </p:txBody>
      </p:sp>
      <p:sp>
        <p:nvSpPr>
          <p:cNvPr id="67" name="Shape 65"/>
          <p:cNvSpPr/>
          <p:nvPr/>
        </p:nvSpPr>
        <p:spPr>
          <a:xfrm>
            <a:off x="8046720" y="2103120"/>
            <a:ext cx="411480" cy="411480"/>
          </a:xfrm>
          <a:prstGeom prst="rect">
            <a:avLst/>
          </a:prstGeom>
          <a:solidFill>
            <a:srgbClr val="F3F4F6"/>
          </a:solidFill>
          <a:ln w="9525">
            <a:solidFill>
              <a:srgbClr val="E5E7EB"/>
            </a:solidFill>
            <a:prstDash val="solid"/>
          </a:ln>
        </p:spPr>
      </p:sp>
      <p:sp>
        <p:nvSpPr>
          <p:cNvPr id="68" name="Text 66"/>
          <p:cNvSpPr txBox="1"/>
          <p:nvPr/>
        </p:nvSpPr>
        <p:spPr>
          <a:xfrm>
            <a:off x="8046720" y="2103120"/>
            <a:ext cx="411480" cy="4114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c7</a:t>
            </a:r>
            <a:endParaRPr lang="en-US" sz="1000" dirty="0"/>
          </a:p>
        </p:txBody>
      </p:sp>
      <p:sp>
        <p:nvSpPr>
          <p:cNvPr id="69" name="Text 67"/>
          <p:cNvSpPr txBox="1"/>
          <p:nvPr/>
        </p:nvSpPr>
        <p:spPr>
          <a:xfrm>
            <a:off x="1463040" y="1737360"/>
            <a:ext cx="7223760" cy="274320"/>
          </a:xfrm>
          <a:prstGeom prst="rect">
            <a:avLst/>
          </a:prstGeom>
          <a:noFill/>
          <a:ln/>
        </p:spPr>
        <p:txBody>
          <a:bodyPr wrap="square" lIns="0" tIns="0" rIns="0" bIns="0" rtlCol="0" anchor="ctr"/>
          <a:lstStyle/>
          <a:p>
            <a:pPr indent="0" marL="0">
              <a:buNone/>
            </a:pPr>
            <a:r>
              <a:rPr lang="en-US" sz="1100" dirty="0">
                <a:solidFill>
                  <a:schemeClr val="tx2"/>
                </a:solidFill>
              </a:rPr>
              <a:t>channel 0 of every pixel, then channel 1 …</a:t>
            </a:r>
            <a:endParaRPr lang="en-US" sz="1100" dirty="0"/>
          </a:p>
        </p:txBody>
      </p:sp>
      <p:sp>
        <p:nvSpPr>
          <p:cNvPr id="70" name="Text 68"/>
          <p:cNvSpPr txBox="1"/>
          <p:nvPr/>
        </p:nvSpPr>
        <p:spPr>
          <a:xfrm>
            <a:off x="1463040" y="2560320"/>
            <a:ext cx="7223760" cy="274320"/>
          </a:xfrm>
          <a:prstGeom prst="rect">
            <a:avLst/>
          </a:prstGeom>
          <a:noFill/>
          <a:ln/>
        </p:spPr>
        <p:txBody>
          <a:bodyPr wrap="square" lIns="0" tIns="0" rIns="0" bIns="0" rtlCol="0" anchor="ctr"/>
          <a:lstStyle/>
          <a:p>
            <a:pPr indent="0" marL="0">
              <a:buNone/>
            </a:pPr>
            <a:r>
              <a:rPr lang="en-US" sz="1100" dirty="0">
                <a:solidFill>
                  <a:schemeClr val="tx2"/>
                </a:solidFill>
              </a:rPr>
              <a:t>pixel 1: channels 0–7 = one register, one aligned load</a:t>
            </a:r>
            <a:endParaRPr lang="en-US" sz="1100" dirty="0"/>
          </a:p>
        </p:txBody>
      </p:sp>
      <p:sp>
        <p:nvSpPr>
          <p:cNvPr id="71" name="Shape 69"/>
          <p:cNvSpPr/>
          <p:nvPr/>
        </p:nvSpPr>
        <p:spPr>
          <a:xfrm>
            <a:off x="457200" y="3063240"/>
            <a:ext cx="2596896" cy="1463040"/>
          </a:xfrm>
          <a:prstGeom prst="roundRect">
            <a:avLst>
              <a:gd name="adj" fmla="val 5000"/>
            </a:avLst>
          </a:prstGeom>
          <a:solidFill>
            <a:srgbClr val="F3F4F6"/>
          </a:solidFill>
          <a:ln w="12700">
            <a:solidFill>
              <a:srgbClr val="F3F4F6"/>
            </a:solidFill>
            <a:prstDash val="solid"/>
          </a:ln>
        </p:spPr>
      </p:sp>
      <p:sp>
        <p:nvSpPr>
          <p:cNvPr id="72" name="Text 70"/>
          <p:cNvSpPr txBox="1"/>
          <p:nvPr/>
        </p:nvSpPr>
        <p:spPr>
          <a:xfrm>
            <a:off x="640080" y="3154680"/>
            <a:ext cx="2286000" cy="320040"/>
          </a:xfrm>
          <a:prstGeom prst="rect">
            <a:avLst/>
          </a:prstGeom>
          <a:noFill/>
          <a:ln/>
        </p:spPr>
        <p:txBody>
          <a:bodyPr wrap="square" lIns="0" tIns="0" rIns="0" bIns="0" rtlCol="0" anchor="ctr"/>
          <a:lstStyle/>
          <a:p>
            <a:pPr indent="0" marL="0">
              <a:buNone/>
            </a:pPr>
            <a:r>
              <a:rPr lang="en-US" sz="1500" b="1" dirty="0">
                <a:solidFill>
                  <a:schemeClr val="accent1"/>
                </a:solidFill>
              </a:rPr>
              <a:t>Halo</a:t>
            </a:r>
            <a:endParaRPr lang="en-US" sz="1500" dirty="0"/>
          </a:p>
        </p:txBody>
      </p:sp>
      <p:sp>
        <p:nvSpPr>
          <p:cNvPr id="73" name="Text 71"/>
          <p:cNvSpPr txBox="1"/>
          <p:nvPr/>
        </p:nvSpPr>
        <p:spPr>
          <a:xfrm>
            <a:off x="640080" y="3474720"/>
            <a:ext cx="2286000" cy="1005840"/>
          </a:xfrm>
          <a:prstGeom prst="rect">
            <a:avLst/>
          </a:prstGeom>
          <a:noFill/>
          <a:ln/>
        </p:spPr>
        <p:txBody>
          <a:bodyPr wrap="square" lIns="0" tIns="0" rIns="0" bIns="0" rtlCol="0" anchor="t"/>
          <a:lstStyle/>
          <a:p>
            <a:pPr indent="0" marL="0">
              <a:buNone/>
            </a:pPr>
            <a:r>
              <a:rPr lang="en-US" sz="1200" dirty="0">
                <a:solidFill>
                  <a:schemeClr val="tx1"/>
                </a:solidFill>
              </a:rPr>
              <a:t>1-pixel ring of zeros stored around every plane: no edge tests, every call identical</a:t>
            </a:r>
            <a:endParaRPr lang="en-US" sz="1200" dirty="0"/>
          </a:p>
        </p:txBody>
      </p:sp>
      <p:sp>
        <p:nvSpPr>
          <p:cNvPr id="74" name="Shape 72"/>
          <p:cNvSpPr/>
          <p:nvPr/>
        </p:nvSpPr>
        <p:spPr>
          <a:xfrm>
            <a:off x="3273552" y="3063240"/>
            <a:ext cx="2596896" cy="1463040"/>
          </a:xfrm>
          <a:prstGeom prst="roundRect">
            <a:avLst>
              <a:gd name="adj" fmla="val 5000"/>
            </a:avLst>
          </a:prstGeom>
          <a:solidFill>
            <a:srgbClr val="F3F4F6"/>
          </a:solidFill>
          <a:ln w="12700">
            <a:solidFill>
              <a:srgbClr val="F3F4F6"/>
            </a:solidFill>
            <a:prstDash val="solid"/>
          </a:ln>
        </p:spPr>
      </p:sp>
      <p:sp>
        <p:nvSpPr>
          <p:cNvPr id="75" name="Text 73"/>
          <p:cNvSpPr txBox="1"/>
          <p:nvPr/>
        </p:nvSpPr>
        <p:spPr>
          <a:xfrm>
            <a:off x="3456432" y="3154680"/>
            <a:ext cx="2286000" cy="320040"/>
          </a:xfrm>
          <a:prstGeom prst="rect">
            <a:avLst/>
          </a:prstGeom>
          <a:noFill/>
          <a:ln/>
        </p:spPr>
        <p:txBody>
          <a:bodyPr wrap="square" lIns="0" tIns="0" rIns="0" bIns="0" rtlCol="0" anchor="ctr"/>
          <a:lstStyle/>
          <a:p>
            <a:pPr indent="0" marL="0">
              <a:buNone/>
            </a:pPr>
            <a:r>
              <a:rPr lang="en-US" sz="1500" b="1" dirty="0">
                <a:solidFill>
                  <a:schemeClr val="accent1"/>
                </a:solidFill>
              </a:rPr>
              <a:t>Weights</a:t>
            </a:r>
            <a:endParaRPr lang="en-US" sz="1500" dirty="0"/>
          </a:p>
        </p:txBody>
      </p:sp>
      <p:sp>
        <p:nvSpPr>
          <p:cNvPr id="76" name="Text 74"/>
          <p:cNvSpPr txBox="1"/>
          <p:nvPr/>
        </p:nvSpPr>
        <p:spPr>
          <a:xfrm>
            <a:off x="3456432" y="3474720"/>
            <a:ext cx="2286000" cy="1005840"/>
          </a:xfrm>
          <a:prstGeom prst="rect">
            <a:avLst/>
          </a:prstGeom>
          <a:noFill/>
          <a:ln/>
        </p:spPr>
        <p:txBody>
          <a:bodyPr wrap="square" lIns="0" tIns="0" rIns="0" bIns="0" rtlCol="0" anchor="t"/>
          <a:lstStyle/>
          <a:p>
            <a:pPr indent="0" marL="0">
              <a:buNone/>
            </a:pPr>
            <a:r>
              <a:rPr lang="en-US" sz="1200" dirty="0">
                <a:solidFill>
                  <a:schemeClr val="tx1"/>
                </a:solidFill>
              </a:rPr>
              <a:t>packed once, offline: [K/8][C/8][3][3][8 in][8 out]; v5 interleaves 2 blocks</a:t>
            </a:r>
            <a:endParaRPr lang="en-US" sz="1200" dirty="0"/>
          </a:p>
        </p:txBody>
      </p:sp>
      <p:sp>
        <p:nvSpPr>
          <p:cNvPr id="77" name="Shape 75"/>
          <p:cNvSpPr/>
          <p:nvPr/>
        </p:nvSpPr>
        <p:spPr>
          <a:xfrm>
            <a:off x="6089904" y="3063240"/>
            <a:ext cx="2596896" cy="1463040"/>
          </a:xfrm>
          <a:prstGeom prst="roundRect">
            <a:avLst>
              <a:gd name="adj" fmla="val 5000"/>
            </a:avLst>
          </a:prstGeom>
          <a:solidFill>
            <a:srgbClr val="F3F4F6"/>
          </a:solidFill>
          <a:ln w="12700">
            <a:solidFill>
              <a:srgbClr val="F3F4F6"/>
            </a:solidFill>
            <a:prstDash val="solid"/>
          </a:ln>
        </p:spPr>
      </p:sp>
      <p:sp>
        <p:nvSpPr>
          <p:cNvPr id="78" name="Text 76"/>
          <p:cNvSpPr txBox="1"/>
          <p:nvPr/>
        </p:nvSpPr>
        <p:spPr>
          <a:xfrm>
            <a:off x="6272784" y="3154680"/>
            <a:ext cx="2286000" cy="320040"/>
          </a:xfrm>
          <a:prstGeom prst="rect">
            <a:avLst/>
          </a:prstGeom>
          <a:noFill/>
          <a:ln/>
        </p:spPr>
        <p:txBody>
          <a:bodyPr wrap="square" lIns="0" tIns="0" rIns="0" bIns="0" rtlCol="0" anchor="ctr"/>
          <a:lstStyle/>
          <a:p>
            <a:pPr indent="0" marL="0">
              <a:buNone/>
            </a:pPr>
            <a:r>
              <a:rPr lang="en-US" sz="1500" b="1" dirty="0">
                <a:solidFill>
                  <a:schemeClr val="accent1"/>
                </a:solidFill>
              </a:rPr>
              <a:t>Shared</a:t>
            </a:r>
            <a:endParaRPr lang="en-US" sz="1500" dirty="0"/>
          </a:p>
        </p:txBody>
      </p:sp>
      <p:sp>
        <p:nvSpPr>
          <p:cNvPr id="79" name="Text 77"/>
          <p:cNvSpPr txBox="1"/>
          <p:nvPr/>
        </p:nvSpPr>
        <p:spPr>
          <a:xfrm>
            <a:off x="6272784" y="3474720"/>
            <a:ext cx="2286000" cy="1005840"/>
          </a:xfrm>
          <a:prstGeom prst="rect">
            <a:avLst/>
          </a:prstGeom>
          <a:noFill/>
          <a:ln/>
        </p:spPr>
        <p:txBody>
          <a:bodyPr wrap="square" lIns="0" tIns="0" rIns="0" bIns="0" rtlCol="0" anchor="t"/>
          <a:lstStyle/>
          <a:p>
            <a:pPr indent="0" marL="0">
              <a:buNone/>
            </a:pPr>
            <a:r>
              <a:rPr lang="en-US" sz="1200" dirty="0">
                <a:solidFill>
                  <a:schemeClr val="tx1"/>
                </a:solidFill>
              </a:rPr>
              <a:t>all three kernels use it, so layers chain with no conversion; C2f Split/Concat become free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Against the baselines (1 core, real cycles)</a:t>
            </a:r>
            <a:endParaRPr lang="en-US" sz="3000" dirty="0"/>
          </a:p>
        </p:txBody>
      </p:sp>
      <p:graphicFrame>
        <p:nvGraphicFramePr>
          <p:cNvPr id="3" name="Chart 0" descr=""/>
          <p:cNvGraphicFramePr/>
          <p:nvPr/>
        </p:nvGraphicFramePr>
        <p:xfrm>
          <a:off x="365760" y="105156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0" y="1188720"/>
            <a:ext cx="2286000" cy="685800"/>
          </a:xfrm>
          <a:prstGeom prst="rect">
            <a:avLst/>
          </a:prstGeom>
          <a:noFill/>
          <a:ln/>
        </p:spPr>
        <p:txBody>
          <a:bodyPr wrap="square" lIns="0" tIns="0" rIns="0" bIns="0" rtlCol="0" anchor="ctr"/>
          <a:lstStyle/>
          <a:p>
            <a:pPr indent="0" marL="0">
              <a:buNone/>
            </a:pPr>
            <a:r>
              <a:rPr lang="en-US" sz="4000" b="1" dirty="0">
                <a:solidFill>
                  <a:schemeClr val="accent1"/>
                </a:solidFill>
              </a:rPr>
              <a:t>77%</a:t>
            </a:r>
            <a:endParaRPr lang="en-US" sz="4000" dirty="0"/>
          </a:p>
        </p:txBody>
      </p:sp>
      <p:sp>
        <p:nvSpPr>
          <p:cNvPr id="5" name="Text 2"/>
          <p:cNvSpPr txBox="1"/>
          <p:nvPr/>
        </p:nvSpPr>
        <p:spPr>
          <a:xfrm>
            <a:off x="6400800" y="1901952"/>
            <a:ext cx="2286000" cy="548640"/>
          </a:xfrm>
          <a:prstGeom prst="rect">
            <a:avLst/>
          </a:prstGeom>
          <a:noFill/>
          <a:ln/>
        </p:spPr>
        <p:txBody>
          <a:bodyPr wrap="square" lIns="0" tIns="0" rIns="0" bIns="0" rtlCol="0" anchor="t"/>
          <a:lstStyle/>
          <a:p>
            <a:pPr indent="0" marL="0">
              <a:buNone/>
            </a:pPr>
            <a:r>
              <a:rPr lang="en-US" sz="1300" dirty="0">
                <a:solidFill>
                  <a:schemeClr val="tx2"/>
                </a:solidFill>
              </a:rPr>
              <a:t>ours: 24.7 FLOPs/cycle, 69.5 ms for all 32 layers</a:t>
            </a:r>
            <a:endParaRPr lang="en-US" sz="1300" dirty="0"/>
          </a:p>
        </p:txBody>
      </p:sp>
      <p:sp>
        <p:nvSpPr>
          <p:cNvPr id="6" name="Text 3"/>
          <p:cNvSpPr txBox="1"/>
          <p:nvPr/>
        </p:nvSpPr>
        <p:spPr>
          <a:xfrm>
            <a:off x="6400800" y="2286000"/>
            <a:ext cx="2286000" cy="685800"/>
          </a:xfrm>
          <a:prstGeom prst="rect">
            <a:avLst/>
          </a:prstGeom>
          <a:noFill/>
          <a:ln/>
        </p:spPr>
        <p:txBody>
          <a:bodyPr wrap="square" lIns="0" tIns="0" rIns="0" bIns="0" rtlCol="0" anchor="ctr"/>
          <a:lstStyle/>
          <a:p>
            <a:pPr indent="0" marL="0">
              <a:buNone/>
            </a:pPr>
            <a:r>
              <a:rPr lang="en-US" sz="4000" b="1" dirty="0">
                <a:solidFill>
                  <a:schemeClr val="accent2"/>
                </a:solidFill>
              </a:rPr>
              <a:t>62%</a:t>
            </a:r>
            <a:endParaRPr lang="en-US" sz="4000" dirty="0"/>
          </a:p>
        </p:txBody>
      </p:sp>
      <p:sp>
        <p:nvSpPr>
          <p:cNvPr id="7" name="Text 4"/>
          <p:cNvSpPr txBox="1"/>
          <p:nvPr/>
        </p:nvSpPr>
        <p:spPr>
          <a:xfrm>
            <a:off x="6400800" y="2999232"/>
            <a:ext cx="2286000" cy="548640"/>
          </a:xfrm>
          <a:prstGeom prst="rect">
            <a:avLst/>
          </a:prstGeom>
          <a:noFill/>
          <a:ln/>
        </p:spPr>
        <p:txBody>
          <a:bodyPr wrap="square" lIns="0" tIns="0" rIns="0" bIns="0" rtlCol="0" anchor="t"/>
          <a:lstStyle/>
          <a:p>
            <a:pPr indent="0" marL="0">
              <a:buNone/>
            </a:pPr>
            <a:r>
              <a:rPr lang="en-US" sz="1300" dirty="0">
                <a:solidFill>
                  <a:schemeClr val="tx2"/>
                </a:solidFill>
              </a:rPr>
              <a:t>OpenCV DNN: 19.8, 86.4 ms</a:t>
            </a:r>
            <a:endParaRPr lang="en-US" sz="1300" dirty="0"/>
          </a:p>
        </p:txBody>
      </p:sp>
      <p:sp>
        <p:nvSpPr>
          <p:cNvPr id="8" name="Text 5"/>
          <p:cNvSpPr txBox="1"/>
          <p:nvPr/>
        </p:nvSpPr>
        <p:spPr>
          <a:xfrm>
            <a:off x="6400800" y="3383280"/>
            <a:ext cx="2286000" cy="685800"/>
          </a:xfrm>
          <a:prstGeom prst="rect">
            <a:avLst/>
          </a:prstGeom>
          <a:noFill/>
          <a:ln/>
        </p:spPr>
        <p:txBody>
          <a:bodyPr wrap="square" lIns="0" tIns="0" rIns="0" bIns="0" rtlCol="0" anchor="ctr"/>
          <a:lstStyle/>
          <a:p>
            <a:pPr indent="0" marL="0">
              <a:buNone/>
            </a:pPr>
            <a:r>
              <a:rPr lang="en-US" sz="4000" b="1" dirty="0">
                <a:solidFill>
                  <a:schemeClr val="accent3"/>
                </a:solidFill>
              </a:rPr>
              <a:t>86%</a:t>
            </a:r>
            <a:endParaRPr lang="en-US" sz="4000" dirty="0"/>
          </a:p>
        </p:txBody>
      </p:sp>
      <p:sp>
        <p:nvSpPr>
          <p:cNvPr id="9" name="Text 6"/>
          <p:cNvSpPr txBox="1"/>
          <p:nvPr/>
        </p:nvSpPr>
        <p:spPr>
          <a:xfrm>
            <a:off x="6400800" y="4096512"/>
            <a:ext cx="2286000" cy="548640"/>
          </a:xfrm>
          <a:prstGeom prst="rect">
            <a:avLst/>
          </a:prstGeom>
          <a:noFill/>
          <a:ln/>
        </p:spPr>
        <p:txBody>
          <a:bodyPr wrap="square" lIns="0" tIns="0" rIns="0" bIns="0" rtlCol="0" anchor="t"/>
          <a:lstStyle/>
          <a:p>
            <a:pPr indent="0" marL="0">
              <a:buNone/>
            </a:pPr>
            <a:r>
              <a:rPr lang="en-US" sz="1300" dirty="0">
                <a:solidFill>
                  <a:schemeClr val="tx2"/>
                </a:solidFill>
              </a:rPr>
              <a:t>ONNX Runtime: 27.4, 62.6 ms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indent="0" marL="0">
              <a:buNone/>
            </a:pPr>
            <a:r>
              <a:rPr lang="en-US" sz="4000" b="1" dirty="0">
                <a:solidFill>
                  <a:schemeClr val="bg1"/>
                </a:solidFill>
              </a:rPr>
              <a:t>20 cores: 13.5× faster, 1,127 GFLOP/s</a:t>
            </a:r>
            <a:endParaRPr lang="en-US" sz="4000" dirty="0"/>
          </a:p>
        </p:txBody>
      </p:sp>
      <p:sp>
        <p:nvSpPr>
          <p:cNvPr id="3" name="Text 0"/>
          <p:cNvSpPr/>
          <p:nvPr>
            <p:ph idx="101" type="body" hasCustomPrompt="1"/>
          </p:nvPr>
        </p:nvSpPr>
        <p:spPr>
          <a:xfrm>
            <a:off x="548640" y="2651760"/>
            <a:ext cx="8046720" cy="1280160"/>
          </a:xfrm>
          <a:prstGeom prst="rect">
            <a:avLst/>
          </a:prstGeom>
          <a:noFill/>
          <a:ln/>
        </p:spPr>
        <p:txBody>
          <a:bodyPr wrap="square" lIns="0" tIns="0" rIns="0" bIns="0" rtlCol="0" anchor="t"/>
          <a:lstStyle/>
          <a:p>
            <a:pPr indent="0" marL="0">
              <a:buNone/>
            </a:pPr>
            <a:r>
              <a:rPr lang="en-US" sz="1800" dirty="0">
                <a:solidFill>
                  <a:schemeClr val="accent6"/>
                </a:solidFill>
              </a:rPr>
              <a:t>v3 = v2 + OpenMP, 73% of the 20-core peak at base clock (most layers 75–83%).  Next: software-pipelined microkernel for the last ~20%, cache blocking for the C=256 layers, NUMA-aware threading, batch 16.</a:t>
            </a:r>
            <a:endParaRPr lang="en-US" sz="1800" dirty="0"/>
          </a:p>
        </p:txBody>
      </p:sp>
    </p:spTree>
  </p:cSld>
  <p:clrMapOvr>
    <a:masterClrMapping/>
  </p:clrMapOvr>
</p:sld>
</file>

<file path=ppt/theme/theme1.xml><?xml version="1.0" encoding="utf-8"?>
<a:theme xmlns:a="http://schemas.openxmlformats.org/drawingml/2006/main" name="FastYolo">
  <a:themeElements>
    <a:clrScheme name="FastYolo">
      <a:dk1>
        <a:srgbClr val="1F2329"/>
      </a:dk1>
      <a:lt1>
        <a:srgbClr val="FFFFFF"/>
      </a:lt1>
      <a:dk2>
        <a:srgbClr val="4B5563"/>
      </a:dk2>
      <a:lt2>
        <a:srgbClr val="F3F4F6"/>
      </a:lt2>
      <a:accent1>
        <a:srgbClr val="2A78D6"/>
      </a:accent1>
      <a:accent2>
        <a:srgbClr val="EB6834"/>
      </a:accent2>
      <a:accent3>
        <a:srgbClr val="1BAF7A"/>
      </a:accent3>
      <a:accent4>
        <a:srgbClr val="9AA1AB"/>
      </a:accent4>
      <a:accent5>
        <a:srgbClr val="1E2761"/>
      </a:accent5>
      <a:accent6>
        <a:srgbClr val="CADCFC"/>
      </a:accent6>
      <a:hlink>
        <a:srgbClr val="2A78D6"/>
      </a:hlink>
      <a:folHlink>
        <a:srgbClr val="1E2761"/>
      </a:folHlink>
    </a:clrScheme>
    <a:fontScheme name="FastYol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3x3 stride-1 convolution kernel</dc:title>
  <dc:subject>PptxGenJS Presentation</dc:subject>
  <dc:creator>Om Tank</dc:creator>
  <cp:lastModifiedBy>Om Tank</cp:lastModifiedBy>
  <cp:revision>1</cp:revision>
  <dcterms:created xsi:type="dcterms:W3CDTF">2026-10-21T02:05:01Z</dcterms:created>
  <dcterms:modified xsi:type="dcterms:W3CDTF">2026-10-21T02:05:01Z</dcterms:modified>
</cp:coreProperties>
</file>