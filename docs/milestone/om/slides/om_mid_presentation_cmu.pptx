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7"/>
    <p:sldId id="257" r:id="rId6"/>
    <p:sldId id="258" r:id="rId20"/>
    <p:sldId id="259" r:id="rId21"/>
    <p:sldId id="260" r:id="rId22"/>
    <p:sldId id="261" r:id="rId23"/>
    <p:sldId id="262" r:id="rId24"/>
    <p:sldId id="263" r:id="rId25"/>
  </p:sldIdLst>
  <p:sldSz cy="5143500" cx="9144000"/>
  <p:notesSz cx="6858000" cy="9144000"/>
  <p:embeddedFontLst>
    <p:embeddedFont>
      <p:font typeface="Helvetica Neue Light"/>
      <p:regular r:id="rId8"/>
      <p:bold r:id="rId9"/>
      <p:italic r:id="rId10"/>
      <p:boldItalic r:id="rId11"/>
    </p:embeddedFont>
    <p:embeddedFont>
      <p:font typeface="Open Sans Light"/>
      <p:regular r:id="rId12"/>
      <p:bold r:id="rId13"/>
      <p:italic r:id="rId14"/>
      <p:boldItalic r:id="rId15"/>
    </p:embeddedFont>
    <p:embeddedFont>
      <p:font typeface="Open Sans"/>
      <p:regular r:id="rId16"/>
      <p:bold r:id="rId17"/>
      <p:italic r:id="rId18"/>
      <p:boldItalic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font" Target="fonts/HelveticaNeueLight-regular.fntdata"/><Relationship Id="rId9" Type="http://schemas.openxmlformats.org/officeDocument/2006/relationships/font" Target="fonts/HelveticaNeueLight-bold.fntdata"/><Relationship Id="rId10" Type="http://schemas.openxmlformats.org/officeDocument/2006/relationships/font" Target="fonts/HelveticaNeueLight-italic.fntdata"/><Relationship Id="rId11" Type="http://schemas.openxmlformats.org/officeDocument/2006/relationships/font" Target="fonts/HelveticaNeueLight-boldItalic.fntdata"/><Relationship Id="rId12" Type="http://schemas.openxmlformats.org/officeDocument/2006/relationships/font" Target="fonts/OpenSansLight-regular.fntdata"/><Relationship Id="rId13" Type="http://schemas.openxmlformats.org/officeDocument/2006/relationships/font" Target="fonts/OpenSansLight-bold.fntdata"/><Relationship Id="rId14" Type="http://schemas.openxmlformats.org/officeDocument/2006/relationships/font" Target="fonts/OpenSansLight-italic.fntdata"/><Relationship Id="rId15" Type="http://schemas.openxmlformats.org/officeDocument/2006/relationships/font" Target="fonts/OpenSansLight-boldItalic.fntdata"/><Relationship Id="rId16" Type="http://schemas.openxmlformats.org/officeDocument/2006/relationships/font" Target="fonts/OpenSans-regular.fntdata"/><Relationship Id="rId17" Type="http://schemas.openxmlformats.org/officeDocument/2006/relationships/font" Target="fonts/OpenSans-bold.fntdata"/><Relationship Id="rId18" Type="http://schemas.openxmlformats.org/officeDocument/2006/relationships/font" Target="fonts/OpenSans-italic.fntdata"/><Relationship Id="rId19" Type="http://schemas.openxmlformats.org/officeDocument/2006/relationships/font" Target="fonts/OpenSans-boldItalic.fntdata"/><Relationship Id="rId20" Type="http://schemas.openxmlformats.org/officeDocument/2006/relationships/slide" Target="slides/slide3.xml"/><Relationship Id="rId21" Type="http://schemas.openxmlformats.org/officeDocument/2006/relationships/slide" Target="slides/slide4.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630"/>
                </a:solidFill>
                <a:latin typeface="Open Sans"/>
              </a:rPr>
              <a:t>Microkernel alone vs accumulators (C = 64, SiLU off)</a:t>
            </a:r>
          </a:p>
        </c:rich>
      </c:tx>
      <c:layout/>
      <c:overlay val="0"/>
    </c:title>
    <c:autoTitleDeleted val="0"/>
    <c:plotArea>
      <c:barChart>
        <c:barDir val="col"/>
        <c:grouping val="clustered"/>
        <c:ser>
          <c:idx val="0"/>
          <c:order val="0"/>
          <c:tx>
            <c:strRef>
              <c:f>Sheet1!$B$1</c:f>
              <c:strCache>
                <c:ptCount val="1"/>
                <c:pt idx="0">
                  <c:v>% of peak</c:v>
                </c:pt>
              </c:strCache>
            </c:strRef>
          </c:tx>
          <c:spPr>
            <a:solidFill>
              <a:srgbClr val="0C6A87"/>
            </a:solidFill>
          </c:spPr>
          <c:cat>
            <c:strRef>
              <c:f>Sheet1!$A$2:$A$7</c:f>
              <c:strCache>
                <c:ptCount val="6"/>
                <c:pt idx="0">
                  <c:v>1×1 (1)</c:v>
                </c:pt>
                <c:pt idx="1">
                  <c:v>2×2 (4)</c:v>
                </c:pt>
                <c:pt idx="2">
                  <c:v>1×5 (5)</c:v>
                </c:pt>
                <c:pt idx="3">
                  <c:v>2×4 (8)</c:v>
                </c:pt>
                <c:pt idx="4">
                  <c:v>1×10 (10)</c:v>
                </c:pt>
                <c:pt idx="5">
                  <c:v>2×5 (10)</c:v>
                </c:pt>
              </c:strCache>
            </c:strRef>
          </c:cat>
          <c:val>
            <c:numRef>
              <c:f>Sheet1!$B$2:$B$7</c:f>
              <c:numCache>
                <c:formatCode>General</c:formatCode>
                <c:ptCount val="6"/>
                <c:pt idx="0">
                  <c:v>9.9</c:v>
                </c:pt>
                <c:pt idx="1">
                  <c:v>39.3</c:v>
                </c:pt>
                <c:pt idx="2">
                  <c:v>49.6</c:v>
                </c:pt>
                <c:pt idx="3">
                  <c:v>72.4</c:v>
                </c:pt>
                <c:pt idx="4">
                  <c:v>85.8</c:v>
                </c:pt>
                <c:pt idx="5">
                  <c:v>85.3</c:v>
                </c:pt>
              </c:numCache>
            </c:numRef>
          </c:val>
        </c:ser>
        <c:dLbls>
          <c:numFmt formatCode="0&quot;%&quot;" sourceLinked="0"/>
          <c:txPr>
            <a:bodyPr/>
            <a:lstStyle/>
            <a:p>
              <a:pPr>
                <a:defRPr sz="1100">
                  <a:solidFill>
                    <a:srgbClr val="1B2630"/>
                  </a:solidFill>
                  <a:latin typeface="Open Sans"/>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noFill/>
          </a:ln>
        </c:spPr>
        <c:txPr>
          <a:bodyPr/>
          <a:lstStyle/>
          <a:p>
            <a:pPr>
              <a:defRPr sz="1000">
                <a:solidFill>
                  <a:srgbClr val="5A6875"/>
                </a:solidFill>
                <a:latin typeface="Open Sans"/>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DE3E7"/>
              </a:solidFill>
            </a:ln>
          </c:spPr>
        </c:majorGridlines>
        <c:numFmt formatCode="0&quot;%&quot;" sourceLinked="0"/>
        <c:majorTickMark val="out"/>
        <c:minorTickMark val="none"/>
        <c:tickLblPos val="nextTo"/>
        <c:spPr>
          <a:ln>
            <a:noFill/>
          </a:ln>
        </c:spPr>
        <c:txPr>
          <a:bodyPr/>
          <a:lstStyle/>
          <a:p>
            <a:pPr>
              <a:defRPr sz="1000">
                <a:solidFill>
                  <a:srgbClr val="5A6875"/>
                </a:solidFill>
                <a:latin typeface="Open Sans"/>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630"/>
                </a:solidFill>
                <a:latin typeface="Open Sans"/>
              </a:rPr>
              <a:t>32 layers, 1 thread, ms (lower is better)</a:t>
            </a:r>
          </a:p>
        </c:rich>
      </c:tx>
      <c:layout/>
      <c:overlay val="0"/>
    </c:title>
    <c:autoTitleDeleted val="0"/>
    <c:plotArea>
      <c:barChart>
        <c:barDir val="bar"/>
        <c:grouping val="clustered"/>
        <c:ser>
          <c:idx val="0"/>
          <c:order val="0"/>
          <c:tx>
            <c:strRef>
              <c:f>Sheet1!$B$1</c:f>
              <c:strCache>
                <c:ptCount val="1"/>
                <c:pt idx="0">
                  <c:v>ms</c:v>
                </c:pt>
              </c:strCache>
            </c:strRef>
          </c:tx>
          <c:spPr>
            <a:solidFill>
              <a:srgbClr val="6B7782"/>
            </a:solidFill>
          </c:spPr>
          <c:cat>
            <c:strRef>
              <c:f>Sheet1!$A$2:$A$5</c:f>
              <c:strCache>
                <c:ptCount val="4"/>
                <c:pt idx="0">
                  <c:v>ONNX Runtime</c:v>
                </c:pt>
                <c:pt idx="1">
                  <c:v>v10 (2×6 asm)</c:v>
                </c:pt>
                <c:pt idx="2">
                  <c:v>v2 (intrinsics)</c:v>
                </c:pt>
                <c:pt idx="3">
                  <c:v>OpenCV DNN</c:v>
                </c:pt>
              </c:strCache>
            </c:strRef>
          </c:cat>
          <c:val>
            <c:numRef>
              <c:f>Sheet1!$B$2:$B$5</c:f>
              <c:numCache>
                <c:formatCode>General</c:formatCode>
                <c:ptCount val="4"/>
                <c:pt idx="0">
                  <c:v>62.6</c:v>
                </c:pt>
                <c:pt idx="1">
                  <c:v>63.8</c:v>
                </c:pt>
                <c:pt idx="2">
                  <c:v>69.5</c:v>
                </c:pt>
                <c:pt idx="3">
                  <c:v>86.4</c:v>
                </c:pt>
              </c:numCache>
            </c:numRef>
          </c:val>
        </c:ser>
        <c:dLbls>
          <c:numFmt formatCode="0.0&quot; ms&quot;" sourceLinked="0"/>
          <c:txPr>
            <a:bodyPr/>
            <a:lstStyle/>
            <a:p>
              <a:pPr>
                <a:defRPr sz="1100">
                  <a:solidFill>
                    <a:srgbClr val="1B2630"/>
                  </a:solidFill>
                  <a:latin typeface="Open Sans"/>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000">
                <a:solidFill>
                  <a:srgbClr val="5A6875"/>
                </a:solidFill>
                <a:latin typeface="Open Sans"/>
              </a:defRPr>
            </a:pPr>
          </a:p>
        </c:txPr>
        <c:crossAx val="-2113994440"/>
        <c:crosses val="autoZero"/>
        <c:auto val="1"/>
        <c:lblAlgn val="ctr"/>
        <c:lblOffset val="100"/>
        <c:noMultiLvlLbl val="0"/>
      </c:catAx>
      <c:valAx>
        <c:axId val="-2113994440"/>
        <c:scaling>
          <c:max val="110.0"/>
          <c:min val="0.0"/>
        </c:scaling>
        <c:delete val="0"/>
        <c:axPos val="b"/>
        <c:majorGridlines>
          <c:spPr>
            <a:ln>
              <a:solidFill>
                <a:srgbClr val="DDE3E7"/>
              </a:solidFill>
            </a:ln>
          </c:spPr>
        </c:majorGridlines>
        <c:majorTickMark val="out"/>
        <c:minorTickMark val="none"/>
        <c:tickLblPos val="nextTo"/>
        <c:spPr>
          <a:ln>
            <a:noFill/>
          </a:ln>
        </c:spPr>
        <c:txPr>
          <a:bodyPr/>
          <a:lstStyle/>
          <a:p>
            <a:pPr>
              <a:defRPr sz="1000">
                <a:solidFill>
                  <a:srgbClr val="5A6875"/>
                </a:solidFill>
                <a:latin typeface="Open Sans"/>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4" name="Google Shape;4;n"/>
          <p:cNvSpPr txBox="1"/>
          <p:nvPr>
            <p:ph idx="10" type="dt"/>
          </p:nvPr>
        </p:nvSpPr>
        <p:spPr>
          <a:xfrm>
            <a:off x="3886200" y="0"/>
            <a:ext cx="2971800" cy="457200"/>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6" name="Google Shape;6;n"/>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1pPr>
            <a:lvl2pPr indent="-228600" lvl="1" marL="9144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2pPr>
            <a:lvl3pPr indent="-228600" lvl="2" marL="13716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3pPr>
            <a:lvl4pPr indent="-228600" lvl="3" marL="18288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4pPr>
            <a:lvl5pPr indent="-228600" lvl="4" marL="22860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6800"/>
            <a:ext cx="2971800" cy="45720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8" name="Google Shape;8;n"/>
          <p:cNvSpPr txBox="1"/>
          <p:nvPr>
            <p:ph idx="12" type="sldNum"/>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Open Sans"/>
                <a:ea typeface="Open Sans"/>
                <a:cs typeface="Open Sans"/>
                <a:sym typeface="Open Sans"/>
              </a:rPr>
              <a:t>‹#›</a:t>
            </a:fld>
            <a:endParaRPr b="0" i="0" sz="1200" u="none" cap="none" strike="noStrike">
              <a:solidFill>
                <a:schemeClr val="dk1"/>
              </a:solidFill>
              <a:latin typeface="Open Sans"/>
              <a:ea typeface="Open Sans"/>
              <a:cs typeface="Open Sans"/>
              <a:sym typeface="Open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My kernel is the 3x3 stride-1 convolution: 32 layers, the C2f bottlenecks and the Detect head, two thirds of YOLOv8n's work. The story: it is the Assignment 2 kernel, I followed the same four steps, and the measurements chose the tile. Best microkernel alone: 94% of the 32 FLOPs/cycle peak; inside all 32 real layers: 84%. All percentages assume the core runs at 3.4 GHz, as in Assignment 2.</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Same machine as Assignment 2 and the same kernel. In A2, m was 5 rows of A broadcast, n was 8 doubles = 2 vectors of B. Here m is 5 output pixels, n is 16 output channels = 2 vectors of 8 floats, and k is input channels times the 9 taps of the 3x3 filter. 10 accumulators, 13 registers, exactly the A2 budget. Peak is 32 FLOPs per cycle because floats give 8 lanes instead of 4. 10 accumulators is the minimum (5 x 2); the 2x6 tile uses 12, two chains of slack.</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One call computes the teal strip: one output row, 5 pixels wide, 16 output channels deep, 80 numbers. Each cell is 8 channels of one pixel, exactly one YMM register, so the strip is 10 accumulators. It reads a 3 by 7 window of the input across all C channels and 16 filters of 3 by 3 by C. Each step multiplies 2 weight vectors by 5 broadcast inputs, 10 FMAs, repeated k = C x 9 times, then bias, SiLU, store.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Step 1: every output is an independent dot product; the only chain is the reduction. Step 2: 5-cycle latency times 2 FMAs per cycle means 10 independent accumulators, 80 outputs in flight. The chart: 1 accumulator is 10%, each adds about 10 points. Step 3: 2x5 gives 10 accumulators in 13 registers, 7 loads per 10 FMAs, and 5 divides 160, 80, 40 and 20. Step 4: benchmark the kernel alone exactly like Assignment 2.</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Every kernel I built, same arithmetic, same layout. Filled dots: the microkernel alone; hollow: all 32 layers. The 2x6 tile loses with intrinsics because GCC adds 11 register copies per tap at 15 live registers, but with the registers fixed in inline asm it is the best kernel, 95% alone. 4x3 needs all 16 registers; GCC spills it to 49%. Unrolling and software pipelining made it worse: full unrolling overflowed the uop cache and partial unrolling made GCC spill.</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Assignment 2 figure for my kernel: FLOPs per cycle against the reduction length k. Cycles are time times 3.4 GHz, the max turbo, exactly as in Assignment 2, so this can only understate. 2x6 asm holds 30 to 31 FLOPs per cycle, 94 to 97 percent of peak; 2x5 intrinsics 83 to 89. The dip near k = 500 is the 2x5 weights leaving L1, like k = 315 in A2. Cross-checked: the hardware FP-instruction counter matches our FLOP count exactly.</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Kernel A, 2x5 in asm, beat kernel B, 2x5 intrinsics, by 7 points alone but lost by 4 in the layers. The assembly shows why: inlined into the layer loop, GCC keeps 3 accumulators on the stack and reloads them around every tap. Calling the microkernel as a function, exactly as the benchmark does, fixes it: 83.1% for 2x5 and 83.7% for v10, all at 3.4 GHz. v10 is 1.36 times faster than OpenCV and within 2% of ONNX Runtime on all 32 layers. Next: cache blocking and threading.</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With the fused SiLU on, everything sits about 4 to 5 points lower: SiLU costs a fixed 160 to 290 cycles per call. Right: the 4x3 asm tile is the fastest while its weights are small, then collapses past C about 128 as its weights leave L2: the case cache blocking fixes.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p:cSld name="Title Slide">
    <p:spTree>
      <p:nvGrpSpPr>
        <p:cNvPr id="20" name="Shape 20"/>
        <p:cNvGrpSpPr/>
        <p:nvPr/>
      </p:nvGrpSpPr>
      <p:grpSpPr>
        <a:xfrm>
          <a:off x="0" y="0"/>
          <a:ext cx="0" cy="0"/>
          <a:chOff x="0" y="0"/>
          <a:chExt cx="0" cy="0"/>
        </a:xfrm>
      </p:grpSpPr>
      <p:sp>
        <p:nvSpPr>
          <p:cNvPr id="21" name="Google Shape;21;p2"/>
          <p:cNvSpPr/>
          <p:nvPr/>
        </p:nvSpPr>
        <p:spPr>
          <a:xfrm>
            <a:off x="0" y="0"/>
            <a:ext cx="9144000" cy="5143500"/>
          </a:xfrm>
          <a:prstGeom prst="rect">
            <a:avLst/>
          </a:prstGeom>
          <a:solidFill>
            <a:srgbClr val="BB00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chemeClr val="dk1"/>
              </a:solidFill>
              <a:latin typeface="Open Sans"/>
              <a:ea typeface="Open Sans"/>
              <a:cs typeface="Open Sans"/>
              <a:sym typeface="Open Sans"/>
            </a:endParaRPr>
          </a:p>
        </p:txBody>
      </p:sp>
      <p:pic>
        <p:nvPicPr>
          <p:cNvPr id="22" name="Google Shape;22;p2"/>
          <p:cNvPicPr preferRelativeResize="0"/>
          <p:nvPr/>
        </p:nvPicPr>
        <p:blipFill rotWithShape="1">
          <a:blip r:embed="rId2">
            <a:alphaModFix/>
          </a:blip>
          <a:srcRect b="0" l="0" r="0" t="0"/>
          <a:stretch/>
        </p:blipFill>
        <p:spPr>
          <a:xfrm>
            <a:off x="2209800" y="895350"/>
            <a:ext cx="3429000" cy="306388"/>
          </a:xfrm>
          <a:prstGeom prst="rect">
            <a:avLst/>
          </a:prstGeom>
          <a:noFill/>
          <a:ln>
            <a:noFill/>
          </a:ln>
        </p:spPr>
      </p:pic>
      <p:pic>
        <p:nvPicPr>
          <p:cNvPr descr="_Plaid-Digital_FINAL-NEW.png" id="23" name="Google Shape;23;p2"/>
          <p:cNvPicPr preferRelativeResize="0"/>
          <p:nvPr/>
        </p:nvPicPr>
        <p:blipFill rotWithShape="1">
          <a:blip r:embed="rId3">
            <a:alphaModFix/>
          </a:blip>
          <a:srcRect b="1990" l="84737" r="4771" t="23988"/>
          <a:stretch/>
        </p:blipFill>
        <p:spPr>
          <a:xfrm>
            <a:off x="457200" y="0"/>
            <a:ext cx="790575" cy="5143500"/>
          </a:xfrm>
          <a:prstGeom prst="rect">
            <a:avLst/>
          </a:prstGeom>
          <a:noFill/>
          <a:ln>
            <a:noFill/>
          </a:ln>
        </p:spPr>
      </p:pic>
      <p:sp>
        <p:nvSpPr>
          <p:cNvPr id="24" name="Google Shape;24;p2"/>
          <p:cNvSpPr/>
          <p:nvPr/>
        </p:nvSpPr>
        <p:spPr>
          <a:xfrm>
            <a:off x="0" y="0"/>
            <a:ext cx="9144000" cy="5143500"/>
          </a:xfrm>
          <a:prstGeom prst="rect">
            <a:avLst/>
          </a:prstGeom>
          <a:solidFill>
            <a:srgbClr val="BB00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chemeClr val="dk1"/>
              </a:solidFill>
              <a:latin typeface="Open Sans"/>
              <a:ea typeface="Open Sans"/>
              <a:cs typeface="Open Sans"/>
              <a:sym typeface="Open Sans"/>
            </a:endParaRPr>
          </a:p>
        </p:txBody>
      </p:sp>
      <p:pic>
        <p:nvPicPr>
          <p:cNvPr id="25" name="Google Shape;25;p2"/>
          <p:cNvPicPr preferRelativeResize="0"/>
          <p:nvPr/>
        </p:nvPicPr>
        <p:blipFill rotWithShape="1">
          <a:blip r:embed="rId2">
            <a:alphaModFix/>
          </a:blip>
          <a:srcRect b="0" l="0" r="0" t="0"/>
          <a:stretch/>
        </p:blipFill>
        <p:spPr>
          <a:xfrm>
            <a:off x="2209800" y="895350"/>
            <a:ext cx="3429000" cy="306388"/>
          </a:xfrm>
          <a:prstGeom prst="rect">
            <a:avLst/>
          </a:prstGeom>
          <a:noFill/>
          <a:ln>
            <a:noFill/>
          </a:ln>
        </p:spPr>
      </p:pic>
      <p:pic>
        <p:nvPicPr>
          <p:cNvPr descr="_Plaid-Digital_FINAL-NEW.png" id="26" name="Google Shape;26;p2"/>
          <p:cNvPicPr preferRelativeResize="0"/>
          <p:nvPr/>
        </p:nvPicPr>
        <p:blipFill rotWithShape="1">
          <a:blip r:embed="rId3">
            <a:alphaModFix/>
          </a:blip>
          <a:srcRect b="1990" l="84737" r="4771" t="23988"/>
          <a:stretch/>
        </p:blipFill>
        <p:spPr>
          <a:xfrm>
            <a:off x="457200" y="0"/>
            <a:ext cx="790575" cy="51435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27" name="Shape 27"/>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28" name="Shape 28"/>
        <p:cNvGrpSpPr/>
        <p:nvPr/>
      </p:nvGrpSpPr>
      <p:grpSpPr>
        <a:xfrm>
          <a:off x="0" y="0"/>
          <a:ext cx="0" cy="0"/>
          <a:chOff x="0" y="0"/>
          <a:chExt cx="0" cy="0"/>
        </a:xfrm>
      </p:grpSpPr>
      <p:sp>
        <p:nvSpPr>
          <p:cNvPr id="29" name="Google Shape;29;p4"/>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Column">
  <p:cSld name="1 Column">
    <p:spTree>
      <p:nvGrpSpPr>
        <p:cNvPr id="30" name="Shape 30"/>
        <p:cNvGrpSpPr/>
        <p:nvPr/>
      </p:nvGrpSpPr>
      <p:grpSpPr>
        <a:xfrm>
          <a:off x="0" y="0"/>
          <a:ext cx="0" cy="0"/>
          <a:chOff x="0" y="0"/>
          <a:chExt cx="0" cy="0"/>
        </a:xfrm>
      </p:grpSpPr>
      <p:sp>
        <p:nvSpPr>
          <p:cNvPr id="31" name="Google Shape;31;p5"/>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 type="body"/>
          </p:nvPr>
        </p:nvSpPr>
        <p:spPr>
          <a:xfrm>
            <a:off x="457200" y="1200150"/>
            <a:ext cx="82296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Column">
  <p:cSld name="2 Column">
    <p:spTree>
      <p:nvGrpSpPr>
        <p:cNvPr id="33" name="Shape 33"/>
        <p:cNvGrpSpPr/>
        <p:nvPr/>
      </p:nvGrpSpPr>
      <p:grpSpPr>
        <a:xfrm>
          <a:off x="0" y="0"/>
          <a:ext cx="0" cy="0"/>
          <a:chOff x="0" y="0"/>
          <a:chExt cx="0" cy="0"/>
        </a:xfrm>
      </p:grpSpPr>
      <p:sp>
        <p:nvSpPr>
          <p:cNvPr id="34" name="Google Shape;34;p6"/>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6"/>
          <p:cNvSpPr txBox="1"/>
          <p:nvPr>
            <p:ph idx="1" type="body"/>
          </p:nvPr>
        </p:nvSpPr>
        <p:spPr>
          <a:xfrm>
            <a:off x="457200" y="1200150"/>
            <a:ext cx="39624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36" name="Google Shape;36;p6"/>
          <p:cNvSpPr txBox="1"/>
          <p:nvPr>
            <p:ph idx="2" type="body"/>
          </p:nvPr>
        </p:nvSpPr>
        <p:spPr>
          <a:xfrm>
            <a:off x="4727448" y="1212300"/>
            <a:ext cx="3959352"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
  <p:cSld name="3 Column">
    <p:spTree>
      <p:nvGrpSpPr>
        <p:cNvPr id="37" name="Shape 37"/>
        <p:cNvGrpSpPr/>
        <p:nvPr/>
      </p:nvGrpSpPr>
      <p:grpSpPr>
        <a:xfrm>
          <a:off x="0" y="0"/>
          <a:ext cx="0" cy="0"/>
          <a:chOff x="0" y="0"/>
          <a:chExt cx="0" cy="0"/>
        </a:xfrm>
      </p:grpSpPr>
      <p:sp>
        <p:nvSpPr>
          <p:cNvPr id="38" name="Google Shape;38;p7"/>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7"/>
          <p:cNvSpPr txBox="1"/>
          <p:nvPr>
            <p:ph idx="1" type="body"/>
          </p:nvPr>
        </p:nvSpPr>
        <p:spPr>
          <a:xfrm>
            <a:off x="4572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0" name="Google Shape;40;p7"/>
          <p:cNvSpPr txBox="1"/>
          <p:nvPr>
            <p:ph idx="2" type="body"/>
          </p:nvPr>
        </p:nvSpPr>
        <p:spPr>
          <a:xfrm>
            <a:off x="32766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1" name="Google Shape;41;p7"/>
          <p:cNvSpPr txBox="1"/>
          <p:nvPr>
            <p:ph idx="3" type="body"/>
          </p:nvPr>
        </p:nvSpPr>
        <p:spPr>
          <a:xfrm>
            <a:off x="60960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Column">
  <p:cSld name="4 Column">
    <p:spTree>
      <p:nvGrpSpPr>
        <p:cNvPr id="42" name="Shape 42"/>
        <p:cNvGrpSpPr/>
        <p:nvPr/>
      </p:nvGrpSpPr>
      <p:grpSpPr>
        <a:xfrm>
          <a:off x="0" y="0"/>
          <a:ext cx="0" cy="0"/>
          <a:chOff x="0" y="0"/>
          <a:chExt cx="0" cy="0"/>
        </a:xfrm>
      </p:grpSpPr>
      <p:sp>
        <p:nvSpPr>
          <p:cNvPr id="43" name="Google Shape;43;p8"/>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8"/>
          <p:cNvSpPr txBox="1"/>
          <p:nvPr>
            <p:ph idx="1" type="body"/>
          </p:nvPr>
        </p:nvSpPr>
        <p:spPr>
          <a:xfrm>
            <a:off x="4572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5" name="Google Shape;45;p8"/>
          <p:cNvSpPr txBox="1"/>
          <p:nvPr>
            <p:ph idx="2" type="body"/>
          </p:nvPr>
        </p:nvSpPr>
        <p:spPr>
          <a:xfrm>
            <a:off x="25654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6" name="Google Shape;46;p8"/>
          <p:cNvSpPr txBox="1"/>
          <p:nvPr>
            <p:ph idx="3" type="body"/>
          </p:nvPr>
        </p:nvSpPr>
        <p:spPr>
          <a:xfrm>
            <a:off x="46736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7" name="Google Shape;47;p8"/>
          <p:cNvSpPr txBox="1"/>
          <p:nvPr>
            <p:ph idx="4" type="body"/>
          </p:nvPr>
        </p:nvSpPr>
        <p:spPr>
          <a:xfrm>
            <a:off x="67818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 Id="rId9" Type="http://schemas.openxmlformats.org/officeDocument/2006/relationships/slideLayout" Target="../slideLayouts/slideLayout7.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pic>
        <p:nvPicPr>
          <p:cNvPr descr="_Plaid-Digital_FINAL-NEW.png" id="10" name="Google Shape;10;p1"/>
          <p:cNvPicPr preferRelativeResize="0"/>
          <p:nvPr/>
        </p:nvPicPr>
        <p:blipFill rotWithShape="1">
          <a:blip r:embed="rId1">
            <a:alphaModFix/>
          </a:blip>
          <a:srcRect b="2893" l="59550" r="39888" t="20876"/>
          <a:stretch/>
        </p:blipFill>
        <p:spPr>
          <a:xfrm rot="5400000">
            <a:off x="3798887" y="1046163"/>
            <a:ext cx="60325" cy="7658100"/>
          </a:xfrm>
          <a:prstGeom prst="rect">
            <a:avLst/>
          </a:prstGeom>
          <a:noFill/>
          <a:ln>
            <a:noFill/>
          </a:ln>
        </p:spPr>
      </p:pic>
      <p:pic>
        <p:nvPicPr>
          <p:cNvPr descr="_Plaid-Digital_FINAL-NEW.png" id="11" name="Google Shape;11;p1"/>
          <p:cNvPicPr preferRelativeResize="0"/>
          <p:nvPr/>
        </p:nvPicPr>
        <p:blipFill rotWithShape="1">
          <a:blip r:embed="rId1">
            <a:alphaModFix/>
          </a:blip>
          <a:srcRect b="2893" l="59550" r="39888" t="20876"/>
          <a:stretch/>
        </p:blipFill>
        <p:spPr>
          <a:xfrm rot="5400000">
            <a:off x="3798887" y="1046163"/>
            <a:ext cx="60325" cy="7658100"/>
          </a:xfrm>
          <a:prstGeom prst="rect">
            <a:avLst/>
          </a:prstGeom>
          <a:noFill/>
          <a:ln>
            <a:noFill/>
          </a:ln>
        </p:spPr>
      </p:pic>
      <p:sp>
        <p:nvSpPr>
          <p:cNvPr id="12" name="Google Shape;12;p1"/>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2pPr>
            <a:lvl3pPr lvl="2"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3pPr>
            <a:lvl4pPr lvl="3"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4pPr>
            <a:lvl5pPr lvl="4"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5pPr>
            <a:lvl6pPr lvl="5" marR="0" rtl="0" algn="l">
              <a:spcBef>
                <a:spcPts val="0"/>
              </a:spcBef>
              <a:spcAft>
                <a:spcPts val="0"/>
              </a:spcAft>
              <a:buSzPts val="1400"/>
              <a:buNone/>
              <a:defRPr b="0" i="0" sz="4200" u="none" cap="none" strike="noStrike">
                <a:solidFill>
                  <a:schemeClr val="dk2"/>
                </a:solidFill>
                <a:latin typeface="Times"/>
                <a:ea typeface="Times"/>
                <a:cs typeface="Times"/>
                <a:sym typeface="Times"/>
              </a:defRPr>
            </a:lvl6pPr>
            <a:lvl7pPr lvl="6" marR="0" rtl="0" algn="l">
              <a:spcBef>
                <a:spcPts val="0"/>
              </a:spcBef>
              <a:spcAft>
                <a:spcPts val="0"/>
              </a:spcAft>
              <a:buSzPts val="1400"/>
              <a:buNone/>
              <a:defRPr b="0" i="0" sz="4200" u="none" cap="none" strike="noStrike">
                <a:solidFill>
                  <a:schemeClr val="dk2"/>
                </a:solidFill>
                <a:latin typeface="Times"/>
                <a:ea typeface="Times"/>
                <a:cs typeface="Times"/>
                <a:sym typeface="Times"/>
              </a:defRPr>
            </a:lvl7pPr>
            <a:lvl8pPr lvl="7" marR="0" rtl="0" algn="l">
              <a:spcBef>
                <a:spcPts val="0"/>
              </a:spcBef>
              <a:spcAft>
                <a:spcPts val="0"/>
              </a:spcAft>
              <a:buSzPts val="1400"/>
              <a:buNone/>
              <a:defRPr b="0" i="0" sz="4200" u="none" cap="none" strike="noStrike">
                <a:solidFill>
                  <a:schemeClr val="dk2"/>
                </a:solidFill>
                <a:latin typeface="Times"/>
                <a:ea typeface="Times"/>
                <a:cs typeface="Times"/>
                <a:sym typeface="Times"/>
              </a:defRPr>
            </a:lvl8pPr>
            <a:lvl9pPr lvl="8" marR="0" rtl="0" algn="l">
              <a:spcBef>
                <a:spcPts val="0"/>
              </a:spcBef>
              <a:spcAft>
                <a:spcPts val="0"/>
              </a:spcAft>
              <a:buSzPts val="1400"/>
              <a:buNone/>
              <a:defRPr b="0" i="0" sz="4200" u="none" cap="none" strike="noStrike">
                <a:solidFill>
                  <a:schemeClr val="dk2"/>
                </a:solidFill>
                <a:latin typeface="Times"/>
                <a:ea typeface="Times"/>
                <a:cs typeface="Times"/>
                <a:sym typeface="Times"/>
              </a:defRPr>
            </a:lvl9pPr>
          </a:lstStyle>
          <a:p/>
        </p:txBody>
      </p:sp>
      <p:sp>
        <p:nvSpPr>
          <p:cNvPr id="13" name="Google Shape;13;p1"/>
          <p:cNvSpPr txBox="1"/>
          <p:nvPr>
            <p:ph idx="1" type="body"/>
          </p:nvPr>
        </p:nvSpPr>
        <p:spPr>
          <a:xfrm>
            <a:off x="457200" y="1200150"/>
            <a:ext cx="8229600" cy="35052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600"/>
              </a:spcBef>
              <a:spcAft>
                <a:spcPts val="0"/>
              </a:spcAft>
              <a:buSzPts val="1400"/>
              <a:buNone/>
              <a:defRPr b="0" i="0" sz="1400" u="none" cap="none" strike="noStrike">
                <a:solidFill>
                  <a:schemeClr val="dk1"/>
                </a:solidFill>
                <a:latin typeface="Open Sans"/>
                <a:ea typeface="Open Sans"/>
                <a:cs typeface="Open Sans"/>
                <a:sym typeface="Open Sans"/>
              </a:defRPr>
            </a:lvl1pPr>
            <a:lvl2pPr indent="-326390" lvl="1" marL="914400" marR="0" rtl="0" algn="l">
              <a:spcBef>
                <a:spcPts val="600"/>
              </a:spcBef>
              <a:spcAft>
                <a:spcPts val="0"/>
              </a:spcAft>
              <a:buClr>
                <a:schemeClr val="dk1"/>
              </a:buClr>
              <a:buSzPts val="1540"/>
              <a:buFont typeface="Arial"/>
              <a:buChar char="•"/>
              <a:defRPr b="0" i="0" sz="1400" u="none" cap="none" strike="noStrike">
                <a:solidFill>
                  <a:schemeClr val="dk1"/>
                </a:solidFill>
                <a:latin typeface="Open Sans"/>
                <a:ea typeface="Open Sans"/>
                <a:cs typeface="Open Sans"/>
                <a:sym typeface="Open Sans"/>
              </a:defRPr>
            </a:lvl2pPr>
            <a:lvl3pPr indent="-326390" lvl="2" marL="1371600" marR="0" rtl="0" algn="l">
              <a:spcBef>
                <a:spcPts val="600"/>
              </a:spcBef>
              <a:spcAft>
                <a:spcPts val="0"/>
              </a:spcAft>
              <a:buClr>
                <a:schemeClr val="dk1"/>
              </a:buClr>
              <a:buSzPts val="1540"/>
              <a:buFont typeface="Arial"/>
              <a:buChar char="–"/>
              <a:defRPr b="0" i="1" sz="1400" u="none" cap="none" strike="noStrike">
                <a:solidFill>
                  <a:schemeClr val="dk1"/>
                </a:solidFill>
                <a:latin typeface="Open Sans"/>
                <a:ea typeface="Open Sans"/>
                <a:cs typeface="Open Sans"/>
                <a:sym typeface="Open Sans"/>
              </a:defRPr>
            </a:lvl3pPr>
            <a:lvl4pPr indent="-326390" lvl="3" marL="1828800" marR="0" rtl="0" algn="l">
              <a:spcBef>
                <a:spcPts val="600"/>
              </a:spcBef>
              <a:spcAft>
                <a:spcPts val="0"/>
              </a:spcAft>
              <a:buClr>
                <a:schemeClr val="dk1"/>
              </a:buClr>
              <a:buSzPts val="1540"/>
              <a:buFont typeface="Arial"/>
              <a:buChar char="•"/>
              <a:defRPr b="0" i="0" sz="1400" u="none" cap="none" strike="noStrike">
                <a:solidFill>
                  <a:schemeClr val="dk1"/>
                </a:solidFill>
                <a:latin typeface="Open Sans"/>
                <a:ea typeface="Open Sans"/>
                <a:cs typeface="Open Sans"/>
                <a:sym typeface="Open Sans"/>
              </a:defRPr>
            </a:lvl4pPr>
            <a:lvl5pPr indent="-326390" lvl="4" marL="2286000" marR="0" rtl="0" algn="l">
              <a:spcBef>
                <a:spcPts val="600"/>
              </a:spcBef>
              <a:spcAft>
                <a:spcPts val="0"/>
              </a:spcAft>
              <a:buClr>
                <a:schemeClr val="dk1"/>
              </a:buClr>
              <a:buSzPts val="1540"/>
              <a:buFont typeface="Arial"/>
              <a:buChar char="–"/>
              <a:defRPr b="0" i="1" sz="1400" u="none" cap="none" strike="noStrike">
                <a:solidFill>
                  <a:schemeClr val="dk1"/>
                </a:solidFill>
                <a:latin typeface="Open Sans"/>
                <a:ea typeface="Open Sans"/>
                <a:cs typeface="Open Sans"/>
                <a:sym typeface="Open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pic>
        <p:nvPicPr>
          <p:cNvPr id="14" name="Google Shape;14;p1"/>
          <p:cNvPicPr preferRelativeResize="0"/>
          <p:nvPr/>
        </p:nvPicPr>
        <p:blipFill rotWithShape="1">
          <a:blip r:embed="rId2">
            <a:alphaModFix/>
          </a:blip>
          <a:srcRect b="0" l="0" r="0" t="0"/>
          <a:stretch/>
        </p:blipFill>
        <p:spPr>
          <a:xfrm>
            <a:off x="7772400" y="4248150"/>
            <a:ext cx="1154590" cy="736392"/>
          </a:xfrm>
          <a:prstGeom prst="rect">
            <a:avLst/>
          </a:prstGeom>
          <a:noFill/>
          <a:ln>
            <a:noFill/>
          </a:ln>
        </p:spPr>
      </p:pic>
      <p:sp>
        <p:nvSpPr>
          <p:cNvPr id="15" name="Google Shape;15;p1"/>
          <p:cNvSpPr txBox="1"/>
          <p:nvPr>
            <p:ph idx="12" type="sldNum"/>
          </p:nvPr>
        </p:nvSpPr>
        <p:spPr>
          <a:xfrm>
            <a:off x="11073918" y="6400413"/>
            <a:ext cx="279883" cy="276999"/>
          </a:xfrm>
          <a:prstGeom prst="rect">
            <a:avLst/>
          </a:prstGeom>
          <a:noFill/>
          <a:ln>
            <a:noFill/>
          </a:ln>
        </p:spPr>
        <p:txBody>
          <a:bodyPr anchorCtr="0" anchor="ctr" bIns="45700" lIns="45700" spcFirstLastPara="1" rIns="45700" wrap="square" tIns="45700">
            <a:spAutoFit/>
          </a:bodyPr>
          <a:lstStyle>
            <a:lvl1pPr indent="0" lvl="0"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1pPr>
            <a:lvl2pPr indent="0" lvl="1"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2pPr>
            <a:lvl3pPr indent="0" lvl="2"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3pPr>
            <a:lvl4pPr indent="0" lvl="3"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4pPr>
            <a:lvl5pPr indent="0" lvl="4"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5pPr>
            <a:lvl6pPr indent="0" lvl="5"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6pPr>
            <a:lvl7pPr indent="0" lvl="6"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7pPr>
            <a:lvl8pPr indent="0" lvl="7"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8pPr>
            <a:lvl9pPr indent="0" lvl="8"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16" name="Google Shape;16;p1"/>
          <p:cNvSpPr txBox="1"/>
          <p:nvPr/>
        </p:nvSpPr>
        <p:spPr>
          <a:xfrm>
            <a:off x="11226318" y="65528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7" name="Google Shape;17;p1"/>
          <p:cNvSpPr txBox="1"/>
          <p:nvPr/>
        </p:nvSpPr>
        <p:spPr>
          <a:xfrm>
            <a:off x="11378718" y="67052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8" name="Google Shape;18;p1"/>
          <p:cNvSpPr txBox="1"/>
          <p:nvPr/>
        </p:nvSpPr>
        <p:spPr>
          <a:xfrm>
            <a:off x="11531118" y="68576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9" name="Google Shape;19;p1"/>
          <p:cNvSpPr txBox="1"/>
          <p:nvPr/>
        </p:nvSpPr>
        <p:spPr>
          <a:xfrm>
            <a:off x="8534400" y="100340"/>
            <a:ext cx="506890" cy="2616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fld id="{00000000-1234-1234-1234-123412341234}" type="slidenum">
              <a:rPr b="0" i="0" lang="en-US" sz="1100" u="none" cap="none" strike="noStrike">
                <a:solidFill>
                  <a:srgbClr val="7F7F7F"/>
                </a:solidFill>
                <a:latin typeface="Helvetica Neue Light"/>
                <a:ea typeface="Helvetica Neue Light"/>
                <a:cs typeface="Helvetica Neue Light"/>
                <a:sym typeface="Helvetica Neue Light"/>
              </a:rPr>
              <a:t>‹#›</a:t>
            </a:fld>
            <a:endParaRPr b="0" i="0" sz="1100" u="none" cap="none" strike="noStrike">
              <a:solidFill>
                <a:srgbClr val="7F7F7F"/>
              </a:solidFill>
              <a:latin typeface="Helvetica Neue Light"/>
              <a:ea typeface="Helvetica Neue Light"/>
              <a:cs typeface="Helvetica Neue Light"/>
              <a:sym typeface="Helvetica Neue Light"/>
            </a:endParaRPr>
          </a:p>
        </p:txBody>
      </p:sp>
    </p:spTree>
  </p:cSld>
  <p:clrMap accent1="accent1" accent2="accent2" accent3="accent3" accent4="accent4" accent5="accent5" accent6="accent6" bg1="lt1" bg2="dk2" tx1="dk1" tx2="lt2" folHlink="folHlink" hlink="hlink"/>
  <p:sldLayoutIdLst>
    <p:sldLayoutId id="2147483648" r:id="rId3"/>
    <p:sldLayoutId id="2147483649" r:id="rId4"/>
    <p:sldLayoutId id="2147483650" r:id="rId5"/>
    <p:sldLayoutId id="2147483651" r:id="rId6"/>
    <p:sldLayoutId id="2147483652" r:id="rId7"/>
    <p:sldLayoutId id="2147483653" r:id="rId8"/>
    <p:sldLayoutId id="2147483654" r:id="rId9"/>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130552" y="1371600"/>
            <a:ext cx="6309360" cy="1188720"/>
          </a:xfrm>
          <a:prstGeom prst="rect">
            <a:avLst/>
          </a:prstGeom>
          <a:noFill/>
        </p:spPr>
        <p:txBody>
          <a:bodyPr wrap="square" lIns="0" rIns="0" tIns="0" bIns="0" anchor="b">
            <a:spAutoFit/>
          </a:bodyPr>
          <a:lstStyle/>
          <a:p>
            <a:pPr algn="l"/>
            <a:r>
              <a:rPr sz="3400" b="1" i="0">
                <a:solidFill>
                  <a:srgbClr val="FFFFFF"/>
                </a:solidFill>
                <a:latin typeface="Open Sans"/>
              </a:rPr>
              <a:t>The 3×3 stride-1 convolution kernel</a:t>
            </a:r>
          </a:p>
        </p:txBody>
      </p:sp>
      <p:sp>
        <p:nvSpPr>
          <p:cNvPr id="3" name="TextBox 2"/>
          <p:cNvSpPr txBox="1"/>
          <p:nvPr/>
        </p:nvSpPr>
        <p:spPr>
          <a:xfrm>
            <a:off x="2130552" y="2743200"/>
            <a:ext cx="6309360" cy="457200"/>
          </a:xfrm>
          <a:prstGeom prst="rect">
            <a:avLst/>
          </a:prstGeom>
          <a:noFill/>
        </p:spPr>
        <p:txBody>
          <a:bodyPr wrap="square" lIns="0" rIns="0" tIns="0" bIns="0" anchor="t">
            <a:spAutoFit/>
          </a:bodyPr>
          <a:lstStyle/>
          <a:p>
            <a:pPr algn="l"/>
            <a:r>
              <a:rPr sz="1500" b="1" i="0">
                <a:solidFill>
                  <a:srgbClr val="FFFFFF"/>
                </a:solidFill>
                <a:latin typeface="Open Sans"/>
              </a:rPr>
              <a:t>Om Tank</a:t>
            </a:r>
            <a:r>
              <a:rPr sz="1500" b="0" i="0">
                <a:solidFill>
                  <a:srgbClr val="FFFFFF"/>
                </a:solidFill>
                <a:latin typeface="Open Sans"/>
              </a:rPr>
              <a:t>  ·  YOLOv8n on one Broadwell core, built like the Assignment 2 kernel</a:t>
            </a:r>
          </a:p>
        </p:txBody>
      </p:sp>
      <p:sp>
        <p:nvSpPr>
          <p:cNvPr id="4" name="TextBox 3"/>
          <p:cNvSpPr txBox="1"/>
          <p:nvPr/>
        </p:nvSpPr>
        <p:spPr>
          <a:xfrm>
            <a:off x="21305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32</a:t>
            </a:r>
          </a:p>
        </p:txBody>
      </p:sp>
      <p:sp>
        <p:nvSpPr>
          <p:cNvPr id="5" name="TextBox 4"/>
          <p:cNvSpPr txBox="1"/>
          <p:nvPr/>
        </p:nvSpPr>
        <p:spPr>
          <a:xfrm>
            <a:off x="21305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layers</a:t>
            </a:r>
          </a:p>
        </p:txBody>
      </p:sp>
      <p:sp>
        <p:nvSpPr>
          <p:cNvPr id="6" name="TextBox 5"/>
          <p:cNvSpPr txBox="1"/>
          <p:nvPr/>
        </p:nvSpPr>
        <p:spPr>
          <a:xfrm>
            <a:off x="37307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66%</a:t>
            </a:r>
          </a:p>
        </p:txBody>
      </p:sp>
      <p:sp>
        <p:nvSpPr>
          <p:cNvPr id="7" name="TextBox 6"/>
          <p:cNvSpPr txBox="1"/>
          <p:nvPr/>
        </p:nvSpPr>
        <p:spPr>
          <a:xfrm>
            <a:off x="37307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of YOLOv8n's work</a:t>
            </a:r>
          </a:p>
        </p:txBody>
      </p:sp>
      <p:sp>
        <p:nvSpPr>
          <p:cNvPr id="8" name="TextBox 7"/>
          <p:cNvSpPr txBox="1"/>
          <p:nvPr/>
        </p:nvSpPr>
        <p:spPr>
          <a:xfrm>
            <a:off x="53309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94%</a:t>
            </a:r>
          </a:p>
        </p:txBody>
      </p:sp>
      <p:sp>
        <p:nvSpPr>
          <p:cNvPr id="9" name="TextBox 8"/>
          <p:cNvSpPr txBox="1"/>
          <p:nvPr/>
        </p:nvSpPr>
        <p:spPr>
          <a:xfrm>
            <a:off x="53309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of peak, alone</a:t>
            </a:r>
          </a:p>
        </p:txBody>
      </p:sp>
      <p:sp>
        <p:nvSpPr>
          <p:cNvPr id="10" name="TextBox 9"/>
          <p:cNvSpPr txBox="1"/>
          <p:nvPr/>
        </p:nvSpPr>
        <p:spPr>
          <a:xfrm>
            <a:off x="69311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84%</a:t>
            </a:r>
          </a:p>
        </p:txBody>
      </p:sp>
      <p:sp>
        <p:nvSpPr>
          <p:cNvPr id="11" name="TextBox 10"/>
          <p:cNvSpPr txBox="1"/>
          <p:nvPr/>
        </p:nvSpPr>
        <p:spPr>
          <a:xfrm>
            <a:off x="69311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of peak, 32 layers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 is the Assignment 2 kernel, with floats</a:t>
            </a:r>
          </a:p>
        </p:txBody>
      </p:sp>
      <p:graphicFrame>
        <p:nvGraphicFramePr>
          <p:cNvPr id="3" name="Table 2"/>
          <p:cNvGraphicFramePr>
            <a:graphicFrameLocks noGrp="1"/>
          </p:cNvGraphicFramePr>
          <p:nvPr/>
        </p:nvGraphicFramePr>
        <p:xfrm>
          <a:off x="457200" y="1097280"/>
          <a:ext cx="4572000" cy="2377440"/>
        </p:xfrm>
        <a:graphic>
          <a:graphicData uri="http://schemas.openxmlformats.org/drawingml/2006/table">
            <a:tbl>
              <a:tblPr firstRow="1" bandRow="1">
                <a:tableStyleId>{5C22544A-7EE6-4342-B048-85BDC9FD1C3A}</a:tableStyleId>
              </a:tblPr>
              <a:tblGrid>
                <a:gridCol w="1325880"/>
                <a:gridCol w="1463040"/>
                <a:gridCol w="1783080"/>
              </a:tblGrid>
              <a:tr h="339634">
                <a:tc>
                  <a:txBody>
                    <a:bodyPr/>
                    <a:lstStyle/>
                    <a:p/>
                  </a:txBody>
                  <a:tcPr marL="54864" marR="54864">
                    <a:solidFill>
                      <a:srgbClr val="F1F3F5"/>
                    </a:solidFill>
                  </a:tcPr>
                </a:tc>
                <a:tc>
                  <a:txBody>
                    <a:bodyPr/>
                    <a:lstStyle/>
                    <a:p>
                      <a:r>
                        <a:rPr sz="1100" b="1">
                          <a:solidFill>
                            <a:srgbClr val="1B2630"/>
                          </a:solidFill>
                          <a:latin typeface="Open Sans"/>
                        </a:rPr>
                        <a:t>Assignment 2</a:t>
                      </a:r>
                    </a:p>
                  </a:txBody>
                  <a:tcPr marL="54864" marR="54864">
                    <a:solidFill>
                      <a:srgbClr val="F1F3F5"/>
                    </a:solidFill>
                  </a:tcPr>
                </a:tc>
                <a:tc>
                  <a:txBody>
                    <a:bodyPr/>
                    <a:lstStyle/>
                    <a:p>
                      <a:r>
                        <a:rPr sz="1100" b="1">
                          <a:solidFill>
                            <a:srgbClr val="1B2630"/>
                          </a:solidFill>
                          <a:latin typeface="Open Sans"/>
                        </a:rPr>
                        <a:t>Stride-1 microkernel</a:t>
                      </a:r>
                    </a:p>
                  </a:txBody>
                  <a:tcPr marL="54864" marR="54864">
                    <a:solidFill>
                      <a:srgbClr val="F1F3F5"/>
                    </a:solidFill>
                  </a:tcPr>
                </a:tc>
              </a:tr>
              <a:tr h="339634">
                <a:tc>
                  <a:txBody>
                    <a:bodyPr/>
                    <a:lstStyle/>
                    <a:p>
                      <a:r>
                        <a:rPr sz="1100" b="0">
                          <a:solidFill>
                            <a:srgbClr val="1B2630"/>
                          </a:solidFill>
                          <a:latin typeface="Open Sans"/>
                        </a:rPr>
                        <a:t>m (broadcast)</a:t>
                      </a:r>
                    </a:p>
                  </a:txBody>
                  <a:tcPr marL="54864" marR="54864">
                    <a:solidFill>
                      <a:srgbClr val="FFFFFF"/>
                    </a:solidFill>
                  </a:tcPr>
                </a:tc>
                <a:tc>
                  <a:txBody>
                    <a:bodyPr/>
                    <a:lstStyle/>
                    <a:p>
                      <a:r>
                        <a:rPr sz="1100" b="0">
                          <a:solidFill>
                            <a:srgbClr val="1B2630"/>
                          </a:solidFill>
                          <a:latin typeface="Open Sans"/>
                        </a:rPr>
                        <a:t>5 rows of A</a:t>
                      </a:r>
                    </a:p>
                  </a:txBody>
                  <a:tcPr marL="54864" marR="54864">
                    <a:solidFill>
                      <a:srgbClr val="FFFFFF"/>
                    </a:solidFill>
                  </a:tcPr>
                </a:tc>
                <a:tc>
                  <a:txBody>
                    <a:bodyPr/>
                    <a:lstStyle/>
                    <a:p>
                      <a:r>
                        <a:rPr sz="1100" b="0">
                          <a:solidFill>
                            <a:srgbClr val="1B2630"/>
                          </a:solidFill>
                          <a:latin typeface="Open Sans"/>
                        </a:rPr>
                        <a:t>5 output pixels</a:t>
                      </a:r>
                    </a:p>
                  </a:txBody>
                  <a:tcPr marL="54864" marR="54864">
                    <a:solidFill>
                      <a:srgbClr val="FFFFFF"/>
                    </a:solidFill>
                  </a:tcPr>
                </a:tc>
              </a:tr>
              <a:tr h="339634">
                <a:tc>
                  <a:txBody>
                    <a:bodyPr/>
                    <a:lstStyle/>
                    <a:p>
                      <a:r>
                        <a:rPr sz="1100" b="0">
                          <a:solidFill>
                            <a:srgbClr val="1B2630"/>
                          </a:solidFill>
                          <a:latin typeface="Open Sans"/>
                        </a:rPr>
                        <a:t>n (vector loads)</a:t>
                      </a:r>
                    </a:p>
                  </a:txBody>
                  <a:tcPr marL="54864" marR="54864">
                    <a:solidFill>
                      <a:srgbClr val="FFFFFF"/>
                    </a:solidFill>
                  </a:tcPr>
                </a:tc>
                <a:tc>
                  <a:txBody>
                    <a:bodyPr/>
                    <a:lstStyle/>
                    <a:p>
                      <a:r>
                        <a:rPr sz="1100" b="0">
                          <a:solidFill>
                            <a:srgbClr val="1B2630"/>
                          </a:solidFill>
                          <a:latin typeface="Open Sans"/>
                        </a:rPr>
                        <a:t>8 = 2 × 4 doubles</a:t>
                      </a:r>
                    </a:p>
                  </a:txBody>
                  <a:tcPr marL="54864" marR="54864">
                    <a:solidFill>
                      <a:srgbClr val="FFFFFF"/>
                    </a:solidFill>
                  </a:tcPr>
                </a:tc>
                <a:tc>
                  <a:txBody>
                    <a:bodyPr/>
                    <a:lstStyle/>
                    <a:p>
                      <a:r>
                        <a:rPr sz="1100" b="0">
                          <a:solidFill>
                            <a:srgbClr val="1B2630"/>
                          </a:solidFill>
                          <a:latin typeface="Open Sans"/>
                        </a:rPr>
                        <a:t>16 ch = 2 × 8 floats</a:t>
                      </a:r>
                    </a:p>
                  </a:txBody>
                  <a:tcPr marL="54864" marR="54864">
                    <a:solidFill>
                      <a:srgbClr val="FFFFFF"/>
                    </a:solidFill>
                  </a:tcPr>
                </a:tc>
              </a:tr>
              <a:tr h="339634">
                <a:tc>
                  <a:txBody>
                    <a:bodyPr/>
                    <a:lstStyle/>
                    <a:p>
                      <a:r>
                        <a:rPr sz="1100" b="0">
                          <a:solidFill>
                            <a:srgbClr val="1B2630"/>
                          </a:solidFill>
                          <a:latin typeface="Open Sans"/>
                        </a:rPr>
                        <a:t>k (reduction)</a:t>
                      </a:r>
                    </a:p>
                  </a:txBody>
                  <a:tcPr marL="54864" marR="54864">
                    <a:solidFill>
                      <a:srgbClr val="FFFFFF"/>
                    </a:solidFill>
                  </a:tcPr>
                </a:tc>
                <a:tc>
                  <a:txBody>
                    <a:bodyPr/>
                    <a:lstStyle/>
                    <a:p>
                      <a:r>
                        <a:rPr sz="1100" b="0">
                          <a:solidFill>
                            <a:srgbClr val="1B2630"/>
                          </a:solidFill>
                          <a:latin typeface="Open Sans"/>
                        </a:rPr>
                        <a:t>32 to 512</a:t>
                      </a:r>
                    </a:p>
                  </a:txBody>
                  <a:tcPr marL="54864" marR="54864">
                    <a:solidFill>
                      <a:srgbClr val="FFFFFF"/>
                    </a:solidFill>
                  </a:tcPr>
                </a:tc>
                <a:tc>
                  <a:txBody>
                    <a:bodyPr/>
                    <a:lstStyle/>
                    <a:p>
                      <a:r>
                        <a:rPr sz="1100" b="0">
                          <a:solidFill>
                            <a:srgbClr val="1B2630"/>
                          </a:solidFill>
                          <a:latin typeface="Open Sans"/>
                        </a:rPr>
                        <a:t>C × 9 (144 to 2304)</a:t>
                      </a:r>
                    </a:p>
                  </a:txBody>
                  <a:tcPr marL="54864" marR="54864">
                    <a:solidFill>
                      <a:srgbClr val="FFFFFF"/>
                    </a:solidFill>
                  </a:tcPr>
                </a:tc>
              </a:tr>
              <a:tr h="339634">
                <a:tc>
                  <a:txBody>
                    <a:bodyPr/>
                    <a:lstStyle/>
                    <a:p>
                      <a:r>
                        <a:rPr sz="1100" b="0">
                          <a:solidFill>
                            <a:srgbClr val="1B2630"/>
                          </a:solidFill>
                          <a:latin typeface="Open Sans"/>
                        </a:rPr>
                        <a:t>Accumulators</a:t>
                      </a:r>
                    </a:p>
                  </a:txBody>
                  <a:tcPr marL="54864" marR="54864">
                    <a:solidFill>
                      <a:srgbClr val="FFFFFF"/>
                    </a:solidFill>
                  </a:tcPr>
                </a:tc>
                <a:tc>
                  <a:txBody>
                    <a:bodyPr/>
                    <a:lstStyle/>
                    <a:p>
                      <a:r>
                        <a:rPr sz="1100" b="0">
                          <a:solidFill>
                            <a:srgbClr val="1B2630"/>
                          </a:solidFill>
                          <a:latin typeface="Open Sans"/>
                        </a:rPr>
                        <a:t>10</a:t>
                      </a:r>
                    </a:p>
                  </a:txBody>
                  <a:tcPr marL="54864" marR="54864">
                    <a:solidFill>
                      <a:srgbClr val="FFFFFF"/>
                    </a:solidFill>
                  </a:tcPr>
                </a:tc>
                <a:tc>
                  <a:txBody>
                    <a:bodyPr/>
                    <a:lstStyle/>
                    <a:p>
                      <a:r>
                        <a:rPr sz="1100" b="0">
                          <a:solidFill>
                            <a:srgbClr val="1B2630"/>
                          </a:solidFill>
                          <a:latin typeface="Open Sans"/>
                        </a:rPr>
                        <a:t>10 (2×5) or 12 (2×6)</a:t>
                      </a:r>
                    </a:p>
                  </a:txBody>
                  <a:tcPr marL="54864" marR="54864">
                    <a:solidFill>
                      <a:srgbClr val="FFFFFF"/>
                    </a:solidFill>
                  </a:tcPr>
                </a:tc>
              </a:tr>
              <a:tr h="339634">
                <a:tc>
                  <a:txBody>
                    <a:bodyPr/>
                    <a:lstStyle/>
                    <a:p>
                      <a:r>
                        <a:rPr sz="1100" b="0">
                          <a:solidFill>
                            <a:srgbClr val="1B2630"/>
                          </a:solidFill>
                          <a:latin typeface="Open Sans"/>
                        </a:rPr>
                        <a:t>Registers</a:t>
                      </a:r>
                    </a:p>
                  </a:txBody>
                  <a:tcPr marL="54864" marR="54864">
                    <a:solidFill>
                      <a:srgbClr val="FFFFFF"/>
                    </a:solidFill>
                  </a:tcPr>
                </a:tc>
                <a:tc>
                  <a:txBody>
                    <a:bodyPr/>
                    <a:lstStyle/>
                    <a:p>
                      <a:r>
                        <a:rPr sz="1100" b="0">
                          <a:solidFill>
                            <a:srgbClr val="1B2630"/>
                          </a:solidFill>
                          <a:latin typeface="Open Sans"/>
                        </a:rPr>
                        <a:t>13 of 16</a:t>
                      </a:r>
                    </a:p>
                  </a:txBody>
                  <a:tcPr marL="54864" marR="54864">
                    <a:solidFill>
                      <a:srgbClr val="FFFFFF"/>
                    </a:solidFill>
                  </a:tcPr>
                </a:tc>
                <a:tc>
                  <a:txBody>
                    <a:bodyPr/>
                    <a:lstStyle/>
                    <a:p>
                      <a:r>
                        <a:rPr sz="1100" b="0">
                          <a:solidFill>
                            <a:srgbClr val="1B2630"/>
                          </a:solidFill>
                          <a:latin typeface="Open Sans"/>
                        </a:rPr>
                        <a:t>13 or 15 of 16</a:t>
                      </a:r>
                    </a:p>
                  </a:txBody>
                  <a:tcPr marL="54864" marR="54864">
                    <a:solidFill>
                      <a:srgbClr val="FFFFFF"/>
                    </a:solidFill>
                  </a:tcPr>
                </a:tc>
              </a:tr>
              <a:tr h="339636">
                <a:tc>
                  <a:txBody>
                    <a:bodyPr/>
                    <a:lstStyle/>
                    <a:p>
                      <a:r>
                        <a:rPr sz="1100" b="0">
                          <a:solidFill>
                            <a:srgbClr val="1B2630"/>
                          </a:solidFill>
                          <a:latin typeface="Open Sans"/>
                        </a:rPr>
                        <a:t>Peak per core</a:t>
                      </a:r>
                    </a:p>
                  </a:txBody>
                  <a:tcPr marL="54864" marR="54864">
                    <a:solidFill>
                      <a:srgbClr val="FFFFFF"/>
                    </a:solidFill>
                  </a:tcPr>
                </a:tc>
                <a:tc>
                  <a:txBody>
                    <a:bodyPr/>
                    <a:lstStyle/>
                    <a:p>
                      <a:r>
                        <a:rPr sz="1100" b="0">
                          <a:solidFill>
                            <a:srgbClr val="1B2630"/>
                          </a:solidFill>
                          <a:latin typeface="Open Sans"/>
                        </a:rPr>
                        <a:t>16 FLOPs/cycle</a:t>
                      </a:r>
                    </a:p>
                  </a:txBody>
                  <a:tcPr marL="54864" marR="54864">
                    <a:solidFill>
                      <a:srgbClr val="FFFFFF"/>
                    </a:solidFill>
                  </a:tcPr>
                </a:tc>
                <a:tc>
                  <a:txBody>
                    <a:bodyPr/>
                    <a:lstStyle/>
                    <a:p>
                      <a:r>
                        <a:rPr sz="1100" b="0">
                          <a:solidFill>
                            <a:srgbClr val="1B2630"/>
                          </a:solidFill>
                          <a:latin typeface="Open Sans"/>
                        </a:rPr>
                        <a:t>32 FLOPs/cycle</a:t>
                      </a:r>
                    </a:p>
                  </a:txBody>
                  <a:tcPr marL="54864" marR="54864">
                    <a:solidFill>
                      <a:srgbClr val="FFFFFF"/>
                    </a:solidFill>
                  </a:tcPr>
                </a:tc>
              </a:tr>
            </a:tbl>
          </a:graphicData>
        </a:graphic>
      </p:graphicFrame>
      <p:sp>
        <p:nvSpPr>
          <p:cNvPr id="4" name="TextBox 3"/>
          <p:cNvSpPr txBox="1"/>
          <p:nvPr/>
        </p:nvSpPr>
        <p:spPr>
          <a:xfrm>
            <a:off x="457200" y="3611880"/>
            <a:ext cx="4572000" cy="548640"/>
          </a:xfrm>
          <a:prstGeom prst="rect">
            <a:avLst/>
          </a:prstGeom>
          <a:noFill/>
        </p:spPr>
        <p:txBody>
          <a:bodyPr wrap="square" lIns="0" rIns="0" tIns="0" bIns="0" anchor="t">
            <a:spAutoFit/>
          </a:bodyPr>
          <a:lstStyle/>
          <a:p>
            <a:pPr algn="l"/>
            <a:r>
              <a:rPr sz="1200" b="0" i="0">
                <a:solidFill>
                  <a:srgbClr val="5A6875"/>
                </a:solidFill>
                <a:latin typeface="Open Sans"/>
              </a:rPr>
              <a:t>Same Broadwell core: 2 FMA units × 8 lanes × 2 FLOPs = 32 FLOPs/cycle. Latency 5 × throughput 2 = 10 chains in flight.</a:t>
            </a:r>
          </a:p>
        </p:txBody>
      </p:sp>
      <p:sp>
        <p:nvSpPr>
          <p:cNvPr id="5" name="term-0"/>
          <p:cNvSpPr/>
          <p:nvPr/>
        </p:nvSpPr>
        <p:spPr>
          <a:xfrm>
            <a:off x="5257800" y="1097280"/>
            <a:ext cx="3429000" cy="694944"/>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76672" y="1161288"/>
            <a:ext cx="3200400" cy="228600"/>
          </a:xfrm>
          <a:prstGeom prst="rect">
            <a:avLst/>
          </a:prstGeom>
          <a:noFill/>
        </p:spPr>
        <p:txBody>
          <a:bodyPr wrap="square" lIns="0" rIns="0" tIns="0" bIns="0" anchor="t">
            <a:spAutoFit/>
          </a:bodyPr>
          <a:lstStyle/>
          <a:p>
            <a:pPr algn="l"/>
            <a:r>
              <a:rPr sz="1200" b="1" i="0">
                <a:solidFill>
                  <a:srgbClr val="1B2630"/>
                </a:solidFill>
                <a:latin typeface="Courier New"/>
              </a:rPr>
              <a:t>C</a:t>
            </a:r>
          </a:p>
        </p:txBody>
      </p:sp>
      <p:sp>
        <p:nvSpPr>
          <p:cNvPr id="7" name="TextBox 6"/>
          <p:cNvSpPr txBox="1"/>
          <p:nvPr/>
        </p:nvSpPr>
        <p:spPr>
          <a:xfrm>
            <a:off x="5376672" y="1399032"/>
            <a:ext cx="3200400" cy="384048"/>
          </a:xfrm>
          <a:prstGeom prst="rect">
            <a:avLst/>
          </a:prstGeom>
          <a:noFill/>
        </p:spPr>
        <p:txBody>
          <a:bodyPr wrap="square" lIns="0" rIns="0" tIns="0" bIns="0" anchor="t">
            <a:spAutoFit/>
          </a:bodyPr>
          <a:lstStyle/>
          <a:p>
            <a:pPr algn="l"/>
            <a:r>
              <a:rPr sz="1000" b="0" i="0">
                <a:solidFill>
                  <a:srgbClr val="5A6875"/>
                </a:solidFill>
                <a:latin typeface="Open Sans"/>
              </a:rPr>
              <a:t>input channels of the layer (16 to 256)</a:t>
            </a:r>
          </a:p>
        </p:txBody>
      </p:sp>
      <p:sp>
        <p:nvSpPr>
          <p:cNvPr id="8" name="term-1"/>
          <p:cNvSpPr/>
          <p:nvPr/>
        </p:nvSpPr>
        <p:spPr>
          <a:xfrm>
            <a:off x="5257800" y="1865376"/>
            <a:ext cx="3429000" cy="694944"/>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76672" y="1929384"/>
            <a:ext cx="3200400" cy="228600"/>
          </a:xfrm>
          <a:prstGeom prst="rect">
            <a:avLst/>
          </a:prstGeom>
          <a:noFill/>
        </p:spPr>
        <p:txBody>
          <a:bodyPr wrap="square" lIns="0" rIns="0" tIns="0" bIns="0" anchor="t">
            <a:spAutoFit/>
          </a:bodyPr>
          <a:lstStyle/>
          <a:p>
            <a:pPr algn="l"/>
            <a:r>
              <a:rPr sz="1200" b="1" i="0">
                <a:solidFill>
                  <a:srgbClr val="1B2630"/>
                </a:solidFill>
                <a:latin typeface="Courier New"/>
              </a:rPr>
              <a:t>k = C × 9</a:t>
            </a:r>
          </a:p>
        </p:txBody>
      </p:sp>
      <p:sp>
        <p:nvSpPr>
          <p:cNvPr id="10" name="TextBox 9"/>
          <p:cNvSpPr txBox="1"/>
          <p:nvPr/>
        </p:nvSpPr>
        <p:spPr>
          <a:xfrm>
            <a:off x="5376672" y="2167128"/>
            <a:ext cx="3200400" cy="384048"/>
          </a:xfrm>
          <a:prstGeom prst="rect">
            <a:avLst/>
          </a:prstGeom>
          <a:noFill/>
        </p:spPr>
        <p:txBody>
          <a:bodyPr wrap="square" lIns="0" rIns="0" tIns="0" bIns="0" anchor="t">
            <a:spAutoFit/>
          </a:bodyPr>
          <a:lstStyle/>
          <a:p>
            <a:pPr algn="l"/>
            <a:r>
              <a:rPr sz="1000" b="0" i="0">
                <a:solidFill>
                  <a:srgbClr val="5A6875"/>
                </a:solidFill>
                <a:latin typeface="Open Sans"/>
              </a:rPr>
              <a:t>multiply-adds per output: C channels × the 9 taps of the 3×3 filter (A2's k)</a:t>
            </a:r>
          </a:p>
        </p:txBody>
      </p:sp>
      <p:sp>
        <p:nvSpPr>
          <p:cNvPr id="11" name="term-2"/>
          <p:cNvSpPr/>
          <p:nvPr/>
        </p:nvSpPr>
        <p:spPr>
          <a:xfrm>
            <a:off x="5257800" y="2633472"/>
            <a:ext cx="3429000" cy="694944"/>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76672" y="2697479"/>
            <a:ext cx="3200400" cy="228600"/>
          </a:xfrm>
          <a:prstGeom prst="rect">
            <a:avLst/>
          </a:prstGeom>
          <a:noFill/>
        </p:spPr>
        <p:txBody>
          <a:bodyPr wrap="square" lIns="0" rIns="0" tIns="0" bIns="0" anchor="t">
            <a:spAutoFit/>
          </a:bodyPr>
          <a:lstStyle/>
          <a:p>
            <a:pPr algn="l"/>
            <a:r>
              <a:rPr sz="1200" b="1" i="0">
                <a:solidFill>
                  <a:srgbClr val="1B2630"/>
                </a:solidFill>
                <a:latin typeface="Courier New"/>
              </a:rPr>
              <a:t>accumulator</a:t>
            </a:r>
          </a:p>
        </p:txBody>
      </p:sp>
      <p:sp>
        <p:nvSpPr>
          <p:cNvPr id="13" name="TextBox 12"/>
          <p:cNvSpPr txBox="1"/>
          <p:nvPr/>
        </p:nvSpPr>
        <p:spPr>
          <a:xfrm>
            <a:off x="5376672" y="2935224"/>
            <a:ext cx="3200400" cy="384048"/>
          </a:xfrm>
          <a:prstGeom prst="rect">
            <a:avLst/>
          </a:prstGeom>
          <a:noFill/>
        </p:spPr>
        <p:txBody>
          <a:bodyPr wrap="square" lIns="0" rIns="0" tIns="0" bIns="0" anchor="t">
            <a:spAutoFit/>
          </a:bodyPr>
          <a:lstStyle/>
          <a:p>
            <a:pPr algn="l"/>
            <a:r>
              <a:rPr sz="1000" b="0" i="0">
                <a:solidFill>
                  <a:srgbClr val="5A6875"/>
                </a:solidFill>
                <a:latin typeface="Open Sans"/>
              </a:rPr>
              <a:t>one YMM register = 8 outputs (8 channels of one pixel); one dependency chain</a:t>
            </a:r>
          </a:p>
        </p:txBody>
      </p:sp>
      <p:sp>
        <p:nvSpPr>
          <p:cNvPr id="14" name="term-3"/>
          <p:cNvSpPr/>
          <p:nvPr/>
        </p:nvSpPr>
        <p:spPr>
          <a:xfrm>
            <a:off x="5257800" y="3401568"/>
            <a:ext cx="3429000" cy="694944"/>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3465575"/>
            <a:ext cx="3200400" cy="228600"/>
          </a:xfrm>
          <a:prstGeom prst="rect">
            <a:avLst/>
          </a:prstGeom>
          <a:noFill/>
        </p:spPr>
        <p:txBody>
          <a:bodyPr wrap="square" lIns="0" rIns="0" tIns="0" bIns="0" anchor="t">
            <a:spAutoFit/>
          </a:bodyPr>
          <a:lstStyle/>
          <a:p>
            <a:pPr algn="l"/>
            <a:r>
              <a:rPr sz="1200" b="1" i="0">
                <a:solidFill>
                  <a:srgbClr val="BB0027"/>
                </a:solidFill>
                <a:latin typeface="Courier New"/>
              </a:rPr>
              <a:t>tile 2×5 (10)</a:t>
            </a:r>
          </a:p>
        </p:txBody>
      </p:sp>
      <p:sp>
        <p:nvSpPr>
          <p:cNvPr id="16" name="TextBox 15"/>
          <p:cNvSpPr txBox="1"/>
          <p:nvPr/>
        </p:nvSpPr>
        <p:spPr>
          <a:xfrm>
            <a:off x="5376672" y="3703320"/>
            <a:ext cx="3200400" cy="384048"/>
          </a:xfrm>
          <a:prstGeom prst="rect">
            <a:avLst/>
          </a:prstGeom>
          <a:noFill/>
        </p:spPr>
        <p:txBody>
          <a:bodyPr wrap="square" lIns="0" rIns="0" tIns="0" bIns="0" anchor="t">
            <a:spAutoFit/>
          </a:bodyPr>
          <a:lstStyle/>
          <a:p>
            <a:pPr algn="l"/>
            <a:r>
              <a:rPr sz="1000" b="0" i="0">
                <a:solidFill>
                  <a:srgbClr val="5A6875"/>
                </a:solidFill>
                <a:latin typeface="Open Sans"/>
              </a:rPr>
              <a:t>outputs per call: 2 blocks of 8 ch × 5 pixels = 80 outputs in 10 accumulators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kernel call = 80 outputs</a:t>
            </a:r>
          </a:p>
        </p:txBody>
      </p:sp>
      <p:pic>
        <p:nvPicPr>
          <p:cNvPr id="3" name="Picture 2" descr="tile_tensors.png"/>
          <p:cNvPicPr>
            <a:picLocks noChangeAspect="1"/>
          </p:cNvPicPr>
          <p:nvPr/>
        </p:nvPicPr>
        <p:blipFill>
          <a:blip r:embed="rId3"/>
          <a:stretch>
            <a:fillRect/>
          </a:stretch>
        </p:blipFill>
        <p:spPr>
          <a:xfrm>
            <a:off x="457200" y="1051560"/>
            <a:ext cx="8229600" cy="2396910"/>
          </a:xfrm>
          <a:prstGeom prst="rect">
            <a:avLst/>
          </a:prstGeom>
        </p:spPr>
      </p:pic>
      <p:sp>
        <p:nvSpPr>
          <p:cNvPr id="4" name="TextBox 3"/>
          <p:cNvSpPr txBox="1"/>
          <p:nvPr/>
        </p:nvSpPr>
        <p:spPr>
          <a:xfrm>
            <a:off x="457200" y="3611880"/>
            <a:ext cx="7132320" cy="548640"/>
          </a:xfrm>
          <a:prstGeom prst="rect">
            <a:avLst/>
          </a:prstGeom>
          <a:noFill/>
        </p:spPr>
        <p:txBody>
          <a:bodyPr wrap="square" lIns="0" rIns="0" tIns="0" bIns="0" anchor="t">
            <a:spAutoFit/>
          </a:bodyPr>
          <a:lstStyle/>
          <a:p>
            <a:pPr algn="l"/>
            <a:r>
              <a:rPr sz="1300" b="0" i="0">
                <a:solidFill>
                  <a:srgbClr val="1B2630"/>
                </a:solidFill>
                <a:latin typeface="Open Sans"/>
              </a:rPr>
              <a:t>Per step (one input channel at one of the 9 taps): load 2 weight vectors, broadcast 5 inputs, 10 FMAs. Repeat k = C × 9 times, then bias, SiLU and one store per register.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steps: ops → accumulators → tile → benchmark</a:t>
            </a:r>
          </a:p>
        </p:txBody>
      </p:sp>
      <p:sp>
        <p:nvSpPr>
          <p:cNvPr id="3" name="Oval 2"/>
          <p:cNvSpPr/>
          <p:nvPr/>
        </p:nvSpPr>
        <p:spPr>
          <a:xfrm>
            <a:off x="457200" y="1069848"/>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69848"/>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1</a:t>
            </a:r>
          </a:p>
        </p:txBody>
      </p:sp>
      <p:sp>
        <p:nvSpPr>
          <p:cNvPr id="5" name="TextBox 4"/>
          <p:cNvSpPr txBox="1"/>
          <p:nvPr/>
        </p:nvSpPr>
        <p:spPr>
          <a:xfrm>
            <a:off x="914400" y="1033271"/>
            <a:ext cx="3291840" cy="256032"/>
          </a:xfrm>
          <a:prstGeom prst="rect">
            <a:avLst/>
          </a:prstGeom>
          <a:noFill/>
        </p:spPr>
        <p:txBody>
          <a:bodyPr wrap="square" lIns="0" rIns="0" tIns="0" bIns="0" anchor="t">
            <a:spAutoFit/>
          </a:bodyPr>
          <a:lstStyle/>
          <a:p>
            <a:pPr algn="l"/>
            <a:r>
              <a:rPr sz="1300" b="1" i="0">
                <a:solidFill>
                  <a:srgbClr val="1B2630"/>
                </a:solidFill>
                <a:latin typeface="Open Sans"/>
              </a:rPr>
              <a:t>Independent ops</a:t>
            </a:r>
          </a:p>
        </p:txBody>
      </p:sp>
      <p:sp>
        <p:nvSpPr>
          <p:cNvPr id="6" name="TextBox 5"/>
          <p:cNvSpPr txBox="1"/>
          <p:nvPr/>
        </p:nvSpPr>
        <p:spPr>
          <a:xfrm>
            <a:off x="914400" y="1298448"/>
            <a:ext cx="3291840" cy="475488"/>
          </a:xfrm>
          <a:prstGeom prst="rect">
            <a:avLst/>
          </a:prstGeom>
          <a:noFill/>
        </p:spPr>
        <p:txBody>
          <a:bodyPr wrap="square" lIns="0" rIns="0" tIns="0" bIns="0" anchor="t">
            <a:spAutoFit/>
          </a:bodyPr>
          <a:lstStyle/>
          <a:p>
            <a:pPr algn="l"/>
            <a:r>
              <a:rPr sz="1050" b="0" i="0">
                <a:solidFill>
                  <a:srgbClr val="5A6875"/>
                </a:solidFill>
                <a:latin typeface="Open Sans"/>
              </a:rPr>
              <a:t>Each output is a dot product of length C × 9: 102,400 in a 40×40, 64-ch layer.</a:t>
            </a:r>
          </a:p>
        </p:txBody>
      </p:sp>
      <p:sp>
        <p:nvSpPr>
          <p:cNvPr id="7" name="Oval 6"/>
          <p:cNvSpPr/>
          <p:nvPr/>
        </p:nvSpPr>
        <p:spPr>
          <a:xfrm>
            <a:off x="457200" y="1847088"/>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47088"/>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2</a:t>
            </a:r>
          </a:p>
        </p:txBody>
      </p:sp>
      <p:sp>
        <p:nvSpPr>
          <p:cNvPr id="9" name="TextBox 8"/>
          <p:cNvSpPr txBox="1"/>
          <p:nvPr/>
        </p:nvSpPr>
        <p:spPr>
          <a:xfrm>
            <a:off x="914400" y="1810512"/>
            <a:ext cx="3291840" cy="256032"/>
          </a:xfrm>
          <a:prstGeom prst="rect">
            <a:avLst/>
          </a:prstGeom>
          <a:noFill/>
        </p:spPr>
        <p:txBody>
          <a:bodyPr wrap="square" lIns="0" rIns="0" tIns="0" bIns="0" anchor="t">
            <a:spAutoFit/>
          </a:bodyPr>
          <a:lstStyle/>
          <a:p>
            <a:pPr algn="l"/>
            <a:r>
              <a:rPr sz="1300" b="1" i="0">
                <a:solidFill>
                  <a:srgbClr val="1B2630"/>
                </a:solidFill>
                <a:latin typeface="Open Sans"/>
              </a:rPr>
              <a:t>Outputs in flight</a:t>
            </a:r>
          </a:p>
        </p:txBody>
      </p:sp>
      <p:sp>
        <p:nvSpPr>
          <p:cNvPr id="10" name="TextBox 9"/>
          <p:cNvSpPr txBox="1"/>
          <p:nvPr/>
        </p:nvSpPr>
        <p:spPr>
          <a:xfrm>
            <a:off x="914400" y="2075688"/>
            <a:ext cx="3291840" cy="475488"/>
          </a:xfrm>
          <a:prstGeom prst="rect">
            <a:avLst/>
          </a:prstGeom>
          <a:noFill/>
        </p:spPr>
        <p:txBody>
          <a:bodyPr wrap="square" lIns="0" rIns="0" tIns="0" bIns="0" anchor="t">
            <a:spAutoFit/>
          </a:bodyPr>
          <a:lstStyle/>
          <a:p>
            <a:pPr algn="l"/>
            <a:r>
              <a:rPr sz="1050" b="0" i="0">
                <a:solidFill>
                  <a:srgbClr val="5A6875"/>
                </a:solidFill>
                <a:latin typeface="Open Sans"/>
              </a:rPr>
              <a:t>5 × 2 FMA/cycle = 10 accumulators = 80 outputs; 1 accumulator = 10% of peak.</a:t>
            </a:r>
          </a:p>
        </p:txBody>
      </p:sp>
      <p:sp>
        <p:nvSpPr>
          <p:cNvPr id="11" name="Oval 10"/>
          <p:cNvSpPr/>
          <p:nvPr/>
        </p:nvSpPr>
        <p:spPr>
          <a:xfrm>
            <a:off x="457200" y="2624327"/>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624327"/>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3</a:t>
            </a:r>
          </a:p>
        </p:txBody>
      </p:sp>
      <p:sp>
        <p:nvSpPr>
          <p:cNvPr id="13" name="TextBox 12"/>
          <p:cNvSpPr txBox="1"/>
          <p:nvPr/>
        </p:nvSpPr>
        <p:spPr>
          <a:xfrm>
            <a:off x="914400" y="2587751"/>
            <a:ext cx="3291840" cy="256032"/>
          </a:xfrm>
          <a:prstGeom prst="rect">
            <a:avLst/>
          </a:prstGeom>
          <a:noFill/>
        </p:spPr>
        <p:txBody>
          <a:bodyPr wrap="square" lIns="0" rIns="0" tIns="0" bIns="0" anchor="t">
            <a:spAutoFit/>
          </a:bodyPr>
          <a:lstStyle/>
          <a:p>
            <a:pPr algn="l"/>
            <a:r>
              <a:rPr sz="1300" b="1" i="0">
                <a:solidFill>
                  <a:srgbClr val="1B2630"/>
                </a:solidFill>
                <a:latin typeface="Open Sans"/>
              </a:rPr>
              <a:t>Kernel size</a:t>
            </a:r>
          </a:p>
        </p:txBody>
      </p:sp>
      <p:sp>
        <p:nvSpPr>
          <p:cNvPr id="14" name="TextBox 13"/>
          <p:cNvSpPr txBox="1"/>
          <p:nvPr/>
        </p:nvSpPr>
        <p:spPr>
          <a:xfrm>
            <a:off x="914400" y="2852927"/>
            <a:ext cx="3291840" cy="475488"/>
          </a:xfrm>
          <a:prstGeom prst="rect">
            <a:avLst/>
          </a:prstGeom>
          <a:noFill/>
        </p:spPr>
        <p:txBody>
          <a:bodyPr wrap="square" lIns="0" rIns="0" tIns="0" bIns="0" anchor="t">
            <a:spAutoFit/>
          </a:bodyPr>
          <a:lstStyle/>
          <a:p>
            <a:pPr algn="l"/>
            <a:r>
              <a:rPr sz="1050" b="0" i="0">
                <a:solidFill>
                  <a:srgbClr val="5A6875"/>
                </a:solidFill>
                <a:latin typeface="Open Sans"/>
              </a:rPr>
              <a:t>2×5 tile: 10 acc + 2 weights + 1 broadcast = 13 regs; 7 loads per 10 FMAs.</a:t>
            </a:r>
          </a:p>
        </p:txBody>
      </p:sp>
      <p:sp>
        <p:nvSpPr>
          <p:cNvPr id="15" name="Oval 14"/>
          <p:cNvSpPr/>
          <p:nvPr/>
        </p:nvSpPr>
        <p:spPr>
          <a:xfrm>
            <a:off x="457200" y="3401568"/>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401568"/>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4</a:t>
            </a:r>
          </a:p>
        </p:txBody>
      </p:sp>
      <p:sp>
        <p:nvSpPr>
          <p:cNvPr id="17" name="TextBox 16"/>
          <p:cNvSpPr txBox="1"/>
          <p:nvPr/>
        </p:nvSpPr>
        <p:spPr>
          <a:xfrm>
            <a:off x="914400" y="3364991"/>
            <a:ext cx="3291840" cy="256032"/>
          </a:xfrm>
          <a:prstGeom prst="rect">
            <a:avLst/>
          </a:prstGeom>
          <a:noFill/>
        </p:spPr>
        <p:txBody>
          <a:bodyPr wrap="square" lIns="0" rIns="0" tIns="0" bIns="0" anchor="t">
            <a:spAutoFit/>
          </a:bodyPr>
          <a:lstStyle/>
          <a:p>
            <a:pPr algn="l"/>
            <a:r>
              <a:rPr sz="1300" b="1" i="0">
                <a:solidFill>
                  <a:srgbClr val="1B2630"/>
                </a:solidFill>
                <a:latin typeface="Open Sans"/>
              </a:rPr>
              <a:t>Benchmark like A2</a:t>
            </a:r>
          </a:p>
        </p:txBody>
      </p:sp>
      <p:sp>
        <p:nvSpPr>
          <p:cNvPr id="18" name="TextBox 17"/>
          <p:cNvSpPr txBox="1"/>
          <p:nvPr/>
        </p:nvSpPr>
        <p:spPr>
          <a:xfrm>
            <a:off x="914400" y="3630168"/>
            <a:ext cx="3291840" cy="475488"/>
          </a:xfrm>
          <a:prstGeom prst="rect">
            <a:avLst/>
          </a:prstGeom>
          <a:noFill/>
        </p:spPr>
        <p:txBody>
          <a:bodyPr wrap="square" lIns="0" rIns="0" tIns="0" bIns="0" anchor="t">
            <a:spAutoFit/>
          </a:bodyPr>
          <a:lstStyle/>
          <a:p>
            <a:pPr algn="l"/>
            <a:r>
              <a:rPr sz="1050" b="0" i="0">
                <a:solidFill>
                  <a:srgbClr val="5A6875"/>
                </a:solidFill>
                <a:latin typeface="Open Sans"/>
              </a:rPr>
              <a:t>Kernel alone, k = 72 to 4608, 3 runs, 2 s warm-up, cycles at 3.4 GHz, checked.</a:t>
            </a:r>
          </a:p>
        </p:txBody>
      </p:sp>
      <p:graphicFrame>
        <p:nvGraphicFramePr>
          <p:cNvPr id="19" name="Chart 18"/>
          <p:cNvGraphicFramePr>
            <a:graphicFrameLocks noGrp="1"/>
          </p:cNvGraphicFramePr>
          <p:nvPr/>
        </p:nvGraphicFramePr>
        <p:xfrm>
          <a:off x="4389120" y="960120"/>
          <a:ext cx="4297680" cy="3246120"/>
        </p:xfrm>
        <a:graphic>
          <a:graphicData uri="http://schemas.openxmlformats.org/drawingml/2006/chart">
            <c:chart xmlns:c="http://schemas.openxmlformats.org/drawingml/2006/chart" r:id="rId3"/>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Same math, 50% to 95%: tile and register allocation</a:t>
            </a:r>
          </a:p>
        </p:txBody>
      </p:sp>
      <p:pic>
        <p:nvPicPr>
          <p:cNvPr id="3" name="Picture 2" descr="ukr_design_space.png"/>
          <p:cNvPicPr>
            <a:picLocks noChangeAspect="1"/>
          </p:cNvPicPr>
          <p:nvPr/>
        </p:nvPicPr>
        <p:blipFill>
          <a:blip r:embed="rId3"/>
          <a:stretch>
            <a:fillRect/>
          </a:stretch>
        </p:blipFill>
        <p:spPr>
          <a:xfrm>
            <a:off x="457200" y="1005840"/>
            <a:ext cx="5883088" cy="3200400"/>
          </a:xfrm>
          <a:prstGeom prst="rect">
            <a:avLst/>
          </a:prstGeom>
        </p:spPr>
      </p:pic>
      <p:sp>
        <p:nvSpPr>
          <p:cNvPr id="4" name="ds-card-0"/>
          <p:cNvSpPr/>
          <p:nvPr/>
        </p:nvSpPr>
        <p:spPr>
          <a:xfrm>
            <a:off x="6446520" y="1005840"/>
            <a:ext cx="2240280" cy="96012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56248" y="1078992"/>
            <a:ext cx="2011680" cy="256032"/>
          </a:xfrm>
          <a:prstGeom prst="rect">
            <a:avLst/>
          </a:prstGeom>
          <a:noFill/>
        </p:spPr>
        <p:txBody>
          <a:bodyPr wrap="square" lIns="0" rIns="0" tIns="0" bIns="0" anchor="t">
            <a:spAutoFit/>
          </a:bodyPr>
          <a:lstStyle/>
          <a:p>
            <a:pPr algn="l"/>
            <a:r>
              <a:rPr sz="1200" b="1" i="0">
                <a:solidFill>
                  <a:srgbClr val="1B2630"/>
                </a:solidFill>
                <a:latin typeface="Open Sans"/>
              </a:rPr>
              <a:t>Intrinsics</a:t>
            </a:r>
          </a:p>
        </p:txBody>
      </p:sp>
      <p:sp>
        <p:nvSpPr>
          <p:cNvPr id="6" name="TextBox 5"/>
          <p:cNvSpPr txBox="1"/>
          <p:nvPr/>
        </p:nvSpPr>
        <p:spPr>
          <a:xfrm>
            <a:off x="6556248" y="1371600"/>
            <a:ext cx="2011680" cy="548640"/>
          </a:xfrm>
          <a:prstGeom prst="rect">
            <a:avLst/>
          </a:prstGeom>
          <a:noFill/>
        </p:spPr>
        <p:txBody>
          <a:bodyPr wrap="square" lIns="0" rIns="0" tIns="0" bIns="0" anchor="t">
            <a:spAutoFit/>
          </a:bodyPr>
          <a:lstStyle/>
          <a:p>
            <a:pPr algn="l"/>
            <a:r>
              <a:rPr sz="1100" b="0" i="0">
                <a:solidFill>
                  <a:srgbClr val="5A6875"/>
                </a:solidFill>
                <a:latin typeface="Open Sans"/>
              </a:rPr>
              <a:t>GCC: clean at 13 regs, copies at 15, spills at 16</a:t>
            </a:r>
          </a:p>
        </p:txBody>
      </p:sp>
      <p:sp>
        <p:nvSpPr>
          <p:cNvPr id="7" name="ds-card-1"/>
          <p:cNvSpPr/>
          <p:nvPr/>
        </p:nvSpPr>
        <p:spPr>
          <a:xfrm>
            <a:off x="6446520" y="2084832"/>
            <a:ext cx="2240280" cy="960120"/>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56248" y="2157984"/>
            <a:ext cx="2011680" cy="256032"/>
          </a:xfrm>
          <a:prstGeom prst="rect">
            <a:avLst/>
          </a:prstGeom>
          <a:noFill/>
        </p:spPr>
        <p:txBody>
          <a:bodyPr wrap="square" lIns="0" rIns="0" tIns="0" bIns="0" anchor="t">
            <a:spAutoFit/>
          </a:bodyPr>
          <a:lstStyle/>
          <a:p>
            <a:pPr algn="l"/>
            <a:r>
              <a:rPr sz="1200" b="1" i="0">
                <a:solidFill>
                  <a:srgbClr val="BB0027"/>
                </a:solidFill>
                <a:latin typeface="Open Sans"/>
              </a:rPr>
              <a:t>Inline asm</a:t>
            </a:r>
          </a:p>
        </p:txBody>
      </p:sp>
      <p:sp>
        <p:nvSpPr>
          <p:cNvPr id="9" name="TextBox 8"/>
          <p:cNvSpPr txBox="1"/>
          <p:nvPr/>
        </p:nvSpPr>
        <p:spPr>
          <a:xfrm>
            <a:off x="6556248" y="2450592"/>
            <a:ext cx="2011680" cy="548640"/>
          </a:xfrm>
          <a:prstGeom prst="rect">
            <a:avLst/>
          </a:prstGeom>
          <a:noFill/>
        </p:spPr>
        <p:txBody>
          <a:bodyPr wrap="square" lIns="0" rIns="0" tIns="0" bIns="0" anchor="t">
            <a:spAutoFit/>
          </a:bodyPr>
          <a:lstStyle/>
          <a:p>
            <a:pPr algn="l"/>
            <a:r>
              <a:rPr sz="1100" b="0" i="0">
                <a:solidFill>
                  <a:srgbClr val="5A6875"/>
                </a:solidFill>
                <a:latin typeface="Open Sans"/>
              </a:rPr>
              <a:t>2×6 by hand: 95% alone, 84% in layers</a:t>
            </a:r>
          </a:p>
        </p:txBody>
      </p:sp>
      <p:sp>
        <p:nvSpPr>
          <p:cNvPr id="10" name="ds-card-2"/>
          <p:cNvSpPr/>
          <p:nvPr/>
        </p:nvSpPr>
        <p:spPr>
          <a:xfrm>
            <a:off x="6446520" y="3163824"/>
            <a:ext cx="2240280" cy="96012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56248" y="3236976"/>
            <a:ext cx="2011680" cy="256032"/>
          </a:xfrm>
          <a:prstGeom prst="rect">
            <a:avLst/>
          </a:prstGeom>
          <a:noFill/>
        </p:spPr>
        <p:txBody>
          <a:bodyPr wrap="square" lIns="0" rIns="0" tIns="0" bIns="0" anchor="t">
            <a:spAutoFit/>
          </a:bodyPr>
          <a:lstStyle/>
          <a:p>
            <a:pPr algn="l"/>
            <a:r>
              <a:rPr sz="1200" b="1" i="0">
                <a:solidFill>
                  <a:srgbClr val="1B2630"/>
                </a:solidFill>
                <a:latin typeface="Open Sans"/>
              </a:rPr>
              <a:t>Unroll, pipeline</a:t>
            </a:r>
          </a:p>
        </p:txBody>
      </p:sp>
      <p:sp>
        <p:nvSpPr>
          <p:cNvPr id="12" name="TextBox 11"/>
          <p:cNvSpPr txBox="1"/>
          <p:nvPr/>
        </p:nvSpPr>
        <p:spPr>
          <a:xfrm>
            <a:off x="6556248" y="3529584"/>
            <a:ext cx="2011680" cy="548640"/>
          </a:xfrm>
          <a:prstGeom prst="rect">
            <a:avLst/>
          </a:prstGeom>
          <a:noFill/>
        </p:spPr>
        <p:txBody>
          <a:bodyPr wrap="square" lIns="0" rIns="0" tIns="0" bIns="0" anchor="t">
            <a:spAutoFit/>
          </a:bodyPr>
          <a:lstStyle/>
          <a:p>
            <a:pPr algn="l"/>
            <a:r>
              <a:rPr sz="1100" b="0" i="0">
                <a:solidFill>
                  <a:srgbClr val="5A6875"/>
                </a:solidFill>
                <a:latin typeface="Open Sans"/>
              </a:rPr>
              <a:t>lost: uop cache, spills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Benchmarked like Assignment 2: FLOPs/cycle vs k</a:t>
            </a:r>
          </a:p>
        </p:txBody>
      </p:sp>
      <p:pic>
        <p:nvPicPr>
          <p:cNvPr id="3" name="Picture 2" descr="ukr_sweep_nosilu_34.png"/>
          <p:cNvPicPr>
            <a:picLocks noChangeAspect="1"/>
          </p:cNvPicPr>
          <p:nvPr/>
        </p:nvPicPr>
        <p:blipFill>
          <a:blip r:embed="rId3"/>
          <a:stretch>
            <a:fillRect/>
          </a:stretch>
        </p:blipFill>
        <p:spPr>
          <a:xfrm>
            <a:off x="457200" y="960120"/>
            <a:ext cx="5486400" cy="2926080"/>
          </a:xfrm>
          <a:prstGeom prst="rect">
            <a:avLst/>
          </a:prstGeom>
        </p:spPr>
      </p:pic>
      <p:sp>
        <p:nvSpPr>
          <p:cNvPr id="4" name="TextBox 3"/>
          <p:cNvSpPr txBox="1"/>
          <p:nvPr/>
        </p:nvSpPr>
        <p:spPr>
          <a:xfrm>
            <a:off x="457200" y="3931920"/>
            <a:ext cx="5486400" cy="274320"/>
          </a:xfrm>
          <a:prstGeom prst="rect">
            <a:avLst/>
          </a:prstGeom>
          <a:noFill/>
        </p:spPr>
        <p:txBody>
          <a:bodyPr wrap="square" lIns="0" rIns="0" tIns="0" bIns="0" anchor="t">
            <a:spAutoFit/>
          </a:bodyPr>
          <a:lstStyle/>
          <a:p>
            <a:pPr algn="l"/>
            <a:r>
              <a:rPr sz="1000" b="0" i="0">
                <a:solidFill>
                  <a:srgbClr val="5A6875"/>
                </a:solidFill>
                <a:latin typeface="Open Sans"/>
              </a:rPr>
              <a:t>SiLU off, cycles = time × 3.4 GHz, as in A2. 3 runs, every point checked (576 pass).</a:t>
            </a:r>
          </a:p>
        </p:txBody>
      </p:sp>
      <p:sp>
        <p:nvSpPr>
          <p:cNvPr id="5" name="TextBox 4"/>
          <p:cNvSpPr txBox="1"/>
          <p:nvPr/>
        </p:nvSpPr>
        <p:spPr>
          <a:xfrm>
            <a:off x="6172200" y="960120"/>
            <a:ext cx="2514600" cy="548640"/>
          </a:xfrm>
          <a:prstGeom prst="rect">
            <a:avLst/>
          </a:prstGeom>
          <a:noFill/>
        </p:spPr>
        <p:txBody>
          <a:bodyPr wrap="square" lIns="0" rIns="0" tIns="0" bIns="0" anchor="t">
            <a:spAutoFit/>
          </a:bodyPr>
          <a:lstStyle/>
          <a:p>
            <a:pPr algn="l"/>
            <a:r>
              <a:rPr sz="3000" b="1" i="0">
                <a:solidFill>
                  <a:srgbClr val="BB0027"/>
                </a:solidFill>
                <a:latin typeface="Open Sans"/>
              </a:rPr>
              <a:t>94–97%</a:t>
            </a:r>
          </a:p>
        </p:txBody>
      </p:sp>
      <p:sp>
        <p:nvSpPr>
          <p:cNvPr id="6" name="TextBox 5"/>
          <p:cNvSpPr txBox="1"/>
          <p:nvPr/>
        </p:nvSpPr>
        <p:spPr>
          <a:xfrm>
            <a:off x="6172200" y="1527048"/>
            <a:ext cx="2514600" cy="548640"/>
          </a:xfrm>
          <a:prstGeom prst="rect">
            <a:avLst/>
          </a:prstGeom>
          <a:noFill/>
        </p:spPr>
        <p:txBody>
          <a:bodyPr wrap="square" lIns="0" rIns="0" tIns="0" bIns="0" anchor="t">
            <a:spAutoFit/>
          </a:bodyPr>
          <a:lstStyle/>
          <a:p>
            <a:pPr algn="l"/>
            <a:r>
              <a:rPr sz="1200" b="0" i="0">
                <a:solidFill>
                  <a:srgbClr val="5A6875"/>
                </a:solidFill>
                <a:latin typeface="Open Sans"/>
              </a:rPr>
              <a:t>2×6 asm: 30–31 FLOPs/cycle, ~102 GFLOP/s on one core</a:t>
            </a:r>
          </a:p>
        </p:txBody>
      </p:sp>
      <p:sp>
        <p:nvSpPr>
          <p:cNvPr id="7" name="TextBox 6"/>
          <p:cNvSpPr txBox="1"/>
          <p:nvPr/>
        </p:nvSpPr>
        <p:spPr>
          <a:xfrm>
            <a:off x="6172200" y="2011680"/>
            <a:ext cx="2514600" cy="548640"/>
          </a:xfrm>
          <a:prstGeom prst="rect">
            <a:avLst/>
          </a:prstGeom>
          <a:noFill/>
        </p:spPr>
        <p:txBody>
          <a:bodyPr wrap="square" lIns="0" rIns="0" tIns="0" bIns="0" anchor="t">
            <a:spAutoFit/>
          </a:bodyPr>
          <a:lstStyle/>
          <a:p>
            <a:pPr algn="l"/>
            <a:r>
              <a:rPr sz="3000" b="1" i="0">
                <a:solidFill>
                  <a:srgbClr val="6B7782"/>
                </a:solidFill>
                <a:latin typeface="Open Sans"/>
              </a:rPr>
              <a:t>83–89%</a:t>
            </a:r>
          </a:p>
        </p:txBody>
      </p:sp>
      <p:sp>
        <p:nvSpPr>
          <p:cNvPr id="8" name="TextBox 7"/>
          <p:cNvSpPr txBox="1"/>
          <p:nvPr/>
        </p:nvSpPr>
        <p:spPr>
          <a:xfrm>
            <a:off x="6172200" y="2578608"/>
            <a:ext cx="2514600" cy="548640"/>
          </a:xfrm>
          <a:prstGeom prst="rect">
            <a:avLst/>
          </a:prstGeom>
          <a:noFill/>
        </p:spPr>
        <p:txBody>
          <a:bodyPr wrap="square" lIns="0" rIns="0" tIns="0" bIns="0" anchor="t">
            <a:spAutoFit/>
          </a:bodyPr>
          <a:lstStyle/>
          <a:p>
            <a:pPr algn="l"/>
            <a:r>
              <a:rPr sz="1200" b="0" i="0">
                <a:solidFill>
                  <a:srgbClr val="5A6875"/>
                </a:solidFill>
                <a:latin typeface="Open Sans"/>
              </a:rPr>
              <a:t>2×5 intrinsics (v2's tile)</a:t>
            </a:r>
          </a:p>
        </p:txBody>
      </p:sp>
      <p:sp>
        <p:nvSpPr>
          <p:cNvPr id="9" name="TextBox 8"/>
          <p:cNvSpPr txBox="1"/>
          <p:nvPr/>
        </p:nvSpPr>
        <p:spPr>
          <a:xfrm>
            <a:off x="6172200" y="3063240"/>
            <a:ext cx="2514600" cy="548640"/>
          </a:xfrm>
          <a:prstGeom prst="rect">
            <a:avLst/>
          </a:prstGeom>
          <a:noFill/>
        </p:spPr>
        <p:txBody>
          <a:bodyPr wrap="square" lIns="0" rIns="0" tIns="0" bIns="0" anchor="t">
            <a:spAutoFit/>
          </a:bodyPr>
          <a:lstStyle/>
          <a:p>
            <a:pPr algn="l"/>
            <a:r>
              <a:rPr sz="3000" b="1" i="0">
                <a:solidFill>
                  <a:srgbClr val="B7731A"/>
                </a:solidFill>
                <a:latin typeface="Open Sans"/>
              </a:rPr>
              <a:t>k ≈ 500</a:t>
            </a:r>
          </a:p>
        </p:txBody>
      </p:sp>
      <p:sp>
        <p:nvSpPr>
          <p:cNvPr id="10" name="TextBox 9"/>
          <p:cNvSpPr txBox="1"/>
          <p:nvPr/>
        </p:nvSpPr>
        <p:spPr>
          <a:xfrm>
            <a:off x="6172200" y="3630168"/>
            <a:ext cx="2514600" cy="548640"/>
          </a:xfrm>
          <a:prstGeom prst="rect">
            <a:avLst/>
          </a:prstGeom>
          <a:noFill/>
        </p:spPr>
        <p:txBody>
          <a:bodyPr wrap="square" lIns="0" rIns="0" tIns="0" bIns="0" anchor="t">
            <a:spAutoFit/>
          </a:bodyPr>
          <a:lstStyle/>
          <a:p>
            <a:pPr algn="l"/>
            <a:r>
              <a:rPr sz="1200" b="0" i="0">
                <a:solidFill>
                  <a:srgbClr val="5A6875"/>
                </a:solidFill>
                <a:latin typeface="Open Sans"/>
              </a:rPr>
              <a:t>L1 dip: 2×5 weights pass 32 KB, like k ≈ 315 in A2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Alone vs in a layer: keep the kernel a function</a:t>
            </a:r>
          </a:p>
        </p:txBody>
      </p:sp>
      <p:sp>
        <p:nvSpPr>
          <p:cNvPr id="3" name="TextBox 2"/>
          <p:cNvSpPr txBox="1"/>
          <p:nvPr/>
        </p:nvSpPr>
        <p:spPr>
          <a:xfrm>
            <a:off x="457200" y="1005840"/>
            <a:ext cx="4206240" cy="502920"/>
          </a:xfrm>
          <a:prstGeom prst="rect">
            <a:avLst/>
          </a:prstGeom>
          <a:noFill/>
        </p:spPr>
        <p:txBody>
          <a:bodyPr wrap="square" lIns="0" rIns="0" tIns="0" bIns="0" anchor="t">
            <a:spAutoFit/>
          </a:bodyPr>
          <a:lstStyle/>
          <a:p>
            <a:pPr algn="l"/>
            <a:r>
              <a:rPr sz="1300" b="1" i="0">
                <a:solidFill>
                  <a:srgbClr val="1B2630"/>
                </a:solidFill>
                <a:latin typeface="Open Sans"/>
              </a:rPr>
              <a:t>v2a (2×5 asm): 92.2% alone, 72.5% when GCC inlines it into the layer loop</a:t>
            </a:r>
          </a:p>
        </p:txBody>
      </p:sp>
      <p:sp>
        <p:nvSpPr>
          <p:cNvPr id="4" name="spill-code"/>
          <p:cNvSpPr/>
          <p:nvPr/>
        </p:nvSpPr>
        <p:spPr>
          <a:xfrm>
            <a:off x="457200" y="1600200"/>
            <a:ext cx="4206240" cy="86868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64208"/>
            <a:ext cx="4023360" cy="749808"/>
          </a:xfrm>
          <a:prstGeom prst="rect">
            <a:avLst/>
          </a:prstGeom>
          <a:noFill/>
        </p:spPr>
        <p:txBody>
          <a:bodyPr wrap="square" lIns="0" rIns="0" tIns="0" bIns="0" anchor="ctr">
            <a:spAutoFit/>
          </a:bodyPr>
          <a:lstStyle/>
          <a:p>
            <a:pPr algn="l"/>
            <a:r>
              <a:rPr sz="1050" b="0" i="0">
                <a:solidFill>
                  <a:srgbClr val="1B2630"/>
                </a:solidFill>
                <a:latin typeface="Courier New"/>
              </a:rPr>
              <a:t>vmovaps 168(%rsp), %ymm1   # reload acc</a:t>
            </a:r>
          </a:p>
          <a:p>
            <a:pPr algn="l">
              <a:spcBef>
                <a:spcPts val="600"/>
              </a:spcBef>
            </a:pPr>
            <a:r>
              <a:rPr sz="1050" b="0" i="0">
                <a:solidFill>
                  <a:srgbClr val="1B2630"/>
                </a:solidFill>
                <a:latin typeface="Courier New"/>
              </a:rPr>
              <a:t>  ...asm block: 80 FMAs...</a:t>
            </a:r>
          </a:p>
          <a:p>
            <a:pPr algn="l">
              <a:spcBef>
                <a:spcPts val="600"/>
              </a:spcBef>
            </a:pPr>
            <a:r>
              <a:rPr sz="1050" b="0" i="0">
                <a:solidFill>
                  <a:srgbClr val="1B2630"/>
                </a:solidFill>
                <a:latin typeface="Courier New"/>
              </a:rPr>
              <a:t>vmovaps %ymm1, 168(%rsp)   # store acc</a:t>
            </a:r>
          </a:p>
        </p:txBody>
      </p:sp>
      <p:sp>
        <p:nvSpPr>
          <p:cNvPr id="6" name="TextBox 5"/>
          <p:cNvSpPr txBox="1"/>
          <p:nvPr/>
        </p:nvSpPr>
        <p:spPr>
          <a:xfrm>
            <a:off x="457200" y="2578608"/>
            <a:ext cx="4206240" cy="777240"/>
          </a:xfrm>
          <a:prstGeom prst="rect">
            <a:avLst/>
          </a:prstGeom>
          <a:noFill/>
        </p:spPr>
        <p:txBody>
          <a:bodyPr wrap="square" lIns="0" rIns="0" tIns="0" bIns="0" anchor="t">
            <a:spAutoFit/>
          </a:bodyPr>
          <a:lstStyle/>
          <a:p>
            <a:pPr algn="l"/>
            <a:r>
              <a:rPr sz="1150" b="0" i="0">
                <a:solidFill>
                  <a:srgbClr val="5A6875"/>
                </a:solidFill>
                <a:latin typeface="Open Sans"/>
              </a:rPr>
              <a:t>Inlined, GCC keeps 3 of 10 accumulators on the stack around every tap. Called as a function, as in the benchmark: 83.1% (v2b); with the 2×6 tile, 83.7% (v10).</a:t>
            </a:r>
          </a:p>
        </p:txBody>
      </p:sp>
      <p:sp>
        <p:nvSpPr>
          <p:cNvPr id="7" name="TextBox 6"/>
          <p:cNvSpPr txBox="1"/>
          <p:nvPr/>
        </p:nvSpPr>
        <p:spPr>
          <a:xfrm>
            <a:off x="457200" y="3474720"/>
            <a:ext cx="4206240" cy="685800"/>
          </a:xfrm>
          <a:prstGeom prst="rect">
            <a:avLst/>
          </a:prstGeom>
          <a:noFill/>
        </p:spPr>
        <p:txBody>
          <a:bodyPr wrap="square" lIns="0" rIns="0" tIns="0" bIns="0" anchor="t">
            <a:spAutoFit/>
          </a:bodyPr>
          <a:lstStyle/>
          <a:p>
            <a:pPr algn="l"/>
            <a:r>
              <a:rPr sz="1150" b="0" i="1">
                <a:solidFill>
                  <a:srgbClr val="BB0027"/>
                </a:solidFill>
                <a:latin typeface="Open Sans"/>
              </a:rPr>
              <a:t>Next: cache blocking for C ≥ 128 (the 4×3 drop-off), NUMA-aware threads (v10 on 20 cores: 4.74 ms).</a:t>
            </a:r>
          </a:p>
        </p:txBody>
      </p:sp>
      <p:graphicFrame>
        <p:nvGraphicFramePr>
          <p:cNvPr id="8" name="Chart 7"/>
          <p:cNvGraphicFramePr>
            <a:graphicFrameLocks noGrp="1"/>
          </p:cNvGraphicFramePr>
          <p:nvPr/>
        </p:nvGraphicFramePr>
        <p:xfrm>
          <a:off x="4846320" y="960120"/>
          <a:ext cx="3840480" cy="3246120"/>
        </p:xfrm>
        <a:graphic>
          <a:graphicData uri="http://schemas.openxmlformats.org/drawingml/2006/chart">
            <c:chart xmlns:c="http://schemas.openxmlformats.org/drawingml/2006/chart" r:id="rId3"/>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same sweeps with SiLU on</a:t>
            </a:r>
          </a:p>
        </p:txBody>
      </p:sp>
      <p:pic>
        <p:nvPicPr>
          <p:cNvPr id="3" name="Picture 2" descr="ukr_sweep_2x6_34.png"/>
          <p:cNvPicPr>
            <a:picLocks noChangeAspect="1"/>
          </p:cNvPicPr>
          <p:nvPr/>
        </p:nvPicPr>
        <p:blipFill>
          <a:blip r:embed="rId3"/>
          <a:stretch>
            <a:fillRect/>
          </a:stretch>
        </p:blipFill>
        <p:spPr>
          <a:xfrm>
            <a:off x="457200" y="1051560"/>
            <a:ext cx="4023360" cy="2145792"/>
          </a:xfrm>
          <a:prstGeom prst="rect">
            <a:avLst/>
          </a:prstGeom>
        </p:spPr>
      </p:pic>
      <p:pic>
        <p:nvPicPr>
          <p:cNvPr id="4" name="Picture 3" descr="ukr_sweep_34.png"/>
          <p:cNvPicPr>
            <a:picLocks noChangeAspect="1"/>
          </p:cNvPicPr>
          <p:nvPr/>
        </p:nvPicPr>
        <p:blipFill>
          <a:blip r:embed="rId4"/>
          <a:stretch>
            <a:fillRect/>
          </a:stretch>
        </p:blipFill>
        <p:spPr>
          <a:xfrm>
            <a:off x="4663440" y="1051560"/>
            <a:ext cx="4023360" cy="2145792"/>
          </a:xfrm>
          <a:prstGeom prst="rect">
            <a:avLst/>
          </a:prstGeom>
        </p:spPr>
      </p:pic>
      <p:sp>
        <p:nvSpPr>
          <p:cNvPr id="5" name="TextBox 4"/>
          <p:cNvSpPr txBox="1"/>
          <p:nvPr/>
        </p:nvSpPr>
        <p:spPr>
          <a:xfrm>
            <a:off x="457200" y="3291840"/>
            <a:ext cx="4023360" cy="640080"/>
          </a:xfrm>
          <a:prstGeom prst="rect">
            <a:avLst/>
          </a:prstGeom>
          <a:noFill/>
        </p:spPr>
        <p:txBody>
          <a:bodyPr wrap="square" lIns="0" rIns="0" tIns="0" bIns="0" anchor="t">
            <a:spAutoFit/>
          </a:bodyPr>
          <a:lstStyle/>
          <a:p>
            <a:pPr algn="l"/>
            <a:r>
              <a:rPr sz="1050" b="0" i="0">
                <a:solidFill>
                  <a:srgbClr val="5A6875"/>
                </a:solidFill>
                <a:latin typeface="Open Sans"/>
              </a:rPr>
              <a:t>2×6 asm 90.2% mean (C = 32–256); 2×5 81.4%. SiLU costs a fixed 160–290 cycles per call.</a:t>
            </a:r>
          </a:p>
        </p:txBody>
      </p:sp>
      <p:sp>
        <p:nvSpPr>
          <p:cNvPr id="6" name="TextBox 5"/>
          <p:cNvSpPr txBox="1"/>
          <p:nvPr/>
        </p:nvSpPr>
        <p:spPr>
          <a:xfrm>
            <a:off x="4663440" y="3291840"/>
            <a:ext cx="4023360" cy="640080"/>
          </a:xfrm>
          <a:prstGeom prst="rect">
            <a:avLst/>
          </a:prstGeom>
          <a:noFill/>
        </p:spPr>
        <p:txBody>
          <a:bodyPr wrap="square" lIns="0" rIns="0" tIns="0" bIns="0" anchor="t">
            <a:spAutoFit/>
          </a:bodyPr>
          <a:lstStyle/>
          <a:p>
            <a:pPr algn="l"/>
            <a:r>
              <a:rPr sz="1050" b="0" i="0">
                <a:solidFill>
                  <a:srgbClr val="5A6875"/>
                </a:solidFill>
                <a:latin typeface="Open Sans"/>
              </a:rPr>
              <a:t>4×3 asm: best 87.5% at C = 120, 57% at C = 256: its weights leave L2 (cache blocking fixes this).</a:t>
            </a:r>
          </a:p>
        </p:txBody>
      </p:sp>
    </p:spTree>
  </p:cSld>
  <p:clrMapOvr>
    <a:masterClrMapping/>
  </p:clrMapOvr>
</p:sld>
</file>

<file path=ppt/theme/theme1.xml><?xml version="1.0" encoding="utf-8"?>
<a:theme xmlns:a="http://schemas.openxmlformats.org/drawingml/2006/main" xmlns:r="http://schemas.openxmlformats.org/officeDocument/2006/relationships" name="CMU PPT Theme">
  <a:themeElements>
    <a:clrScheme name="Custom 1">
      <a:dk1>
        <a:srgbClr val="000000"/>
      </a:dk1>
      <a:lt1>
        <a:srgbClr val="FFFFFF"/>
      </a:lt1>
      <a:dk2>
        <a:srgbClr val="75787B"/>
      </a:dk2>
      <a:lt2>
        <a:srgbClr val="C8C9C7"/>
      </a:lt2>
      <a:accent1>
        <a:srgbClr val="BB0000"/>
      </a:accent1>
      <a:accent2>
        <a:srgbClr val="75787B"/>
      </a:accent2>
      <a:accent3>
        <a:srgbClr val="00833C"/>
      </a:accent3>
      <a:accent4>
        <a:srgbClr val="F2A900"/>
      </a:accent4>
      <a:accent5>
        <a:srgbClr val="002C71"/>
      </a:accent5>
      <a:accent6>
        <a:srgbClr val="C8C9C7"/>
      </a:accent6>
      <a:hlink>
        <a:srgbClr val="BB0000"/>
      </a:hlink>
      <a:folHlink>
        <a:srgbClr val="8200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