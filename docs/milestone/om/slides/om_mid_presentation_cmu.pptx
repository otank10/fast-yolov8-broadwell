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7"/>
    <p:sldId id="257" r:id="rId6"/>
    <p:sldId id="258" r:id="rId20"/>
    <p:sldId id="259" r:id="rId21"/>
    <p:sldId id="260" r:id="rId22"/>
    <p:sldId id="261" r:id="rId23"/>
    <p:sldId id="262" r:id="rId24"/>
    <p:sldId id="263" r:id="rId25"/>
    <p:sldId id="264" r:id="rId26"/>
    <p:sldId id="265" r:id="rId27"/>
  </p:sldIdLst>
  <p:sldSz cy="5143500" cx="9144000"/>
  <p:notesSz cx="6858000" cy="9144000"/>
  <p:embeddedFontLst>
    <p:embeddedFont>
      <p:font typeface="Helvetica Neue Light"/>
      <p:regular r:id="rId8"/>
      <p:bold r:id="rId9"/>
      <p:italic r:id="rId10"/>
      <p:boldItalic r:id="rId11"/>
    </p:embeddedFont>
    <p:embeddedFont>
      <p:font typeface="Open Sans Light"/>
      <p:regular r:id="rId12"/>
      <p:bold r:id="rId13"/>
      <p:italic r:id="rId14"/>
      <p:boldItalic r:id="rId15"/>
    </p:embeddedFont>
    <p:embeddedFont>
      <p:font typeface="Open Sans"/>
      <p:regular r:id="rId16"/>
      <p:bold r:id="rId17"/>
      <p:italic r:id="rId18"/>
      <p:boldItalic r:id="rId1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font" Target="fonts/HelveticaNeueLight-regular.fntdata"/><Relationship Id="rId9" Type="http://schemas.openxmlformats.org/officeDocument/2006/relationships/font" Target="fonts/HelveticaNeueLight-bold.fntdata"/><Relationship Id="rId10" Type="http://schemas.openxmlformats.org/officeDocument/2006/relationships/font" Target="fonts/HelveticaNeueLight-italic.fntdata"/><Relationship Id="rId11" Type="http://schemas.openxmlformats.org/officeDocument/2006/relationships/font" Target="fonts/HelveticaNeueLight-boldItalic.fntdata"/><Relationship Id="rId12" Type="http://schemas.openxmlformats.org/officeDocument/2006/relationships/font" Target="fonts/OpenSansLight-regular.fntdata"/><Relationship Id="rId13" Type="http://schemas.openxmlformats.org/officeDocument/2006/relationships/font" Target="fonts/OpenSansLight-bold.fntdata"/><Relationship Id="rId14" Type="http://schemas.openxmlformats.org/officeDocument/2006/relationships/font" Target="fonts/OpenSansLight-italic.fntdata"/><Relationship Id="rId15" Type="http://schemas.openxmlformats.org/officeDocument/2006/relationships/font" Target="fonts/OpenSansLight-boldItalic.fntdata"/><Relationship Id="rId16" Type="http://schemas.openxmlformats.org/officeDocument/2006/relationships/font" Target="fonts/OpenSans-regular.fntdata"/><Relationship Id="rId17" Type="http://schemas.openxmlformats.org/officeDocument/2006/relationships/font" Target="fonts/OpenSans-bold.fntdata"/><Relationship Id="rId18" Type="http://schemas.openxmlformats.org/officeDocument/2006/relationships/font" Target="fonts/OpenSans-italic.fntdata"/><Relationship Id="rId19" Type="http://schemas.openxmlformats.org/officeDocument/2006/relationships/font" Target="fonts/OpenSans-boldItalic.fntdata"/><Relationship Id="rId20" Type="http://schemas.openxmlformats.org/officeDocument/2006/relationships/slide" Target="slides/slide3.xml"/><Relationship Id="rId21" Type="http://schemas.openxmlformats.org/officeDocument/2006/relationships/slide" Target="slides/slide4.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630"/>
                </a:solidFill>
                <a:latin typeface="Open Sans"/>
              </a:rPr>
              <a:t>Microkernel alone vs accumulators (C = 64, SiLU off)</a:t>
            </a:r>
          </a:p>
        </c:rich>
      </c:tx>
      <c:layout/>
      <c:overlay val="0"/>
    </c:title>
    <c:autoTitleDeleted val="0"/>
    <c:plotArea>
      <c:barChart>
        <c:barDir val="col"/>
        <c:grouping val="clustered"/>
        <c:ser>
          <c:idx val="0"/>
          <c:order val="0"/>
          <c:tx>
            <c:strRef>
              <c:f>Sheet1!$B$1</c:f>
              <c:strCache>
                <c:ptCount val="1"/>
                <c:pt idx="0">
                  <c:v>% of peak</c:v>
                </c:pt>
              </c:strCache>
            </c:strRef>
          </c:tx>
          <c:spPr>
            <a:solidFill>
              <a:srgbClr val="0C6A87"/>
            </a:solidFill>
          </c:spPr>
          <c:cat>
            <c:strRef>
              <c:f>Sheet1!$A$2:$A$7</c:f>
              <c:strCache>
                <c:ptCount val="6"/>
                <c:pt idx="0">
                  <c:v>1×1 (1)</c:v>
                </c:pt>
                <c:pt idx="1">
                  <c:v>2×2 (4)</c:v>
                </c:pt>
                <c:pt idx="2">
                  <c:v>1×5 (5)</c:v>
                </c:pt>
                <c:pt idx="3">
                  <c:v>2×4 (8)</c:v>
                </c:pt>
                <c:pt idx="4">
                  <c:v>1×10 (10)</c:v>
                </c:pt>
                <c:pt idx="5">
                  <c:v>2×5 (10)</c:v>
                </c:pt>
              </c:strCache>
            </c:strRef>
          </c:cat>
          <c:val>
            <c:numRef>
              <c:f>Sheet1!$B$2:$B$7</c:f>
              <c:numCache>
                <c:formatCode>General</c:formatCode>
                <c:ptCount val="6"/>
                <c:pt idx="0">
                  <c:v>9.9</c:v>
                </c:pt>
                <c:pt idx="1">
                  <c:v>39.3</c:v>
                </c:pt>
                <c:pt idx="2">
                  <c:v>49.6</c:v>
                </c:pt>
                <c:pt idx="3">
                  <c:v>72.4</c:v>
                </c:pt>
                <c:pt idx="4">
                  <c:v>85.8</c:v>
                </c:pt>
                <c:pt idx="5">
                  <c:v>85.3</c:v>
                </c:pt>
              </c:numCache>
            </c:numRef>
          </c:val>
        </c:ser>
        <c:dLbls>
          <c:numFmt formatCode="0&quot;%&quot;" sourceLinked="0"/>
          <c:txPr>
            <a:bodyPr/>
            <a:lstStyle/>
            <a:p>
              <a:pPr>
                <a:defRPr sz="1100">
                  <a:solidFill>
                    <a:srgbClr val="1B2630"/>
                  </a:solidFill>
                  <a:latin typeface="Open Sans"/>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noFill/>
          </a:ln>
        </c:spPr>
        <c:txPr>
          <a:bodyPr/>
          <a:lstStyle/>
          <a:p>
            <a:pPr>
              <a:defRPr sz="1000">
                <a:solidFill>
                  <a:srgbClr val="5A6875"/>
                </a:solidFill>
                <a:latin typeface="Open Sans"/>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DE3E7"/>
              </a:solidFill>
            </a:ln>
          </c:spPr>
        </c:majorGridlines>
        <c:numFmt formatCode="0&quot;%&quot;" sourceLinked="0"/>
        <c:majorTickMark val="out"/>
        <c:minorTickMark val="none"/>
        <c:tickLblPos val="nextTo"/>
        <c:spPr>
          <a:ln>
            <a:noFill/>
          </a:ln>
        </c:spPr>
        <c:txPr>
          <a:bodyPr/>
          <a:lstStyle/>
          <a:p>
            <a:pPr>
              <a:defRPr sz="1000">
                <a:solidFill>
                  <a:srgbClr val="5A6875"/>
                </a:solidFill>
                <a:latin typeface="Open Sans"/>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630"/>
                </a:solidFill>
                <a:latin typeface="Open Sans"/>
              </a:rPr>
              <a:t>Same 2×5 asm kernel, % of peak</a:t>
            </a:r>
          </a:p>
        </c:rich>
      </c:tx>
      <c:layout/>
      <c:overlay val="0"/>
    </c:title>
    <c:autoTitleDeleted val="0"/>
    <c:plotArea>
      <c:barChart>
        <c:barDir val="col"/>
        <c:grouping val="clustered"/>
        <c:ser>
          <c:idx val="0"/>
          <c:order val="0"/>
          <c:tx>
            <c:strRef>
              <c:f>Sheet1!$B$1</c:f>
              <c:strCache>
                <c:ptCount val="1"/>
                <c:pt idx="0">
                  <c:v>% of peak</c:v>
                </c:pt>
              </c:strCache>
            </c:strRef>
          </c:tx>
          <c:spPr>
            <a:solidFill>
              <a:srgbClr val="0C6A87"/>
            </a:solidFill>
          </c:spPr>
          <c:cat>
            <c:strRef>
              <c:f>Sheet1!$A$2:$A$4</c:f>
              <c:strCache>
                <c:ptCount val="3"/>
                <c:pt idx="0">
                  <c:v>alone (benchmark)</c:v>
                </c:pt>
                <c:pt idx="1">
                  <c:v>in layers, inlined</c:v>
                </c:pt>
                <c:pt idx="2">
                  <c:v>in layers, called as a function</c:v>
                </c:pt>
              </c:strCache>
            </c:strRef>
          </c:cat>
          <c:val>
            <c:numRef>
              <c:f>Sheet1!$B$2:$B$4</c:f>
              <c:numCache>
                <c:formatCode>General</c:formatCode>
                <c:ptCount val="3"/>
                <c:pt idx="0">
                  <c:v>92.2</c:v>
                </c:pt>
                <c:pt idx="1">
                  <c:v>72.5</c:v>
                </c:pt>
                <c:pt idx="2">
                  <c:v>83.1</c:v>
                </c:pt>
              </c:numCache>
            </c:numRef>
          </c:val>
        </c:ser>
        <c:dLbls>
          <c:numFmt formatCode="0.0&quot;%&quot;" sourceLinked="0"/>
          <c:txPr>
            <a:bodyPr/>
            <a:lstStyle/>
            <a:p>
              <a:pPr>
                <a:defRPr sz="1100">
                  <a:solidFill>
                    <a:srgbClr val="1B2630"/>
                  </a:solidFill>
                  <a:latin typeface="Open Sans"/>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noFill/>
          </a:ln>
        </c:spPr>
        <c:txPr>
          <a:bodyPr/>
          <a:lstStyle/>
          <a:p>
            <a:pPr>
              <a:defRPr sz="1000">
                <a:solidFill>
                  <a:srgbClr val="5A6875"/>
                </a:solidFill>
                <a:latin typeface="Open Sans"/>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DE3E7"/>
              </a:solidFill>
            </a:ln>
          </c:spPr>
        </c:majorGridlines>
        <c:numFmt formatCode="0&quot;%&quot;" sourceLinked="0"/>
        <c:majorTickMark val="out"/>
        <c:minorTickMark val="none"/>
        <c:tickLblPos val="nextTo"/>
        <c:spPr>
          <a:ln>
            <a:noFill/>
          </a:ln>
        </c:spPr>
        <c:txPr>
          <a:bodyPr/>
          <a:lstStyle/>
          <a:p>
            <a:pPr>
              <a:defRPr sz="1000">
                <a:solidFill>
                  <a:srgbClr val="5A6875"/>
                </a:solidFill>
                <a:latin typeface="Open Sans"/>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630"/>
                </a:solidFill>
                <a:latin typeface="Open Sans"/>
              </a:rPr>
              <a:t>All 32 layers, 1 core, SiLU on: ms (lower is better)</a:t>
            </a:r>
          </a:p>
        </c:rich>
      </c:tx>
      <c:layout/>
      <c:overlay val="0"/>
    </c:title>
    <c:autoTitleDeleted val="0"/>
    <c:plotArea>
      <c:barChart>
        <c:barDir val="bar"/>
        <c:grouping val="clustered"/>
        <c:ser>
          <c:idx val="0"/>
          <c:order val="0"/>
          <c:tx>
            <c:strRef>
              <c:f>Sheet1!$B$1</c:f>
              <c:strCache>
                <c:ptCount val="1"/>
                <c:pt idx="0">
                  <c:v>ms</c:v>
                </c:pt>
              </c:strCache>
            </c:strRef>
          </c:tx>
          <c:spPr>
            <a:solidFill>
              <a:srgbClr val="6B7782"/>
            </a:solidFill>
          </c:spPr>
          <c:cat>
            <c:strRef>
              <c:f>Sheet1!$A$2:$A$4</c:f>
              <c:strCache>
                <c:ptCount val="3"/>
                <c:pt idx="0">
                  <c:v>v10 (2×6 asm)</c:v>
                </c:pt>
                <c:pt idx="1">
                  <c:v>v2 (intrinsics)</c:v>
                </c:pt>
                <c:pt idx="2">
                  <c:v>OpenCV DNN</c:v>
                </c:pt>
              </c:strCache>
            </c:strRef>
          </c:cat>
          <c:val>
            <c:numRef>
              <c:f>Sheet1!$B$2:$B$4</c:f>
              <c:numCache>
                <c:formatCode>General</c:formatCode>
                <c:ptCount val="3"/>
                <c:pt idx="0">
                  <c:v>63.8</c:v>
                </c:pt>
                <c:pt idx="1">
                  <c:v>69.5</c:v>
                </c:pt>
                <c:pt idx="2">
                  <c:v>86.4</c:v>
                </c:pt>
              </c:numCache>
            </c:numRef>
          </c:val>
        </c:ser>
        <c:dLbls>
          <c:numFmt formatCode="0.0&quot; ms&quot;" sourceLinked="0"/>
          <c:txPr>
            <a:bodyPr/>
            <a:lstStyle/>
            <a:p>
              <a:pPr>
                <a:defRPr sz="1100">
                  <a:solidFill>
                    <a:srgbClr val="1B2630"/>
                  </a:solidFill>
                  <a:latin typeface="Open Sans"/>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000">
                <a:solidFill>
                  <a:srgbClr val="5A6875"/>
                </a:solidFill>
                <a:latin typeface="Open Sans"/>
              </a:defRPr>
            </a:pPr>
          </a:p>
        </c:txPr>
        <c:crossAx val="-2113994440"/>
        <c:crosses val="autoZero"/>
        <c:auto val="1"/>
        <c:lblAlgn val="ctr"/>
        <c:lblOffset val="100"/>
        <c:noMultiLvlLbl val="0"/>
      </c:catAx>
      <c:valAx>
        <c:axId val="-2113994440"/>
        <c:scaling>
          <c:max val="100.0"/>
          <c:min val="0.0"/>
        </c:scaling>
        <c:delete val="0"/>
        <c:axPos val="b"/>
        <c:majorGridlines>
          <c:spPr>
            <a:ln>
              <a:solidFill>
                <a:srgbClr val="DDE3E7"/>
              </a:solidFill>
            </a:ln>
          </c:spPr>
        </c:majorGridlines>
        <c:majorTickMark val="out"/>
        <c:minorTickMark val="none"/>
        <c:tickLblPos val="nextTo"/>
        <c:spPr>
          <a:ln>
            <a:noFill/>
          </a:ln>
        </c:spPr>
        <c:txPr>
          <a:bodyPr/>
          <a:lstStyle/>
          <a:p>
            <a:pPr>
              <a:defRPr sz="1000">
                <a:solidFill>
                  <a:srgbClr val="5A6875"/>
                </a:solidFill>
                <a:latin typeface="Open Sans"/>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4" name="Google Shape;4;n"/>
          <p:cNvSpPr txBox="1"/>
          <p:nvPr>
            <p:ph idx="10" type="dt"/>
          </p:nvPr>
        </p:nvSpPr>
        <p:spPr>
          <a:xfrm>
            <a:off x="3886200" y="0"/>
            <a:ext cx="2971800" cy="457200"/>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6" name="Google Shape;6;n"/>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1pPr>
            <a:lvl2pPr indent="-228600" lvl="1" marL="9144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2pPr>
            <a:lvl3pPr indent="-228600" lvl="2" marL="13716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3pPr>
            <a:lvl4pPr indent="-228600" lvl="3" marL="18288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4pPr>
            <a:lvl5pPr indent="-228600" lvl="4" marL="22860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6800"/>
            <a:ext cx="2971800" cy="457200"/>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8" name="Google Shape;8;n"/>
          <p:cNvSpPr txBox="1"/>
          <p:nvPr>
            <p:ph idx="12" type="sldNum"/>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Open Sans"/>
                <a:ea typeface="Open Sans"/>
                <a:cs typeface="Open Sans"/>
                <a:sym typeface="Open Sans"/>
              </a:rPr>
              <a:t>‹#›</a:t>
            </a:fld>
            <a:endParaRPr b="0" i="0" sz="1200" u="none" cap="none" strike="noStrike">
              <a:solidFill>
                <a:schemeClr val="dk1"/>
              </a:solidFill>
              <a:latin typeface="Open Sans"/>
              <a:ea typeface="Open Sans"/>
              <a:cs typeface="Open Sans"/>
              <a:sym typeface="Open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My kernel is the 3x3 stride-1 convolution: 32 layers, the C2f bottlenecks and the Detect head, two thirds of YOLOv8n's work. The story: it is the Assignment 2 kernel, I followed the same four steps, and the measurements chose the tile. Best microkernel alone: 94% of the 32 FLOPs/cycle peak; inside all 32 real layers: 84%. All percentages assume the core runs at 3.4 GHz, as in Assignment 2.</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Same machine as Assignment 2 and the same kernel. In A2, m was 5 rows of A broadcast, n was 8 doubles = 2 vectors of B. Here m is 5 output pixels, n is 16 output channels = 2 vectors of 8 floats, and k is input channels times the 9 taps of the 3x3 filter. 10 accumulators, 13 registers, exactly the A2 budget. Peak is 32 FLOPs per cycle because floats give 8 lanes instead of 4. 10 accumulators is the minimum (5 x 2); the 2x6 tile uses 12, two chains of slack.</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One call computes the teal strip: one output row, 5 pixels wide, 16 output channels deep, 80 numbers. Each cell is 8 channels of one pixel, exactly one YMM register, so the strip is 10 accumulators. It reads a 3 by 7 window of the input across all C channels and 16 filters of 3 by 3 by C. Each step multiplies 2 weight vectors by 5 broadcast inputs, 10 FMAs, repeated k = C x 9 times, then bias, SiLU, store.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These are the assumptions behind every number in the talk. The important one: cycles are wall time times 3.4 GHz, the CPU's maximum turbo, exactly the Assignment 2 convention. The core can never run faster than that, so the percentages can only understate.</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Step 1: every output is an independent dot product; the only chain is the reduction. Step 2: 5-cycle latency times 2 FMAs per cycle means 10 independent accumulators, 80 outputs in flight. The chart: 1 accumulator is 10%, each adds about 10 points. Step 3: 2x5 gives 10 accumulators in 13 registers, 7 loads per 10 FMAs, and 5 divides 160, 80, 40 and 20. Step 4: benchmark the kernel alone exactly like Assignment 2.</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Every kernel I built, same arithmetic, same layout. Filled dots: the microkernel alone; hollow: all 32 layers. The 2x6 tile loses with intrinsics because GCC adds 11 register copies per tap at 15 live registers, but with the registers fixed in inline asm it is the best kernel, 95% alone. 4x3 needs all 16 registers; GCC spills it to 49%. Unrolling and software pipelining made it worse: full unrolling overflowed the uop cache and partial unrolling made GCC spill.</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Assignment 2 figure for my kernel: FLOPs per cycle against the reduction length k. Cycles are time times 3.4 GHz, the max turbo, exactly as in Assignment 2, so this can only understate. 2x6 asm holds 30 to 31 FLOPs per cycle, 94 to 97 percent of peak; 2x5 intrinsics 83 to 89. The dip near k = 500 is the 2x5 weights leaving L1, like k = 315 in A2. Cross-checked: the hardware FP-instruction counter matches our FLOP count exactly.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2x5 kernel written in assembly was the fastest alone, 92 percent, but inside the real layers it dropped to 72.5 percent, below the plain intrinsics version. The reason is in the code box: the compiler pastes the kernel into the layer loop, runs out of registers, and parks 3 of the 10 running sums in memory. It loads them back before every step and stores them after, which adds about 5 cycles to those chains: the latency problem again. The fix: call the kernel as a separate function, exactly as the benchmark does. Then all 10 sums stay in registers: 83 percent, and 84 percent with the 2x6 tile.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Total time for all 32 stride-1 layers, one core, same model and image. OpenCV DNN takes 86.4 milliseconds. Our first kernel, v2 with intrinsics, takes 69.5: 1.24 times faster. Our best, v10 with the 2x6 tile in assembly called as a function, takes 63.8: 1.36 times faster, at 84 percent of peak. Next: cache blocking for the layers with 128 or more input channels, and threading across 20 cores.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With the fused SiLU on, everything sits about 4 to 5 points lower: SiLU costs a fixed 160 to 290 cycles per call. Right: the 4x3 asm tile is the fastest while its weights are small, then collapses past C about 128 as its weights leave L2: the case cache blocking fixes.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p:cSld name="Title Slide">
    <p:spTree>
      <p:nvGrpSpPr>
        <p:cNvPr id="20" name="Shape 20"/>
        <p:cNvGrpSpPr/>
        <p:nvPr/>
      </p:nvGrpSpPr>
      <p:grpSpPr>
        <a:xfrm>
          <a:off x="0" y="0"/>
          <a:ext cx="0" cy="0"/>
          <a:chOff x="0" y="0"/>
          <a:chExt cx="0" cy="0"/>
        </a:xfrm>
      </p:grpSpPr>
      <p:sp>
        <p:nvSpPr>
          <p:cNvPr id="21" name="Google Shape;21;p2"/>
          <p:cNvSpPr/>
          <p:nvPr/>
        </p:nvSpPr>
        <p:spPr>
          <a:xfrm>
            <a:off x="0" y="0"/>
            <a:ext cx="9144000" cy="5143500"/>
          </a:xfrm>
          <a:prstGeom prst="rect">
            <a:avLst/>
          </a:prstGeom>
          <a:solidFill>
            <a:srgbClr val="BB00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chemeClr val="dk1"/>
              </a:solidFill>
              <a:latin typeface="Open Sans"/>
              <a:ea typeface="Open Sans"/>
              <a:cs typeface="Open Sans"/>
              <a:sym typeface="Open Sans"/>
            </a:endParaRPr>
          </a:p>
        </p:txBody>
      </p:sp>
      <p:pic>
        <p:nvPicPr>
          <p:cNvPr id="22" name="Google Shape;22;p2"/>
          <p:cNvPicPr preferRelativeResize="0"/>
          <p:nvPr/>
        </p:nvPicPr>
        <p:blipFill rotWithShape="1">
          <a:blip r:embed="rId2">
            <a:alphaModFix/>
          </a:blip>
          <a:srcRect b="0" l="0" r="0" t="0"/>
          <a:stretch/>
        </p:blipFill>
        <p:spPr>
          <a:xfrm>
            <a:off x="2209800" y="895350"/>
            <a:ext cx="3429000" cy="306388"/>
          </a:xfrm>
          <a:prstGeom prst="rect">
            <a:avLst/>
          </a:prstGeom>
          <a:noFill/>
          <a:ln>
            <a:noFill/>
          </a:ln>
        </p:spPr>
      </p:pic>
      <p:pic>
        <p:nvPicPr>
          <p:cNvPr descr="_Plaid-Digital_FINAL-NEW.png" id="23" name="Google Shape;23;p2"/>
          <p:cNvPicPr preferRelativeResize="0"/>
          <p:nvPr/>
        </p:nvPicPr>
        <p:blipFill rotWithShape="1">
          <a:blip r:embed="rId3">
            <a:alphaModFix/>
          </a:blip>
          <a:srcRect b="1990" l="84737" r="4771" t="23988"/>
          <a:stretch/>
        </p:blipFill>
        <p:spPr>
          <a:xfrm>
            <a:off x="457200" y="0"/>
            <a:ext cx="790575" cy="5143500"/>
          </a:xfrm>
          <a:prstGeom prst="rect">
            <a:avLst/>
          </a:prstGeom>
          <a:noFill/>
          <a:ln>
            <a:noFill/>
          </a:ln>
        </p:spPr>
      </p:pic>
      <p:sp>
        <p:nvSpPr>
          <p:cNvPr id="24" name="Google Shape;24;p2"/>
          <p:cNvSpPr/>
          <p:nvPr/>
        </p:nvSpPr>
        <p:spPr>
          <a:xfrm>
            <a:off x="0" y="0"/>
            <a:ext cx="9144000" cy="5143500"/>
          </a:xfrm>
          <a:prstGeom prst="rect">
            <a:avLst/>
          </a:prstGeom>
          <a:solidFill>
            <a:srgbClr val="BB00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chemeClr val="dk1"/>
              </a:solidFill>
              <a:latin typeface="Open Sans"/>
              <a:ea typeface="Open Sans"/>
              <a:cs typeface="Open Sans"/>
              <a:sym typeface="Open Sans"/>
            </a:endParaRPr>
          </a:p>
        </p:txBody>
      </p:sp>
      <p:pic>
        <p:nvPicPr>
          <p:cNvPr id="25" name="Google Shape;25;p2"/>
          <p:cNvPicPr preferRelativeResize="0"/>
          <p:nvPr/>
        </p:nvPicPr>
        <p:blipFill rotWithShape="1">
          <a:blip r:embed="rId2">
            <a:alphaModFix/>
          </a:blip>
          <a:srcRect b="0" l="0" r="0" t="0"/>
          <a:stretch/>
        </p:blipFill>
        <p:spPr>
          <a:xfrm>
            <a:off x="2209800" y="895350"/>
            <a:ext cx="3429000" cy="306388"/>
          </a:xfrm>
          <a:prstGeom prst="rect">
            <a:avLst/>
          </a:prstGeom>
          <a:noFill/>
          <a:ln>
            <a:noFill/>
          </a:ln>
        </p:spPr>
      </p:pic>
      <p:pic>
        <p:nvPicPr>
          <p:cNvPr descr="_Plaid-Digital_FINAL-NEW.png" id="26" name="Google Shape;26;p2"/>
          <p:cNvPicPr preferRelativeResize="0"/>
          <p:nvPr/>
        </p:nvPicPr>
        <p:blipFill rotWithShape="1">
          <a:blip r:embed="rId3">
            <a:alphaModFix/>
          </a:blip>
          <a:srcRect b="1990" l="84737" r="4771" t="23988"/>
          <a:stretch/>
        </p:blipFill>
        <p:spPr>
          <a:xfrm>
            <a:off x="457200" y="0"/>
            <a:ext cx="790575" cy="51435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27" name="Shape 27"/>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28" name="Shape 28"/>
        <p:cNvGrpSpPr/>
        <p:nvPr/>
      </p:nvGrpSpPr>
      <p:grpSpPr>
        <a:xfrm>
          <a:off x="0" y="0"/>
          <a:ext cx="0" cy="0"/>
          <a:chOff x="0" y="0"/>
          <a:chExt cx="0" cy="0"/>
        </a:xfrm>
      </p:grpSpPr>
      <p:sp>
        <p:nvSpPr>
          <p:cNvPr id="29" name="Google Shape;29;p4"/>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Column">
  <p:cSld name="1 Column">
    <p:spTree>
      <p:nvGrpSpPr>
        <p:cNvPr id="30" name="Shape 30"/>
        <p:cNvGrpSpPr/>
        <p:nvPr/>
      </p:nvGrpSpPr>
      <p:grpSpPr>
        <a:xfrm>
          <a:off x="0" y="0"/>
          <a:ext cx="0" cy="0"/>
          <a:chOff x="0" y="0"/>
          <a:chExt cx="0" cy="0"/>
        </a:xfrm>
      </p:grpSpPr>
      <p:sp>
        <p:nvSpPr>
          <p:cNvPr id="31" name="Google Shape;31;p5"/>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 type="body"/>
          </p:nvPr>
        </p:nvSpPr>
        <p:spPr>
          <a:xfrm>
            <a:off x="457200" y="1200150"/>
            <a:ext cx="82296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Column">
  <p:cSld name="2 Column">
    <p:spTree>
      <p:nvGrpSpPr>
        <p:cNvPr id="33" name="Shape 33"/>
        <p:cNvGrpSpPr/>
        <p:nvPr/>
      </p:nvGrpSpPr>
      <p:grpSpPr>
        <a:xfrm>
          <a:off x="0" y="0"/>
          <a:ext cx="0" cy="0"/>
          <a:chOff x="0" y="0"/>
          <a:chExt cx="0" cy="0"/>
        </a:xfrm>
      </p:grpSpPr>
      <p:sp>
        <p:nvSpPr>
          <p:cNvPr id="34" name="Google Shape;34;p6"/>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6"/>
          <p:cNvSpPr txBox="1"/>
          <p:nvPr>
            <p:ph idx="1" type="body"/>
          </p:nvPr>
        </p:nvSpPr>
        <p:spPr>
          <a:xfrm>
            <a:off x="457200" y="1200150"/>
            <a:ext cx="39624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36" name="Google Shape;36;p6"/>
          <p:cNvSpPr txBox="1"/>
          <p:nvPr>
            <p:ph idx="2" type="body"/>
          </p:nvPr>
        </p:nvSpPr>
        <p:spPr>
          <a:xfrm>
            <a:off x="4727448" y="1212300"/>
            <a:ext cx="3959352"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Column">
  <p:cSld name="3 Column">
    <p:spTree>
      <p:nvGrpSpPr>
        <p:cNvPr id="37" name="Shape 37"/>
        <p:cNvGrpSpPr/>
        <p:nvPr/>
      </p:nvGrpSpPr>
      <p:grpSpPr>
        <a:xfrm>
          <a:off x="0" y="0"/>
          <a:ext cx="0" cy="0"/>
          <a:chOff x="0" y="0"/>
          <a:chExt cx="0" cy="0"/>
        </a:xfrm>
      </p:grpSpPr>
      <p:sp>
        <p:nvSpPr>
          <p:cNvPr id="38" name="Google Shape;38;p7"/>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7"/>
          <p:cNvSpPr txBox="1"/>
          <p:nvPr>
            <p:ph idx="1" type="body"/>
          </p:nvPr>
        </p:nvSpPr>
        <p:spPr>
          <a:xfrm>
            <a:off x="4572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0" name="Google Shape;40;p7"/>
          <p:cNvSpPr txBox="1"/>
          <p:nvPr>
            <p:ph idx="2" type="body"/>
          </p:nvPr>
        </p:nvSpPr>
        <p:spPr>
          <a:xfrm>
            <a:off x="32766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1" name="Google Shape;41;p7"/>
          <p:cNvSpPr txBox="1"/>
          <p:nvPr>
            <p:ph idx="3" type="body"/>
          </p:nvPr>
        </p:nvSpPr>
        <p:spPr>
          <a:xfrm>
            <a:off x="60960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Column">
  <p:cSld name="4 Column">
    <p:spTree>
      <p:nvGrpSpPr>
        <p:cNvPr id="42" name="Shape 42"/>
        <p:cNvGrpSpPr/>
        <p:nvPr/>
      </p:nvGrpSpPr>
      <p:grpSpPr>
        <a:xfrm>
          <a:off x="0" y="0"/>
          <a:ext cx="0" cy="0"/>
          <a:chOff x="0" y="0"/>
          <a:chExt cx="0" cy="0"/>
        </a:xfrm>
      </p:grpSpPr>
      <p:sp>
        <p:nvSpPr>
          <p:cNvPr id="43" name="Google Shape;43;p8"/>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8"/>
          <p:cNvSpPr txBox="1"/>
          <p:nvPr>
            <p:ph idx="1" type="body"/>
          </p:nvPr>
        </p:nvSpPr>
        <p:spPr>
          <a:xfrm>
            <a:off x="4572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5" name="Google Shape;45;p8"/>
          <p:cNvSpPr txBox="1"/>
          <p:nvPr>
            <p:ph idx="2" type="body"/>
          </p:nvPr>
        </p:nvSpPr>
        <p:spPr>
          <a:xfrm>
            <a:off x="25654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6" name="Google Shape;46;p8"/>
          <p:cNvSpPr txBox="1"/>
          <p:nvPr>
            <p:ph idx="3" type="body"/>
          </p:nvPr>
        </p:nvSpPr>
        <p:spPr>
          <a:xfrm>
            <a:off x="46736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7" name="Google Shape;47;p8"/>
          <p:cNvSpPr txBox="1"/>
          <p:nvPr>
            <p:ph idx="4" type="body"/>
          </p:nvPr>
        </p:nvSpPr>
        <p:spPr>
          <a:xfrm>
            <a:off x="67818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 Id="rId9" Type="http://schemas.openxmlformats.org/officeDocument/2006/relationships/slideLayout" Target="../slideLayouts/slideLayout7.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pic>
        <p:nvPicPr>
          <p:cNvPr descr="_Plaid-Digital_FINAL-NEW.png" id="10" name="Google Shape;10;p1"/>
          <p:cNvPicPr preferRelativeResize="0"/>
          <p:nvPr/>
        </p:nvPicPr>
        <p:blipFill rotWithShape="1">
          <a:blip r:embed="rId1">
            <a:alphaModFix/>
          </a:blip>
          <a:srcRect b="2893" l="59550" r="39888" t="20876"/>
          <a:stretch/>
        </p:blipFill>
        <p:spPr>
          <a:xfrm rot="5400000">
            <a:off x="3798887" y="1046163"/>
            <a:ext cx="60325" cy="7658100"/>
          </a:xfrm>
          <a:prstGeom prst="rect">
            <a:avLst/>
          </a:prstGeom>
          <a:noFill/>
          <a:ln>
            <a:noFill/>
          </a:ln>
        </p:spPr>
      </p:pic>
      <p:pic>
        <p:nvPicPr>
          <p:cNvPr descr="_Plaid-Digital_FINAL-NEW.png" id="11" name="Google Shape;11;p1"/>
          <p:cNvPicPr preferRelativeResize="0"/>
          <p:nvPr/>
        </p:nvPicPr>
        <p:blipFill rotWithShape="1">
          <a:blip r:embed="rId1">
            <a:alphaModFix/>
          </a:blip>
          <a:srcRect b="2893" l="59550" r="39888" t="20876"/>
          <a:stretch/>
        </p:blipFill>
        <p:spPr>
          <a:xfrm rot="5400000">
            <a:off x="3798887" y="1046163"/>
            <a:ext cx="60325" cy="7658100"/>
          </a:xfrm>
          <a:prstGeom prst="rect">
            <a:avLst/>
          </a:prstGeom>
          <a:noFill/>
          <a:ln>
            <a:noFill/>
          </a:ln>
        </p:spPr>
      </p:pic>
      <p:sp>
        <p:nvSpPr>
          <p:cNvPr id="12" name="Google Shape;12;p1"/>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2pPr>
            <a:lvl3pPr lvl="2"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3pPr>
            <a:lvl4pPr lvl="3"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4pPr>
            <a:lvl5pPr lvl="4"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5pPr>
            <a:lvl6pPr lvl="5" marR="0" rtl="0" algn="l">
              <a:spcBef>
                <a:spcPts val="0"/>
              </a:spcBef>
              <a:spcAft>
                <a:spcPts val="0"/>
              </a:spcAft>
              <a:buSzPts val="1400"/>
              <a:buNone/>
              <a:defRPr b="0" i="0" sz="4200" u="none" cap="none" strike="noStrike">
                <a:solidFill>
                  <a:schemeClr val="dk2"/>
                </a:solidFill>
                <a:latin typeface="Times"/>
                <a:ea typeface="Times"/>
                <a:cs typeface="Times"/>
                <a:sym typeface="Times"/>
              </a:defRPr>
            </a:lvl6pPr>
            <a:lvl7pPr lvl="6" marR="0" rtl="0" algn="l">
              <a:spcBef>
                <a:spcPts val="0"/>
              </a:spcBef>
              <a:spcAft>
                <a:spcPts val="0"/>
              </a:spcAft>
              <a:buSzPts val="1400"/>
              <a:buNone/>
              <a:defRPr b="0" i="0" sz="4200" u="none" cap="none" strike="noStrike">
                <a:solidFill>
                  <a:schemeClr val="dk2"/>
                </a:solidFill>
                <a:latin typeface="Times"/>
                <a:ea typeface="Times"/>
                <a:cs typeface="Times"/>
                <a:sym typeface="Times"/>
              </a:defRPr>
            </a:lvl7pPr>
            <a:lvl8pPr lvl="7" marR="0" rtl="0" algn="l">
              <a:spcBef>
                <a:spcPts val="0"/>
              </a:spcBef>
              <a:spcAft>
                <a:spcPts val="0"/>
              </a:spcAft>
              <a:buSzPts val="1400"/>
              <a:buNone/>
              <a:defRPr b="0" i="0" sz="4200" u="none" cap="none" strike="noStrike">
                <a:solidFill>
                  <a:schemeClr val="dk2"/>
                </a:solidFill>
                <a:latin typeface="Times"/>
                <a:ea typeface="Times"/>
                <a:cs typeface="Times"/>
                <a:sym typeface="Times"/>
              </a:defRPr>
            </a:lvl8pPr>
            <a:lvl9pPr lvl="8" marR="0" rtl="0" algn="l">
              <a:spcBef>
                <a:spcPts val="0"/>
              </a:spcBef>
              <a:spcAft>
                <a:spcPts val="0"/>
              </a:spcAft>
              <a:buSzPts val="1400"/>
              <a:buNone/>
              <a:defRPr b="0" i="0" sz="4200" u="none" cap="none" strike="noStrike">
                <a:solidFill>
                  <a:schemeClr val="dk2"/>
                </a:solidFill>
                <a:latin typeface="Times"/>
                <a:ea typeface="Times"/>
                <a:cs typeface="Times"/>
                <a:sym typeface="Times"/>
              </a:defRPr>
            </a:lvl9pPr>
          </a:lstStyle>
          <a:p/>
        </p:txBody>
      </p:sp>
      <p:sp>
        <p:nvSpPr>
          <p:cNvPr id="13" name="Google Shape;13;p1"/>
          <p:cNvSpPr txBox="1"/>
          <p:nvPr>
            <p:ph idx="1" type="body"/>
          </p:nvPr>
        </p:nvSpPr>
        <p:spPr>
          <a:xfrm>
            <a:off x="457200" y="1200150"/>
            <a:ext cx="8229600" cy="35052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600"/>
              </a:spcBef>
              <a:spcAft>
                <a:spcPts val="0"/>
              </a:spcAft>
              <a:buSzPts val="1400"/>
              <a:buNone/>
              <a:defRPr b="0" i="0" sz="1400" u="none" cap="none" strike="noStrike">
                <a:solidFill>
                  <a:schemeClr val="dk1"/>
                </a:solidFill>
                <a:latin typeface="Open Sans"/>
                <a:ea typeface="Open Sans"/>
                <a:cs typeface="Open Sans"/>
                <a:sym typeface="Open Sans"/>
              </a:defRPr>
            </a:lvl1pPr>
            <a:lvl2pPr indent="-326390" lvl="1" marL="914400" marR="0" rtl="0" algn="l">
              <a:spcBef>
                <a:spcPts val="600"/>
              </a:spcBef>
              <a:spcAft>
                <a:spcPts val="0"/>
              </a:spcAft>
              <a:buClr>
                <a:schemeClr val="dk1"/>
              </a:buClr>
              <a:buSzPts val="1540"/>
              <a:buFont typeface="Arial"/>
              <a:buChar char="•"/>
              <a:defRPr b="0" i="0" sz="1400" u="none" cap="none" strike="noStrike">
                <a:solidFill>
                  <a:schemeClr val="dk1"/>
                </a:solidFill>
                <a:latin typeface="Open Sans"/>
                <a:ea typeface="Open Sans"/>
                <a:cs typeface="Open Sans"/>
                <a:sym typeface="Open Sans"/>
              </a:defRPr>
            </a:lvl2pPr>
            <a:lvl3pPr indent="-326390" lvl="2" marL="1371600" marR="0" rtl="0" algn="l">
              <a:spcBef>
                <a:spcPts val="600"/>
              </a:spcBef>
              <a:spcAft>
                <a:spcPts val="0"/>
              </a:spcAft>
              <a:buClr>
                <a:schemeClr val="dk1"/>
              </a:buClr>
              <a:buSzPts val="1540"/>
              <a:buFont typeface="Arial"/>
              <a:buChar char="–"/>
              <a:defRPr b="0" i="1" sz="1400" u="none" cap="none" strike="noStrike">
                <a:solidFill>
                  <a:schemeClr val="dk1"/>
                </a:solidFill>
                <a:latin typeface="Open Sans"/>
                <a:ea typeface="Open Sans"/>
                <a:cs typeface="Open Sans"/>
                <a:sym typeface="Open Sans"/>
              </a:defRPr>
            </a:lvl3pPr>
            <a:lvl4pPr indent="-326390" lvl="3" marL="1828800" marR="0" rtl="0" algn="l">
              <a:spcBef>
                <a:spcPts val="600"/>
              </a:spcBef>
              <a:spcAft>
                <a:spcPts val="0"/>
              </a:spcAft>
              <a:buClr>
                <a:schemeClr val="dk1"/>
              </a:buClr>
              <a:buSzPts val="1540"/>
              <a:buFont typeface="Arial"/>
              <a:buChar char="•"/>
              <a:defRPr b="0" i="0" sz="1400" u="none" cap="none" strike="noStrike">
                <a:solidFill>
                  <a:schemeClr val="dk1"/>
                </a:solidFill>
                <a:latin typeface="Open Sans"/>
                <a:ea typeface="Open Sans"/>
                <a:cs typeface="Open Sans"/>
                <a:sym typeface="Open Sans"/>
              </a:defRPr>
            </a:lvl4pPr>
            <a:lvl5pPr indent="-326390" lvl="4" marL="2286000" marR="0" rtl="0" algn="l">
              <a:spcBef>
                <a:spcPts val="600"/>
              </a:spcBef>
              <a:spcAft>
                <a:spcPts val="0"/>
              </a:spcAft>
              <a:buClr>
                <a:schemeClr val="dk1"/>
              </a:buClr>
              <a:buSzPts val="1540"/>
              <a:buFont typeface="Arial"/>
              <a:buChar char="–"/>
              <a:defRPr b="0" i="1" sz="1400" u="none" cap="none" strike="noStrike">
                <a:solidFill>
                  <a:schemeClr val="dk1"/>
                </a:solidFill>
                <a:latin typeface="Open Sans"/>
                <a:ea typeface="Open Sans"/>
                <a:cs typeface="Open Sans"/>
                <a:sym typeface="Open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pic>
        <p:nvPicPr>
          <p:cNvPr id="14" name="Google Shape;14;p1"/>
          <p:cNvPicPr preferRelativeResize="0"/>
          <p:nvPr/>
        </p:nvPicPr>
        <p:blipFill rotWithShape="1">
          <a:blip r:embed="rId2">
            <a:alphaModFix/>
          </a:blip>
          <a:srcRect b="0" l="0" r="0" t="0"/>
          <a:stretch/>
        </p:blipFill>
        <p:spPr>
          <a:xfrm>
            <a:off x="7772400" y="4248150"/>
            <a:ext cx="1154590" cy="736392"/>
          </a:xfrm>
          <a:prstGeom prst="rect">
            <a:avLst/>
          </a:prstGeom>
          <a:noFill/>
          <a:ln>
            <a:noFill/>
          </a:ln>
        </p:spPr>
      </p:pic>
      <p:sp>
        <p:nvSpPr>
          <p:cNvPr id="15" name="Google Shape;15;p1"/>
          <p:cNvSpPr txBox="1"/>
          <p:nvPr>
            <p:ph idx="12" type="sldNum"/>
          </p:nvPr>
        </p:nvSpPr>
        <p:spPr>
          <a:xfrm>
            <a:off x="11073918" y="6400413"/>
            <a:ext cx="279883" cy="276999"/>
          </a:xfrm>
          <a:prstGeom prst="rect">
            <a:avLst/>
          </a:prstGeom>
          <a:noFill/>
          <a:ln>
            <a:noFill/>
          </a:ln>
        </p:spPr>
        <p:txBody>
          <a:bodyPr anchorCtr="0" anchor="ctr" bIns="45700" lIns="45700" spcFirstLastPara="1" rIns="45700" wrap="square" tIns="45700">
            <a:spAutoFit/>
          </a:bodyPr>
          <a:lstStyle>
            <a:lvl1pPr indent="0" lvl="0"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1pPr>
            <a:lvl2pPr indent="0" lvl="1"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2pPr>
            <a:lvl3pPr indent="0" lvl="2"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3pPr>
            <a:lvl4pPr indent="0" lvl="3"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4pPr>
            <a:lvl5pPr indent="0" lvl="4"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5pPr>
            <a:lvl6pPr indent="0" lvl="5"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6pPr>
            <a:lvl7pPr indent="0" lvl="6"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7pPr>
            <a:lvl8pPr indent="0" lvl="7"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8pPr>
            <a:lvl9pPr indent="0" lvl="8"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16" name="Google Shape;16;p1"/>
          <p:cNvSpPr txBox="1"/>
          <p:nvPr/>
        </p:nvSpPr>
        <p:spPr>
          <a:xfrm>
            <a:off x="11226318" y="65528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7" name="Google Shape;17;p1"/>
          <p:cNvSpPr txBox="1"/>
          <p:nvPr/>
        </p:nvSpPr>
        <p:spPr>
          <a:xfrm>
            <a:off x="11378718" y="67052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8" name="Google Shape;18;p1"/>
          <p:cNvSpPr txBox="1"/>
          <p:nvPr/>
        </p:nvSpPr>
        <p:spPr>
          <a:xfrm>
            <a:off x="11531118" y="68576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9" name="Google Shape;19;p1"/>
          <p:cNvSpPr txBox="1"/>
          <p:nvPr/>
        </p:nvSpPr>
        <p:spPr>
          <a:xfrm>
            <a:off x="8534400" y="100340"/>
            <a:ext cx="506890" cy="2616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fld id="{00000000-1234-1234-1234-123412341234}" type="slidenum">
              <a:rPr b="0" i="0" lang="en-US" sz="1100" u="none" cap="none" strike="noStrike">
                <a:solidFill>
                  <a:srgbClr val="7F7F7F"/>
                </a:solidFill>
                <a:latin typeface="Helvetica Neue Light"/>
                <a:ea typeface="Helvetica Neue Light"/>
                <a:cs typeface="Helvetica Neue Light"/>
                <a:sym typeface="Helvetica Neue Light"/>
              </a:rPr>
              <a:t>‹#›</a:t>
            </a:fld>
            <a:endParaRPr b="0" i="0" sz="1100" u="none" cap="none" strike="noStrike">
              <a:solidFill>
                <a:srgbClr val="7F7F7F"/>
              </a:solidFill>
              <a:latin typeface="Helvetica Neue Light"/>
              <a:ea typeface="Helvetica Neue Light"/>
              <a:cs typeface="Helvetica Neue Light"/>
              <a:sym typeface="Helvetica Neue Light"/>
            </a:endParaRPr>
          </a:p>
        </p:txBody>
      </p:sp>
    </p:spTree>
  </p:cSld>
  <p:clrMap accent1="accent1" accent2="accent2" accent3="accent3" accent4="accent4" accent5="accent5" accent6="accent6" bg1="lt1" bg2="dk2" tx1="dk1" tx2="lt2" folHlink="folHlink" hlink="hlink"/>
  <p:sldLayoutIdLst>
    <p:sldLayoutId id="2147483648" r:id="rId3"/>
    <p:sldLayoutId id="2147483649" r:id="rId4"/>
    <p:sldLayoutId id="2147483650" r:id="rId5"/>
    <p:sldLayoutId id="2147483651" r:id="rId6"/>
    <p:sldLayoutId id="2147483652" r:id="rId7"/>
    <p:sldLayoutId id="2147483653" r:id="rId8"/>
    <p:sldLayoutId id="2147483654" r:id="rId9"/>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130552" y="1371600"/>
            <a:ext cx="6309360" cy="1188720"/>
          </a:xfrm>
          <a:prstGeom prst="rect">
            <a:avLst/>
          </a:prstGeom>
          <a:noFill/>
        </p:spPr>
        <p:txBody>
          <a:bodyPr wrap="square" lIns="0" rIns="0" tIns="0" bIns="0" anchor="b">
            <a:spAutoFit/>
          </a:bodyPr>
          <a:lstStyle/>
          <a:p>
            <a:pPr algn="l"/>
            <a:r>
              <a:rPr sz="3400" b="1" i="0">
                <a:solidFill>
                  <a:srgbClr val="FFFFFF"/>
                </a:solidFill>
                <a:latin typeface="Open Sans"/>
              </a:rPr>
              <a:t>The 3×3 stride-1 convolution kernel</a:t>
            </a:r>
          </a:p>
        </p:txBody>
      </p:sp>
      <p:sp>
        <p:nvSpPr>
          <p:cNvPr id="3" name="TextBox 2"/>
          <p:cNvSpPr txBox="1"/>
          <p:nvPr/>
        </p:nvSpPr>
        <p:spPr>
          <a:xfrm>
            <a:off x="2130552" y="2743200"/>
            <a:ext cx="6309360" cy="457200"/>
          </a:xfrm>
          <a:prstGeom prst="rect">
            <a:avLst/>
          </a:prstGeom>
          <a:noFill/>
        </p:spPr>
        <p:txBody>
          <a:bodyPr wrap="square" lIns="0" rIns="0" tIns="0" bIns="0" anchor="t">
            <a:spAutoFit/>
          </a:bodyPr>
          <a:lstStyle/>
          <a:p>
            <a:pPr algn="l"/>
            <a:r>
              <a:rPr sz="1500" b="1" i="0">
                <a:solidFill>
                  <a:srgbClr val="FFFFFF"/>
                </a:solidFill>
                <a:latin typeface="Open Sans"/>
              </a:rPr>
              <a:t>Om Tank</a:t>
            </a:r>
            <a:r>
              <a:rPr sz="1500" b="0" i="0">
                <a:solidFill>
                  <a:srgbClr val="FFFFFF"/>
                </a:solidFill>
                <a:latin typeface="Open Sans"/>
              </a:rPr>
              <a:t>  ·  YOLOv8n on one Broadwell core, built like the Assignment 2 kernel</a:t>
            </a:r>
          </a:p>
        </p:txBody>
      </p:sp>
      <p:sp>
        <p:nvSpPr>
          <p:cNvPr id="4" name="TextBox 3"/>
          <p:cNvSpPr txBox="1"/>
          <p:nvPr/>
        </p:nvSpPr>
        <p:spPr>
          <a:xfrm>
            <a:off x="21305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32</a:t>
            </a:r>
          </a:p>
        </p:txBody>
      </p:sp>
      <p:sp>
        <p:nvSpPr>
          <p:cNvPr id="5" name="TextBox 4"/>
          <p:cNvSpPr txBox="1"/>
          <p:nvPr/>
        </p:nvSpPr>
        <p:spPr>
          <a:xfrm>
            <a:off x="21305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layers</a:t>
            </a:r>
          </a:p>
        </p:txBody>
      </p:sp>
      <p:sp>
        <p:nvSpPr>
          <p:cNvPr id="6" name="TextBox 5"/>
          <p:cNvSpPr txBox="1"/>
          <p:nvPr/>
        </p:nvSpPr>
        <p:spPr>
          <a:xfrm>
            <a:off x="37307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66%</a:t>
            </a:r>
          </a:p>
        </p:txBody>
      </p:sp>
      <p:sp>
        <p:nvSpPr>
          <p:cNvPr id="7" name="TextBox 6"/>
          <p:cNvSpPr txBox="1"/>
          <p:nvPr/>
        </p:nvSpPr>
        <p:spPr>
          <a:xfrm>
            <a:off x="37307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of YOLOv8n's work</a:t>
            </a:r>
          </a:p>
        </p:txBody>
      </p:sp>
      <p:sp>
        <p:nvSpPr>
          <p:cNvPr id="8" name="TextBox 7"/>
          <p:cNvSpPr txBox="1"/>
          <p:nvPr/>
        </p:nvSpPr>
        <p:spPr>
          <a:xfrm>
            <a:off x="53309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94%</a:t>
            </a:r>
          </a:p>
        </p:txBody>
      </p:sp>
      <p:sp>
        <p:nvSpPr>
          <p:cNvPr id="9" name="TextBox 8"/>
          <p:cNvSpPr txBox="1"/>
          <p:nvPr/>
        </p:nvSpPr>
        <p:spPr>
          <a:xfrm>
            <a:off x="53309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of peak, alone</a:t>
            </a:r>
          </a:p>
        </p:txBody>
      </p:sp>
      <p:sp>
        <p:nvSpPr>
          <p:cNvPr id="10" name="TextBox 9"/>
          <p:cNvSpPr txBox="1"/>
          <p:nvPr/>
        </p:nvSpPr>
        <p:spPr>
          <a:xfrm>
            <a:off x="69311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84%</a:t>
            </a:r>
          </a:p>
        </p:txBody>
      </p:sp>
      <p:sp>
        <p:nvSpPr>
          <p:cNvPr id="11" name="TextBox 10"/>
          <p:cNvSpPr txBox="1"/>
          <p:nvPr/>
        </p:nvSpPr>
        <p:spPr>
          <a:xfrm>
            <a:off x="69311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of peak, 32 layers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 is the Assignment 2 kernel, with floats</a:t>
            </a:r>
          </a:p>
        </p:txBody>
      </p:sp>
      <p:graphicFrame>
        <p:nvGraphicFramePr>
          <p:cNvPr id="3" name="Table 2"/>
          <p:cNvGraphicFramePr>
            <a:graphicFrameLocks noGrp="1"/>
          </p:cNvGraphicFramePr>
          <p:nvPr/>
        </p:nvGraphicFramePr>
        <p:xfrm>
          <a:off x="457200" y="1097280"/>
          <a:ext cx="4572000" cy="2377440"/>
        </p:xfrm>
        <a:graphic>
          <a:graphicData uri="http://schemas.openxmlformats.org/drawingml/2006/table">
            <a:tbl>
              <a:tblPr firstRow="1" bandRow="1">
                <a:tableStyleId>{5C22544A-7EE6-4342-B048-85BDC9FD1C3A}</a:tableStyleId>
              </a:tblPr>
              <a:tblGrid>
                <a:gridCol w="1325880"/>
                <a:gridCol w="1463040"/>
                <a:gridCol w="1783080"/>
              </a:tblGrid>
              <a:tr h="339634">
                <a:tc>
                  <a:txBody>
                    <a:bodyPr/>
                    <a:lstStyle/>
                    <a:p/>
                  </a:txBody>
                  <a:tcPr marL="54864" marR="54864">
                    <a:solidFill>
                      <a:srgbClr val="F1F3F5"/>
                    </a:solidFill>
                  </a:tcPr>
                </a:tc>
                <a:tc>
                  <a:txBody>
                    <a:bodyPr/>
                    <a:lstStyle/>
                    <a:p>
                      <a:r>
                        <a:rPr sz="1100" b="1">
                          <a:solidFill>
                            <a:srgbClr val="1B2630"/>
                          </a:solidFill>
                          <a:latin typeface="Open Sans"/>
                        </a:rPr>
                        <a:t>Assignment 2</a:t>
                      </a:r>
                    </a:p>
                  </a:txBody>
                  <a:tcPr marL="54864" marR="54864">
                    <a:solidFill>
                      <a:srgbClr val="F1F3F5"/>
                    </a:solidFill>
                  </a:tcPr>
                </a:tc>
                <a:tc>
                  <a:txBody>
                    <a:bodyPr/>
                    <a:lstStyle/>
                    <a:p>
                      <a:r>
                        <a:rPr sz="1100" b="1">
                          <a:solidFill>
                            <a:srgbClr val="1B2630"/>
                          </a:solidFill>
                          <a:latin typeface="Open Sans"/>
                        </a:rPr>
                        <a:t>Stride-1 microkernel</a:t>
                      </a:r>
                    </a:p>
                  </a:txBody>
                  <a:tcPr marL="54864" marR="54864">
                    <a:solidFill>
                      <a:srgbClr val="F1F3F5"/>
                    </a:solidFill>
                  </a:tcPr>
                </a:tc>
              </a:tr>
              <a:tr h="339634">
                <a:tc>
                  <a:txBody>
                    <a:bodyPr/>
                    <a:lstStyle/>
                    <a:p>
                      <a:r>
                        <a:rPr sz="1100" b="0">
                          <a:solidFill>
                            <a:srgbClr val="1B2630"/>
                          </a:solidFill>
                          <a:latin typeface="Open Sans"/>
                        </a:rPr>
                        <a:t>m (broadcast)</a:t>
                      </a:r>
                    </a:p>
                  </a:txBody>
                  <a:tcPr marL="54864" marR="54864">
                    <a:solidFill>
                      <a:srgbClr val="FFFFFF"/>
                    </a:solidFill>
                  </a:tcPr>
                </a:tc>
                <a:tc>
                  <a:txBody>
                    <a:bodyPr/>
                    <a:lstStyle/>
                    <a:p>
                      <a:r>
                        <a:rPr sz="1100" b="0">
                          <a:solidFill>
                            <a:srgbClr val="1B2630"/>
                          </a:solidFill>
                          <a:latin typeface="Open Sans"/>
                        </a:rPr>
                        <a:t>5 rows of A</a:t>
                      </a:r>
                    </a:p>
                  </a:txBody>
                  <a:tcPr marL="54864" marR="54864">
                    <a:solidFill>
                      <a:srgbClr val="FFFFFF"/>
                    </a:solidFill>
                  </a:tcPr>
                </a:tc>
                <a:tc>
                  <a:txBody>
                    <a:bodyPr/>
                    <a:lstStyle/>
                    <a:p>
                      <a:r>
                        <a:rPr sz="1100" b="0">
                          <a:solidFill>
                            <a:srgbClr val="1B2630"/>
                          </a:solidFill>
                          <a:latin typeface="Open Sans"/>
                        </a:rPr>
                        <a:t>5 output pixels</a:t>
                      </a:r>
                    </a:p>
                  </a:txBody>
                  <a:tcPr marL="54864" marR="54864">
                    <a:solidFill>
                      <a:srgbClr val="FFFFFF"/>
                    </a:solidFill>
                  </a:tcPr>
                </a:tc>
              </a:tr>
              <a:tr h="339634">
                <a:tc>
                  <a:txBody>
                    <a:bodyPr/>
                    <a:lstStyle/>
                    <a:p>
                      <a:r>
                        <a:rPr sz="1100" b="0">
                          <a:solidFill>
                            <a:srgbClr val="1B2630"/>
                          </a:solidFill>
                          <a:latin typeface="Open Sans"/>
                        </a:rPr>
                        <a:t>n (vector loads)</a:t>
                      </a:r>
                    </a:p>
                  </a:txBody>
                  <a:tcPr marL="54864" marR="54864">
                    <a:solidFill>
                      <a:srgbClr val="FFFFFF"/>
                    </a:solidFill>
                  </a:tcPr>
                </a:tc>
                <a:tc>
                  <a:txBody>
                    <a:bodyPr/>
                    <a:lstStyle/>
                    <a:p>
                      <a:r>
                        <a:rPr sz="1100" b="0">
                          <a:solidFill>
                            <a:srgbClr val="1B2630"/>
                          </a:solidFill>
                          <a:latin typeface="Open Sans"/>
                        </a:rPr>
                        <a:t>8 = 2 × 4 doubles</a:t>
                      </a:r>
                    </a:p>
                  </a:txBody>
                  <a:tcPr marL="54864" marR="54864">
                    <a:solidFill>
                      <a:srgbClr val="FFFFFF"/>
                    </a:solidFill>
                  </a:tcPr>
                </a:tc>
                <a:tc>
                  <a:txBody>
                    <a:bodyPr/>
                    <a:lstStyle/>
                    <a:p>
                      <a:r>
                        <a:rPr sz="1100" b="0">
                          <a:solidFill>
                            <a:srgbClr val="1B2630"/>
                          </a:solidFill>
                          <a:latin typeface="Open Sans"/>
                        </a:rPr>
                        <a:t>16 ch = 2 × 8 floats</a:t>
                      </a:r>
                    </a:p>
                  </a:txBody>
                  <a:tcPr marL="54864" marR="54864">
                    <a:solidFill>
                      <a:srgbClr val="FFFFFF"/>
                    </a:solidFill>
                  </a:tcPr>
                </a:tc>
              </a:tr>
              <a:tr h="339634">
                <a:tc>
                  <a:txBody>
                    <a:bodyPr/>
                    <a:lstStyle/>
                    <a:p>
                      <a:r>
                        <a:rPr sz="1100" b="0">
                          <a:solidFill>
                            <a:srgbClr val="1B2630"/>
                          </a:solidFill>
                          <a:latin typeface="Open Sans"/>
                        </a:rPr>
                        <a:t>k (reduction)</a:t>
                      </a:r>
                    </a:p>
                  </a:txBody>
                  <a:tcPr marL="54864" marR="54864">
                    <a:solidFill>
                      <a:srgbClr val="FFFFFF"/>
                    </a:solidFill>
                  </a:tcPr>
                </a:tc>
                <a:tc>
                  <a:txBody>
                    <a:bodyPr/>
                    <a:lstStyle/>
                    <a:p>
                      <a:r>
                        <a:rPr sz="1100" b="0">
                          <a:solidFill>
                            <a:srgbClr val="1B2630"/>
                          </a:solidFill>
                          <a:latin typeface="Open Sans"/>
                        </a:rPr>
                        <a:t>32 to 512</a:t>
                      </a:r>
                    </a:p>
                  </a:txBody>
                  <a:tcPr marL="54864" marR="54864">
                    <a:solidFill>
                      <a:srgbClr val="FFFFFF"/>
                    </a:solidFill>
                  </a:tcPr>
                </a:tc>
                <a:tc>
                  <a:txBody>
                    <a:bodyPr/>
                    <a:lstStyle/>
                    <a:p>
                      <a:r>
                        <a:rPr sz="1100" b="0">
                          <a:solidFill>
                            <a:srgbClr val="1B2630"/>
                          </a:solidFill>
                          <a:latin typeface="Open Sans"/>
                        </a:rPr>
                        <a:t>C × 9 (144 to 2304)</a:t>
                      </a:r>
                    </a:p>
                  </a:txBody>
                  <a:tcPr marL="54864" marR="54864">
                    <a:solidFill>
                      <a:srgbClr val="FFFFFF"/>
                    </a:solidFill>
                  </a:tcPr>
                </a:tc>
              </a:tr>
              <a:tr h="339634">
                <a:tc>
                  <a:txBody>
                    <a:bodyPr/>
                    <a:lstStyle/>
                    <a:p>
                      <a:r>
                        <a:rPr sz="1100" b="0">
                          <a:solidFill>
                            <a:srgbClr val="1B2630"/>
                          </a:solidFill>
                          <a:latin typeface="Open Sans"/>
                        </a:rPr>
                        <a:t>Accumulators</a:t>
                      </a:r>
                    </a:p>
                  </a:txBody>
                  <a:tcPr marL="54864" marR="54864">
                    <a:solidFill>
                      <a:srgbClr val="FFFFFF"/>
                    </a:solidFill>
                  </a:tcPr>
                </a:tc>
                <a:tc>
                  <a:txBody>
                    <a:bodyPr/>
                    <a:lstStyle/>
                    <a:p>
                      <a:r>
                        <a:rPr sz="1100" b="0">
                          <a:solidFill>
                            <a:srgbClr val="1B2630"/>
                          </a:solidFill>
                          <a:latin typeface="Open Sans"/>
                        </a:rPr>
                        <a:t>10</a:t>
                      </a:r>
                    </a:p>
                  </a:txBody>
                  <a:tcPr marL="54864" marR="54864">
                    <a:solidFill>
                      <a:srgbClr val="FFFFFF"/>
                    </a:solidFill>
                  </a:tcPr>
                </a:tc>
                <a:tc>
                  <a:txBody>
                    <a:bodyPr/>
                    <a:lstStyle/>
                    <a:p>
                      <a:r>
                        <a:rPr sz="1100" b="0">
                          <a:solidFill>
                            <a:srgbClr val="1B2630"/>
                          </a:solidFill>
                          <a:latin typeface="Open Sans"/>
                        </a:rPr>
                        <a:t>10 (2×5) or 12 (2×6)</a:t>
                      </a:r>
                    </a:p>
                  </a:txBody>
                  <a:tcPr marL="54864" marR="54864">
                    <a:solidFill>
                      <a:srgbClr val="FFFFFF"/>
                    </a:solidFill>
                  </a:tcPr>
                </a:tc>
              </a:tr>
              <a:tr h="339634">
                <a:tc>
                  <a:txBody>
                    <a:bodyPr/>
                    <a:lstStyle/>
                    <a:p>
                      <a:r>
                        <a:rPr sz="1100" b="0">
                          <a:solidFill>
                            <a:srgbClr val="1B2630"/>
                          </a:solidFill>
                          <a:latin typeface="Open Sans"/>
                        </a:rPr>
                        <a:t>Registers</a:t>
                      </a:r>
                    </a:p>
                  </a:txBody>
                  <a:tcPr marL="54864" marR="54864">
                    <a:solidFill>
                      <a:srgbClr val="FFFFFF"/>
                    </a:solidFill>
                  </a:tcPr>
                </a:tc>
                <a:tc>
                  <a:txBody>
                    <a:bodyPr/>
                    <a:lstStyle/>
                    <a:p>
                      <a:r>
                        <a:rPr sz="1100" b="0">
                          <a:solidFill>
                            <a:srgbClr val="1B2630"/>
                          </a:solidFill>
                          <a:latin typeface="Open Sans"/>
                        </a:rPr>
                        <a:t>13 of 16</a:t>
                      </a:r>
                    </a:p>
                  </a:txBody>
                  <a:tcPr marL="54864" marR="54864">
                    <a:solidFill>
                      <a:srgbClr val="FFFFFF"/>
                    </a:solidFill>
                  </a:tcPr>
                </a:tc>
                <a:tc>
                  <a:txBody>
                    <a:bodyPr/>
                    <a:lstStyle/>
                    <a:p>
                      <a:r>
                        <a:rPr sz="1100" b="0">
                          <a:solidFill>
                            <a:srgbClr val="1B2630"/>
                          </a:solidFill>
                          <a:latin typeface="Open Sans"/>
                        </a:rPr>
                        <a:t>13 or 15 of 16</a:t>
                      </a:r>
                    </a:p>
                  </a:txBody>
                  <a:tcPr marL="54864" marR="54864">
                    <a:solidFill>
                      <a:srgbClr val="FFFFFF"/>
                    </a:solidFill>
                  </a:tcPr>
                </a:tc>
              </a:tr>
              <a:tr h="339636">
                <a:tc>
                  <a:txBody>
                    <a:bodyPr/>
                    <a:lstStyle/>
                    <a:p>
                      <a:r>
                        <a:rPr sz="1100" b="0">
                          <a:solidFill>
                            <a:srgbClr val="1B2630"/>
                          </a:solidFill>
                          <a:latin typeface="Open Sans"/>
                        </a:rPr>
                        <a:t>Peak per core</a:t>
                      </a:r>
                    </a:p>
                  </a:txBody>
                  <a:tcPr marL="54864" marR="54864">
                    <a:solidFill>
                      <a:srgbClr val="FFFFFF"/>
                    </a:solidFill>
                  </a:tcPr>
                </a:tc>
                <a:tc>
                  <a:txBody>
                    <a:bodyPr/>
                    <a:lstStyle/>
                    <a:p>
                      <a:r>
                        <a:rPr sz="1100" b="0">
                          <a:solidFill>
                            <a:srgbClr val="1B2630"/>
                          </a:solidFill>
                          <a:latin typeface="Open Sans"/>
                        </a:rPr>
                        <a:t>16 FLOPs/cycle</a:t>
                      </a:r>
                    </a:p>
                  </a:txBody>
                  <a:tcPr marL="54864" marR="54864">
                    <a:solidFill>
                      <a:srgbClr val="FFFFFF"/>
                    </a:solidFill>
                  </a:tcPr>
                </a:tc>
                <a:tc>
                  <a:txBody>
                    <a:bodyPr/>
                    <a:lstStyle/>
                    <a:p>
                      <a:r>
                        <a:rPr sz="1100" b="0">
                          <a:solidFill>
                            <a:srgbClr val="1B2630"/>
                          </a:solidFill>
                          <a:latin typeface="Open Sans"/>
                        </a:rPr>
                        <a:t>32 FLOPs/cycle</a:t>
                      </a:r>
                    </a:p>
                  </a:txBody>
                  <a:tcPr marL="54864" marR="54864">
                    <a:solidFill>
                      <a:srgbClr val="FFFFFF"/>
                    </a:solidFill>
                  </a:tcPr>
                </a:tc>
              </a:tr>
            </a:tbl>
          </a:graphicData>
        </a:graphic>
      </p:graphicFrame>
      <p:sp>
        <p:nvSpPr>
          <p:cNvPr id="4" name="TextBox 3"/>
          <p:cNvSpPr txBox="1"/>
          <p:nvPr/>
        </p:nvSpPr>
        <p:spPr>
          <a:xfrm>
            <a:off x="457200" y="3611880"/>
            <a:ext cx="4572000" cy="548640"/>
          </a:xfrm>
          <a:prstGeom prst="rect">
            <a:avLst/>
          </a:prstGeom>
          <a:noFill/>
        </p:spPr>
        <p:txBody>
          <a:bodyPr wrap="square" lIns="0" rIns="0" tIns="0" bIns="0" anchor="t">
            <a:spAutoFit/>
          </a:bodyPr>
          <a:lstStyle/>
          <a:p>
            <a:pPr algn="l"/>
            <a:r>
              <a:rPr sz="1200" b="0" i="0">
                <a:solidFill>
                  <a:srgbClr val="5A6875"/>
                </a:solidFill>
                <a:latin typeface="Open Sans"/>
              </a:rPr>
              <a:t>Same Broadwell core: 2 FMA units × 8 lanes × 2 FLOPs = 32 FLOPs/cycle. Latency 5 × throughput 2 = 10 chains in flight.</a:t>
            </a:r>
          </a:p>
        </p:txBody>
      </p:sp>
      <p:sp>
        <p:nvSpPr>
          <p:cNvPr id="5" name="term-0"/>
          <p:cNvSpPr/>
          <p:nvPr/>
        </p:nvSpPr>
        <p:spPr>
          <a:xfrm>
            <a:off x="5257800" y="1097280"/>
            <a:ext cx="3429000" cy="694944"/>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76672" y="1161288"/>
            <a:ext cx="3200400" cy="228600"/>
          </a:xfrm>
          <a:prstGeom prst="rect">
            <a:avLst/>
          </a:prstGeom>
          <a:noFill/>
        </p:spPr>
        <p:txBody>
          <a:bodyPr wrap="square" lIns="0" rIns="0" tIns="0" bIns="0" anchor="t">
            <a:spAutoFit/>
          </a:bodyPr>
          <a:lstStyle/>
          <a:p>
            <a:pPr algn="l"/>
            <a:r>
              <a:rPr sz="1200" b="1" i="0">
                <a:solidFill>
                  <a:srgbClr val="1B2630"/>
                </a:solidFill>
                <a:latin typeface="Courier New"/>
              </a:rPr>
              <a:t>C</a:t>
            </a:r>
          </a:p>
        </p:txBody>
      </p:sp>
      <p:sp>
        <p:nvSpPr>
          <p:cNvPr id="7" name="TextBox 6"/>
          <p:cNvSpPr txBox="1"/>
          <p:nvPr/>
        </p:nvSpPr>
        <p:spPr>
          <a:xfrm>
            <a:off x="5376672" y="1399032"/>
            <a:ext cx="3200400" cy="384048"/>
          </a:xfrm>
          <a:prstGeom prst="rect">
            <a:avLst/>
          </a:prstGeom>
          <a:noFill/>
        </p:spPr>
        <p:txBody>
          <a:bodyPr wrap="square" lIns="0" rIns="0" tIns="0" bIns="0" anchor="t">
            <a:spAutoFit/>
          </a:bodyPr>
          <a:lstStyle/>
          <a:p>
            <a:pPr algn="l"/>
            <a:r>
              <a:rPr sz="1000" b="0" i="0">
                <a:solidFill>
                  <a:srgbClr val="5A6875"/>
                </a:solidFill>
                <a:latin typeface="Open Sans"/>
              </a:rPr>
              <a:t>input channels of the layer (16 to 256)</a:t>
            </a:r>
          </a:p>
        </p:txBody>
      </p:sp>
      <p:sp>
        <p:nvSpPr>
          <p:cNvPr id="8" name="term-1"/>
          <p:cNvSpPr/>
          <p:nvPr/>
        </p:nvSpPr>
        <p:spPr>
          <a:xfrm>
            <a:off x="5257800" y="1865376"/>
            <a:ext cx="3429000" cy="694944"/>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76672" y="1929384"/>
            <a:ext cx="3200400" cy="228600"/>
          </a:xfrm>
          <a:prstGeom prst="rect">
            <a:avLst/>
          </a:prstGeom>
          <a:noFill/>
        </p:spPr>
        <p:txBody>
          <a:bodyPr wrap="square" lIns="0" rIns="0" tIns="0" bIns="0" anchor="t">
            <a:spAutoFit/>
          </a:bodyPr>
          <a:lstStyle/>
          <a:p>
            <a:pPr algn="l"/>
            <a:r>
              <a:rPr sz="1200" b="1" i="0">
                <a:solidFill>
                  <a:srgbClr val="1B2630"/>
                </a:solidFill>
                <a:latin typeface="Courier New"/>
              </a:rPr>
              <a:t>k = C × 9</a:t>
            </a:r>
          </a:p>
        </p:txBody>
      </p:sp>
      <p:sp>
        <p:nvSpPr>
          <p:cNvPr id="10" name="TextBox 9"/>
          <p:cNvSpPr txBox="1"/>
          <p:nvPr/>
        </p:nvSpPr>
        <p:spPr>
          <a:xfrm>
            <a:off x="5376672" y="2167128"/>
            <a:ext cx="3200400" cy="384048"/>
          </a:xfrm>
          <a:prstGeom prst="rect">
            <a:avLst/>
          </a:prstGeom>
          <a:noFill/>
        </p:spPr>
        <p:txBody>
          <a:bodyPr wrap="square" lIns="0" rIns="0" tIns="0" bIns="0" anchor="t">
            <a:spAutoFit/>
          </a:bodyPr>
          <a:lstStyle/>
          <a:p>
            <a:pPr algn="l"/>
            <a:r>
              <a:rPr sz="1000" b="0" i="0">
                <a:solidFill>
                  <a:srgbClr val="5A6875"/>
                </a:solidFill>
                <a:latin typeface="Open Sans"/>
              </a:rPr>
              <a:t>multiply-adds per output: C channels × the 9 taps of the 3×3 filter (A2's k)</a:t>
            </a:r>
          </a:p>
        </p:txBody>
      </p:sp>
      <p:sp>
        <p:nvSpPr>
          <p:cNvPr id="11" name="term-2"/>
          <p:cNvSpPr/>
          <p:nvPr/>
        </p:nvSpPr>
        <p:spPr>
          <a:xfrm>
            <a:off x="5257800" y="2633472"/>
            <a:ext cx="3429000" cy="694944"/>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76672" y="2697479"/>
            <a:ext cx="3200400" cy="228600"/>
          </a:xfrm>
          <a:prstGeom prst="rect">
            <a:avLst/>
          </a:prstGeom>
          <a:noFill/>
        </p:spPr>
        <p:txBody>
          <a:bodyPr wrap="square" lIns="0" rIns="0" tIns="0" bIns="0" anchor="t">
            <a:spAutoFit/>
          </a:bodyPr>
          <a:lstStyle/>
          <a:p>
            <a:pPr algn="l"/>
            <a:r>
              <a:rPr sz="1200" b="1" i="0">
                <a:solidFill>
                  <a:srgbClr val="1B2630"/>
                </a:solidFill>
                <a:latin typeface="Courier New"/>
              </a:rPr>
              <a:t>accumulator</a:t>
            </a:r>
          </a:p>
        </p:txBody>
      </p:sp>
      <p:sp>
        <p:nvSpPr>
          <p:cNvPr id="13" name="TextBox 12"/>
          <p:cNvSpPr txBox="1"/>
          <p:nvPr/>
        </p:nvSpPr>
        <p:spPr>
          <a:xfrm>
            <a:off x="5376672" y="2935224"/>
            <a:ext cx="3200400" cy="384048"/>
          </a:xfrm>
          <a:prstGeom prst="rect">
            <a:avLst/>
          </a:prstGeom>
          <a:noFill/>
        </p:spPr>
        <p:txBody>
          <a:bodyPr wrap="square" lIns="0" rIns="0" tIns="0" bIns="0" anchor="t">
            <a:spAutoFit/>
          </a:bodyPr>
          <a:lstStyle/>
          <a:p>
            <a:pPr algn="l"/>
            <a:r>
              <a:rPr sz="1000" b="0" i="0">
                <a:solidFill>
                  <a:srgbClr val="5A6875"/>
                </a:solidFill>
                <a:latin typeface="Open Sans"/>
              </a:rPr>
              <a:t>one YMM register = 8 outputs (8 channels of one pixel); one dependency chain</a:t>
            </a:r>
          </a:p>
        </p:txBody>
      </p:sp>
      <p:sp>
        <p:nvSpPr>
          <p:cNvPr id="14" name="term-3"/>
          <p:cNvSpPr/>
          <p:nvPr/>
        </p:nvSpPr>
        <p:spPr>
          <a:xfrm>
            <a:off x="5257800" y="3401568"/>
            <a:ext cx="3429000" cy="694944"/>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3465575"/>
            <a:ext cx="3200400" cy="228600"/>
          </a:xfrm>
          <a:prstGeom prst="rect">
            <a:avLst/>
          </a:prstGeom>
          <a:noFill/>
        </p:spPr>
        <p:txBody>
          <a:bodyPr wrap="square" lIns="0" rIns="0" tIns="0" bIns="0" anchor="t">
            <a:spAutoFit/>
          </a:bodyPr>
          <a:lstStyle/>
          <a:p>
            <a:pPr algn="l"/>
            <a:r>
              <a:rPr sz="1200" b="1" i="0">
                <a:solidFill>
                  <a:srgbClr val="BB0027"/>
                </a:solidFill>
                <a:latin typeface="Courier New"/>
              </a:rPr>
              <a:t>tile 2×5 (10)</a:t>
            </a:r>
          </a:p>
        </p:txBody>
      </p:sp>
      <p:sp>
        <p:nvSpPr>
          <p:cNvPr id="16" name="TextBox 15"/>
          <p:cNvSpPr txBox="1"/>
          <p:nvPr/>
        </p:nvSpPr>
        <p:spPr>
          <a:xfrm>
            <a:off x="5376672" y="3703320"/>
            <a:ext cx="3200400" cy="384048"/>
          </a:xfrm>
          <a:prstGeom prst="rect">
            <a:avLst/>
          </a:prstGeom>
          <a:noFill/>
        </p:spPr>
        <p:txBody>
          <a:bodyPr wrap="square" lIns="0" rIns="0" tIns="0" bIns="0" anchor="t">
            <a:spAutoFit/>
          </a:bodyPr>
          <a:lstStyle/>
          <a:p>
            <a:pPr algn="l"/>
            <a:r>
              <a:rPr sz="1000" b="0" i="0">
                <a:solidFill>
                  <a:srgbClr val="5A6875"/>
                </a:solidFill>
                <a:latin typeface="Open Sans"/>
              </a:rPr>
              <a:t>outputs per call: 2 blocks of 8 ch × 5 pixels = 80 outputs in 10 accumulators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kernel call = 80 outputs</a:t>
            </a:r>
          </a:p>
        </p:txBody>
      </p:sp>
      <p:pic>
        <p:nvPicPr>
          <p:cNvPr id="3" name="Picture 2" descr="tile_tensors.png"/>
          <p:cNvPicPr>
            <a:picLocks noChangeAspect="1"/>
          </p:cNvPicPr>
          <p:nvPr/>
        </p:nvPicPr>
        <p:blipFill>
          <a:blip r:embed="rId3"/>
          <a:stretch>
            <a:fillRect/>
          </a:stretch>
        </p:blipFill>
        <p:spPr>
          <a:xfrm>
            <a:off x="1097280" y="960120"/>
            <a:ext cx="6949440" cy="2024057"/>
          </a:xfrm>
          <a:prstGeom prst="rect">
            <a:avLst/>
          </a:prstGeom>
        </p:spPr>
      </p:pic>
      <p:sp>
        <p:nvSpPr>
          <p:cNvPr id="4" name="TextBox 3"/>
          <p:cNvSpPr txBox="1"/>
          <p:nvPr/>
        </p:nvSpPr>
        <p:spPr>
          <a:xfrm>
            <a:off x="457200" y="3017520"/>
            <a:ext cx="8229600" cy="274320"/>
          </a:xfrm>
          <a:prstGeom prst="rect">
            <a:avLst/>
          </a:prstGeom>
          <a:noFill/>
        </p:spPr>
        <p:txBody>
          <a:bodyPr wrap="square" lIns="0" rIns="0" tIns="0" bIns="0" anchor="t">
            <a:spAutoFit/>
          </a:bodyPr>
          <a:lstStyle/>
          <a:p>
            <a:pPr algn="l"/>
            <a:r>
              <a:rPr sz="1150" b="0" i="0">
                <a:solidFill>
                  <a:srgbClr val="1B2630"/>
                </a:solidFill>
                <a:latin typeface="Open Sans"/>
              </a:rPr>
              <a:t>Per step: 2 weight loads + 5 broadcasts feed 10 FMAs; repeated k = C × 9 times, then bias, SiLU, one store.</a:t>
            </a:r>
          </a:p>
        </p:txBody>
      </p:sp>
      <p:sp>
        <p:nvSpPr>
          <p:cNvPr id="5" name="strip-0"/>
          <p:cNvSpPr/>
          <p:nvPr/>
        </p:nvSpPr>
        <p:spPr>
          <a:xfrm>
            <a:off x="457200" y="3364992"/>
            <a:ext cx="1965960" cy="841248"/>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419856"/>
            <a:ext cx="1783080" cy="228600"/>
          </a:xfrm>
          <a:prstGeom prst="rect">
            <a:avLst/>
          </a:prstGeom>
          <a:noFill/>
        </p:spPr>
        <p:txBody>
          <a:bodyPr wrap="square" lIns="0" rIns="0" tIns="0" bIns="0" anchor="t">
            <a:spAutoFit/>
          </a:bodyPr>
          <a:lstStyle/>
          <a:p>
            <a:pPr algn="l"/>
            <a:r>
              <a:rPr sz="1150" b="1" i="0">
                <a:solidFill>
                  <a:srgbClr val="BB0027"/>
                </a:solidFill>
                <a:latin typeface="Open Sans"/>
              </a:rPr>
              <a:t>SIMD</a:t>
            </a:r>
          </a:p>
        </p:txBody>
      </p:sp>
      <p:sp>
        <p:nvSpPr>
          <p:cNvPr id="7" name="TextBox 6"/>
          <p:cNvSpPr txBox="1"/>
          <p:nvPr/>
        </p:nvSpPr>
        <p:spPr>
          <a:xfrm>
            <a:off x="548640" y="3648456"/>
            <a:ext cx="1783080" cy="548640"/>
          </a:xfrm>
          <a:prstGeom prst="rect">
            <a:avLst/>
          </a:prstGeom>
          <a:noFill/>
        </p:spPr>
        <p:txBody>
          <a:bodyPr wrap="square" lIns="0" rIns="0" tIns="0" bIns="0" anchor="t">
            <a:spAutoFit/>
          </a:bodyPr>
          <a:lstStyle/>
          <a:p>
            <a:pPr algn="l"/>
            <a:r>
              <a:rPr sz="950" b="0" i="0">
                <a:solidFill>
                  <a:srgbClr val="5A6875"/>
                </a:solidFill>
                <a:latin typeface="Open Sans"/>
              </a:rPr>
              <a:t>one vfmadd231ps = 8 multiply-adds (8 output channels): 32 FLOPs/cycle vs 4 scalar</a:t>
            </a:r>
          </a:p>
        </p:txBody>
      </p:sp>
      <p:sp>
        <p:nvSpPr>
          <p:cNvPr id="8" name="strip-1"/>
          <p:cNvSpPr/>
          <p:nvPr/>
        </p:nvSpPr>
        <p:spPr>
          <a:xfrm>
            <a:off x="2542032" y="3364992"/>
            <a:ext cx="1965960" cy="84124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33472" y="3419856"/>
            <a:ext cx="1783080" cy="228600"/>
          </a:xfrm>
          <a:prstGeom prst="rect">
            <a:avLst/>
          </a:prstGeom>
          <a:noFill/>
        </p:spPr>
        <p:txBody>
          <a:bodyPr wrap="square" lIns="0" rIns="0" tIns="0" bIns="0" anchor="t">
            <a:spAutoFit/>
          </a:bodyPr>
          <a:lstStyle/>
          <a:p>
            <a:pPr algn="l"/>
            <a:r>
              <a:rPr sz="1150" b="1" i="0">
                <a:solidFill>
                  <a:srgbClr val="1B2630"/>
                </a:solidFill>
                <a:latin typeface="Open Sans"/>
              </a:rPr>
              <a:t>Intrinsics</a:t>
            </a:r>
          </a:p>
        </p:txBody>
      </p:sp>
      <p:sp>
        <p:nvSpPr>
          <p:cNvPr id="10" name="TextBox 9"/>
          <p:cNvSpPr txBox="1"/>
          <p:nvPr/>
        </p:nvSpPr>
        <p:spPr>
          <a:xfrm>
            <a:off x="2633472" y="3648456"/>
            <a:ext cx="1783080" cy="548640"/>
          </a:xfrm>
          <a:prstGeom prst="rect">
            <a:avLst/>
          </a:prstGeom>
          <a:noFill/>
        </p:spPr>
        <p:txBody>
          <a:bodyPr wrap="square" lIns="0" rIns="0" tIns="0" bIns="0" anchor="t">
            <a:spAutoFit/>
          </a:bodyPr>
          <a:lstStyle/>
          <a:p>
            <a:pPr algn="l"/>
            <a:r>
              <a:rPr sz="950" b="0" i="0">
                <a:solidFill>
                  <a:srgbClr val="5A6875"/>
                </a:solidFill>
                <a:latin typeface="Open Sans"/>
              </a:rPr>
              <a:t>C calls that are one instruction each, e.g. _mm256_fmadd_ps = vfmadd231ps</a:t>
            </a:r>
          </a:p>
        </p:txBody>
      </p:sp>
      <p:sp>
        <p:nvSpPr>
          <p:cNvPr id="11" name="strip-2"/>
          <p:cNvSpPr/>
          <p:nvPr/>
        </p:nvSpPr>
        <p:spPr>
          <a:xfrm>
            <a:off x="4626864" y="3364992"/>
            <a:ext cx="1965960" cy="84124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3" y="3419856"/>
            <a:ext cx="1783080" cy="228600"/>
          </a:xfrm>
          <a:prstGeom prst="rect">
            <a:avLst/>
          </a:prstGeom>
          <a:noFill/>
        </p:spPr>
        <p:txBody>
          <a:bodyPr wrap="square" lIns="0" rIns="0" tIns="0" bIns="0" anchor="t">
            <a:spAutoFit/>
          </a:bodyPr>
          <a:lstStyle/>
          <a:p>
            <a:pPr algn="l"/>
            <a:r>
              <a:rPr sz="1150" b="1" i="0">
                <a:solidFill>
                  <a:srgbClr val="1B2630"/>
                </a:solidFill>
                <a:latin typeface="Open Sans"/>
              </a:rPr>
              <a:t>Reuse</a:t>
            </a:r>
          </a:p>
        </p:txBody>
      </p:sp>
      <p:sp>
        <p:nvSpPr>
          <p:cNvPr id="13" name="TextBox 12"/>
          <p:cNvSpPr txBox="1"/>
          <p:nvPr/>
        </p:nvSpPr>
        <p:spPr>
          <a:xfrm>
            <a:off x="4718303" y="3648456"/>
            <a:ext cx="1783080" cy="548640"/>
          </a:xfrm>
          <a:prstGeom prst="rect">
            <a:avLst/>
          </a:prstGeom>
          <a:noFill/>
        </p:spPr>
        <p:txBody>
          <a:bodyPr wrap="square" lIns="0" rIns="0" tIns="0" bIns="0" anchor="t">
            <a:spAutoFit/>
          </a:bodyPr>
          <a:lstStyle/>
          <a:p>
            <a:pPr algn="l"/>
            <a:r>
              <a:rPr sz="950" b="0" i="0">
                <a:solidFill>
                  <a:srgbClr val="5A6875"/>
                </a:solidFill>
                <a:latin typeface="Open Sans"/>
              </a:rPr>
              <a:t>each weight vector used 5×, each broadcast 2×, each accumulator stored once</a:t>
            </a:r>
          </a:p>
        </p:txBody>
      </p:sp>
      <p:sp>
        <p:nvSpPr>
          <p:cNvPr id="14" name="strip-3"/>
          <p:cNvSpPr/>
          <p:nvPr/>
        </p:nvSpPr>
        <p:spPr>
          <a:xfrm>
            <a:off x="6711696" y="3364992"/>
            <a:ext cx="1965960" cy="84124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3136" y="3419856"/>
            <a:ext cx="1783080" cy="228600"/>
          </a:xfrm>
          <a:prstGeom prst="rect">
            <a:avLst/>
          </a:prstGeom>
          <a:noFill/>
        </p:spPr>
        <p:txBody>
          <a:bodyPr wrap="square" lIns="0" rIns="0" tIns="0" bIns="0" anchor="t">
            <a:spAutoFit/>
          </a:bodyPr>
          <a:lstStyle/>
          <a:p>
            <a:pPr algn="l"/>
            <a:r>
              <a:rPr sz="1150" b="1" i="0">
                <a:solidFill>
                  <a:srgbClr val="1B2630"/>
                </a:solidFill>
                <a:latin typeface="Open Sans"/>
              </a:rPr>
              <a:t>Layout</a:t>
            </a:r>
          </a:p>
        </p:txBody>
      </p:sp>
      <p:sp>
        <p:nvSpPr>
          <p:cNvPr id="16" name="TextBox 15"/>
          <p:cNvSpPr txBox="1"/>
          <p:nvPr/>
        </p:nvSpPr>
        <p:spPr>
          <a:xfrm>
            <a:off x="6803136" y="3648456"/>
            <a:ext cx="1783080" cy="548640"/>
          </a:xfrm>
          <a:prstGeom prst="rect">
            <a:avLst/>
          </a:prstGeom>
          <a:noFill/>
        </p:spPr>
        <p:txBody>
          <a:bodyPr wrap="square" lIns="0" rIns="0" tIns="0" bIns="0" anchor="t">
            <a:spAutoFit/>
          </a:bodyPr>
          <a:lstStyle/>
          <a:p>
            <a:pPr algn="l"/>
            <a:r>
              <a:rPr sz="950" b="0" i="0">
                <a:solidFill>
                  <a:srgbClr val="5A6875"/>
                </a:solidFill>
                <a:latin typeface="Open Sans"/>
              </a:rPr>
              <a:t>8 channels of a pixel are contiguous: one aligned load fills one register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the numbers are measured</a:t>
            </a:r>
          </a:p>
        </p:txBody>
      </p:sp>
      <p:sp>
        <p:nvSpPr>
          <p:cNvPr id="3" name="assume-0"/>
          <p:cNvSpPr/>
          <p:nvPr/>
        </p:nvSpPr>
        <p:spPr>
          <a:xfrm>
            <a:off x="457200" y="1005840"/>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69848"/>
            <a:ext cx="3749039" cy="228600"/>
          </a:xfrm>
          <a:prstGeom prst="rect">
            <a:avLst/>
          </a:prstGeom>
          <a:noFill/>
        </p:spPr>
        <p:txBody>
          <a:bodyPr wrap="square" lIns="0" rIns="0" tIns="0" bIns="0" anchor="t">
            <a:spAutoFit/>
          </a:bodyPr>
          <a:lstStyle/>
          <a:p>
            <a:pPr algn="l"/>
            <a:r>
              <a:rPr sz="1150" b="1" i="0">
                <a:solidFill>
                  <a:srgbClr val="1B2630"/>
                </a:solidFill>
                <a:latin typeface="Open Sans"/>
              </a:rPr>
              <a:t>Machine</a:t>
            </a:r>
          </a:p>
        </p:txBody>
      </p:sp>
      <p:sp>
        <p:nvSpPr>
          <p:cNvPr id="5" name="TextBox 4"/>
          <p:cNvSpPr txBox="1"/>
          <p:nvPr/>
        </p:nvSpPr>
        <p:spPr>
          <a:xfrm>
            <a:off x="566928" y="1307592"/>
            <a:ext cx="3794760" cy="411480"/>
          </a:xfrm>
          <a:prstGeom prst="rect">
            <a:avLst/>
          </a:prstGeom>
          <a:noFill/>
        </p:spPr>
        <p:txBody>
          <a:bodyPr wrap="square" lIns="0" rIns="0" tIns="0" bIns="0" anchor="t">
            <a:spAutoFit/>
          </a:bodyPr>
          <a:lstStyle/>
          <a:p>
            <a:pPr algn="l"/>
            <a:r>
              <a:rPr sz="950" b="0" i="0">
                <a:solidFill>
                  <a:srgbClr val="5A6875"/>
                </a:solidFill>
                <a:latin typeface="Open Sans"/>
              </a:rPr>
              <a:t>ece028, Xeon E5-2640 v4 (Broadwell), 1 core pinned with taskset, GCC 8.5 -O3 -march=broadwell</a:t>
            </a:r>
          </a:p>
        </p:txBody>
      </p:sp>
      <p:sp>
        <p:nvSpPr>
          <p:cNvPr id="6" name="assume-1"/>
          <p:cNvSpPr/>
          <p:nvPr/>
        </p:nvSpPr>
        <p:spPr>
          <a:xfrm>
            <a:off x="4617720" y="1005840"/>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27448" y="1069848"/>
            <a:ext cx="3749039" cy="228600"/>
          </a:xfrm>
          <a:prstGeom prst="rect">
            <a:avLst/>
          </a:prstGeom>
          <a:noFill/>
        </p:spPr>
        <p:txBody>
          <a:bodyPr wrap="square" lIns="0" rIns="0" tIns="0" bIns="0" anchor="t">
            <a:spAutoFit/>
          </a:bodyPr>
          <a:lstStyle/>
          <a:p>
            <a:pPr algn="l"/>
            <a:r>
              <a:rPr sz="1150" b="1" i="0">
                <a:solidFill>
                  <a:srgbClr val="1B2630"/>
                </a:solidFill>
                <a:latin typeface="Open Sans"/>
              </a:rPr>
              <a:t>Peak</a:t>
            </a:r>
          </a:p>
        </p:txBody>
      </p:sp>
      <p:sp>
        <p:nvSpPr>
          <p:cNvPr id="8" name="TextBox 7"/>
          <p:cNvSpPr txBox="1"/>
          <p:nvPr/>
        </p:nvSpPr>
        <p:spPr>
          <a:xfrm>
            <a:off x="4727448" y="1307592"/>
            <a:ext cx="3794760" cy="411480"/>
          </a:xfrm>
          <a:prstGeom prst="rect">
            <a:avLst/>
          </a:prstGeom>
          <a:noFill/>
        </p:spPr>
        <p:txBody>
          <a:bodyPr wrap="square" lIns="0" rIns="0" tIns="0" bIns="0" anchor="t">
            <a:spAutoFit/>
          </a:bodyPr>
          <a:lstStyle/>
          <a:p>
            <a:pPr algn="l"/>
            <a:r>
              <a:rPr sz="950" b="0" i="0">
                <a:solidFill>
                  <a:srgbClr val="5A6875"/>
                </a:solidFill>
                <a:latin typeface="Open Sans"/>
              </a:rPr>
              <a:t>2 FMA units × 8 FP32 lanes × 2 FLOPs = 32 FLOPs/cycle per core (AVX2, no AVX-512)</a:t>
            </a:r>
          </a:p>
        </p:txBody>
      </p:sp>
      <p:sp>
        <p:nvSpPr>
          <p:cNvPr id="9" name="assume-2"/>
          <p:cNvSpPr/>
          <p:nvPr/>
        </p:nvSpPr>
        <p:spPr>
          <a:xfrm>
            <a:off x="457200" y="1810512"/>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874519"/>
            <a:ext cx="3749039" cy="228600"/>
          </a:xfrm>
          <a:prstGeom prst="rect">
            <a:avLst/>
          </a:prstGeom>
          <a:noFill/>
        </p:spPr>
        <p:txBody>
          <a:bodyPr wrap="square" lIns="0" rIns="0" tIns="0" bIns="0" anchor="t">
            <a:spAutoFit/>
          </a:bodyPr>
          <a:lstStyle/>
          <a:p>
            <a:pPr algn="l"/>
            <a:r>
              <a:rPr sz="1150" b="1" i="0">
                <a:solidFill>
                  <a:srgbClr val="BB0027"/>
                </a:solidFill>
                <a:latin typeface="Open Sans"/>
              </a:rPr>
              <a:t>Cycles</a:t>
            </a:r>
          </a:p>
        </p:txBody>
      </p:sp>
      <p:sp>
        <p:nvSpPr>
          <p:cNvPr id="11" name="TextBox 10"/>
          <p:cNvSpPr txBox="1"/>
          <p:nvPr/>
        </p:nvSpPr>
        <p:spPr>
          <a:xfrm>
            <a:off x="566928" y="2112264"/>
            <a:ext cx="3794760" cy="411480"/>
          </a:xfrm>
          <a:prstGeom prst="rect">
            <a:avLst/>
          </a:prstGeom>
          <a:noFill/>
        </p:spPr>
        <p:txBody>
          <a:bodyPr wrap="square" lIns="0" rIns="0" tIns="0" bIns="0" anchor="t">
            <a:spAutoFit/>
          </a:bodyPr>
          <a:lstStyle/>
          <a:p>
            <a:pPr algn="l"/>
            <a:r>
              <a:rPr sz="950" b="0" i="0">
                <a:solidFill>
                  <a:srgbClr val="5A6875"/>
                </a:solidFill>
                <a:latin typeface="Open Sans"/>
              </a:rPr>
              <a:t>wall time × 3.4 GHz (max turbo), as in Assignment 2: can only understate % of peak</a:t>
            </a:r>
          </a:p>
        </p:txBody>
      </p:sp>
      <p:sp>
        <p:nvSpPr>
          <p:cNvPr id="12" name="assume-3"/>
          <p:cNvSpPr/>
          <p:nvPr/>
        </p:nvSpPr>
        <p:spPr>
          <a:xfrm>
            <a:off x="4617720" y="1810512"/>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27448" y="1874519"/>
            <a:ext cx="3749039" cy="228600"/>
          </a:xfrm>
          <a:prstGeom prst="rect">
            <a:avLst/>
          </a:prstGeom>
          <a:noFill/>
        </p:spPr>
        <p:txBody>
          <a:bodyPr wrap="square" lIns="0" rIns="0" tIns="0" bIns="0" anchor="t">
            <a:spAutoFit/>
          </a:bodyPr>
          <a:lstStyle/>
          <a:p>
            <a:pPr algn="l"/>
            <a:r>
              <a:rPr sz="1150" b="1" i="0">
                <a:solidFill>
                  <a:srgbClr val="1B2630"/>
                </a:solidFill>
                <a:latin typeface="Open Sans"/>
              </a:rPr>
              <a:t>FLOPs</a:t>
            </a:r>
          </a:p>
        </p:txBody>
      </p:sp>
      <p:sp>
        <p:nvSpPr>
          <p:cNvPr id="14" name="TextBox 13"/>
          <p:cNvSpPr txBox="1"/>
          <p:nvPr/>
        </p:nvSpPr>
        <p:spPr>
          <a:xfrm>
            <a:off x="4727448" y="2112264"/>
            <a:ext cx="3794760" cy="411480"/>
          </a:xfrm>
          <a:prstGeom prst="rect">
            <a:avLst/>
          </a:prstGeom>
          <a:noFill/>
        </p:spPr>
        <p:txBody>
          <a:bodyPr wrap="square" lIns="0" rIns="0" tIns="0" bIns="0" anchor="t">
            <a:spAutoFit/>
          </a:bodyPr>
          <a:lstStyle/>
          <a:p>
            <a:pPr algn="l"/>
            <a:r>
              <a:rPr sz="950" b="0" i="0">
                <a:solidFill>
                  <a:srgbClr val="5A6875"/>
                </a:solidFill>
                <a:latin typeface="Open Sans"/>
              </a:rPr>
              <a:t>2 × outputs × C × 9: only the convolution's multiply-adds; bias and SiLU count as zero</a:t>
            </a:r>
          </a:p>
        </p:txBody>
      </p:sp>
      <p:sp>
        <p:nvSpPr>
          <p:cNvPr id="15" name="assume-4"/>
          <p:cNvSpPr/>
          <p:nvPr/>
        </p:nvSpPr>
        <p:spPr>
          <a:xfrm>
            <a:off x="457200" y="2615184"/>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679192"/>
            <a:ext cx="3749039" cy="228600"/>
          </a:xfrm>
          <a:prstGeom prst="rect">
            <a:avLst/>
          </a:prstGeom>
          <a:noFill/>
        </p:spPr>
        <p:txBody>
          <a:bodyPr wrap="square" lIns="0" rIns="0" tIns="0" bIns="0" anchor="t">
            <a:spAutoFit/>
          </a:bodyPr>
          <a:lstStyle/>
          <a:p>
            <a:pPr algn="l"/>
            <a:r>
              <a:rPr sz="1150" b="1" i="0">
                <a:solidFill>
                  <a:srgbClr val="1B2630"/>
                </a:solidFill>
                <a:latin typeface="Open Sans"/>
              </a:rPr>
              <a:t>Microkernel alone</a:t>
            </a:r>
          </a:p>
        </p:txBody>
      </p:sp>
      <p:sp>
        <p:nvSpPr>
          <p:cNvPr id="17" name="TextBox 16"/>
          <p:cNvSpPr txBox="1"/>
          <p:nvPr/>
        </p:nvSpPr>
        <p:spPr>
          <a:xfrm>
            <a:off x="566928" y="2916936"/>
            <a:ext cx="3794760" cy="411480"/>
          </a:xfrm>
          <a:prstGeom prst="rect">
            <a:avLst/>
          </a:prstGeom>
          <a:noFill/>
        </p:spPr>
        <p:txBody>
          <a:bodyPr wrap="square" lIns="0" rIns="0" tIns="0" bIns="0" anchor="t">
            <a:spAutoFit/>
          </a:bodyPr>
          <a:lstStyle/>
          <a:p>
            <a:pPr algn="l"/>
            <a:r>
              <a:rPr sz="950" b="0" i="0">
                <a:solidFill>
                  <a:srgbClr val="5A6875"/>
                </a:solidFill>
                <a:latin typeface="Open Sans"/>
              </a:rPr>
              <a:t>one tile of data reused (stays in L1/L2), 2 s warm-up, best of 3 runs, SiLU off</a:t>
            </a:r>
          </a:p>
        </p:txBody>
      </p:sp>
      <p:sp>
        <p:nvSpPr>
          <p:cNvPr id="18" name="assume-5"/>
          <p:cNvSpPr/>
          <p:nvPr/>
        </p:nvSpPr>
        <p:spPr>
          <a:xfrm>
            <a:off x="4617720" y="2615184"/>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27448" y="2679192"/>
            <a:ext cx="3749039" cy="228600"/>
          </a:xfrm>
          <a:prstGeom prst="rect">
            <a:avLst/>
          </a:prstGeom>
          <a:noFill/>
        </p:spPr>
        <p:txBody>
          <a:bodyPr wrap="square" lIns="0" rIns="0" tIns="0" bIns="0" anchor="t">
            <a:spAutoFit/>
          </a:bodyPr>
          <a:lstStyle/>
          <a:p>
            <a:pPr algn="l"/>
            <a:r>
              <a:rPr sz="1150" b="1" i="0">
                <a:solidFill>
                  <a:srgbClr val="1B2630"/>
                </a:solidFill>
                <a:latin typeface="Open Sans"/>
              </a:rPr>
              <a:t>Full layers</a:t>
            </a:r>
          </a:p>
        </p:txBody>
      </p:sp>
      <p:sp>
        <p:nvSpPr>
          <p:cNvPr id="20" name="TextBox 19"/>
          <p:cNvSpPr txBox="1"/>
          <p:nvPr/>
        </p:nvSpPr>
        <p:spPr>
          <a:xfrm>
            <a:off x="4727448" y="2916936"/>
            <a:ext cx="3794760" cy="411480"/>
          </a:xfrm>
          <a:prstGeom prst="rect">
            <a:avLst/>
          </a:prstGeom>
          <a:noFill/>
        </p:spPr>
        <p:txBody>
          <a:bodyPr wrap="square" lIns="0" rIns="0" tIns="0" bIns="0" anchor="t">
            <a:spAutoFit/>
          </a:bodyPr>
          <a:lstStyle/>
          <a:p>
            <a:pPr algn="l"/>
            <a:r>
              <a:rPr sz="950" b="0" i="0">
                <a:solidFill>
                  <a:srgbClr val="5A6875"/>
                </a:solidFill>
                <a:latin typeface="Open Sans"/>
              </a:rPr>
              <a:t>all 32 real YOLOv8n layers, batch 1, 640 × 640 image, FP32, SiLU on</a:t>
            </a:r>
          </a:p>
        </p:txBody>
      </p:sp>
      <p:sp>
        <p:nvSpPr>
          <p:cNvPr id="21" name="assume-6"/>
          <p:cNvSpPr/>
          <p:nvPr/>
        </p:nvSpPr>
        <p:spPr>
          <a:xfrm>
            <a:off x="457200" y="3419856"/>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3483864"/>
            <a:ext cx="3749039" cy="228600"/>
          </a:xfrm>
          <a:prstGeom prst="rect">
            <a:avLst/>
          </a:prstGeom>
          <a:noFill/>
        </p:spPr>
        <p:txBody>
          <a:bodyPr wrap="square" lIns="0" rIns="0" tIns="0" bIns="0" anchor="t">
            <a:spAutoFit/>
          </a:bodyPr>
          <a:lstStyle/>
          <a:p>
            <a:pPr algn="l"/>
            <a:r>
              <a:rPr sz="1150" b="1" i="0">
                <a:solidFill>
                  <a:srgbClr val="1B2630"/>
                </a:solidFill>
                <a:latin typeface="Open Sans"/>
              </a:rPr>
              <a:t>Correct</a:t>
            </a:r>
          </a:p>
        </p:txBody>
      </p:sp>
      <p:sp>
        <p:nvSpPr>
          <p:cNvPr id="23" name="TextBox 22"/>
          <p:cNvSpPr txBox="1"/>
          <p:nvPr/>
        </p:nvSpPr>
        <p:spPr>
          <a:xfrm>
            <a:off x="566928" y="3721608"/>
            <a:ext cx="3794760" cy="411480"/>
          </a:xfrm>
          <a:prstGeom prst="rect">
            <a:avLst/>
          </a:prstGeom>
          <a:noFill/>
        </p:spPr>
        <p:txBody>
          <a:bodyPr wrap="square" lIns="0" rIns="0" tIns="0" bIns="0" anchor="t">
            <a:spAutoFit/>
          </a:bodyPr>
          <a:lstStyle/>
          <a:p>
            <a:pPr algn="l"/>
            <a:r>
              <a:rPr sz="950" b="0" i="0">
                <a:solidFill>
                  <a:srgbClr val="5A6875"/>
                </a:solidFill>
                <a:latin typeface="Open Sans"/>
              </a:rPr>
              <a:t>every result checked: max relative error ≤ 1e-4 vs a scalar reference / OpenCV's real outputs</a:t>
            </a:r>
          </a:p>
        </p:txBody>
      </p:sp>
      <p:sp>
        <p:nvSpPr>
          <p:cNvPr id="24" name="assume-7"/>
          <p:cNvSpPr/>
          <p:nvPr/>
        </p:nvSpPr>
        <p:spPr>
          <a:xfrm>
            <a:off x="4617720" y="3419856"/>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27448" y="3483864"/>
            <a:ext cx="3749039" cy="228600"/>
          </a:xfrm>
          <a:prstGeom prst="rect">
            <a:avLst/>
          </a:prstGeom>
          <a:noFill/>
        </p:spPr>
        <p:txBody>
          <a:bodyPr wrap="square" lIns="0" rIns="0" tIns="0" bIns="0" anchor="t">
            <a:spAutoFit/>
          </a:bodyPr>
          <a:lstStyle/>
          <a:p>
            <a:pPr algn="l"/>
            <a:r>
              <a:rPr sz="1150" b="1" i="0">
                <a:solidFill>
                  <a:srgbClr val="1B2630"/>
                </a:solidFill>
                <a:latin typeface="Open Sans"/>
              </a:rPr>
              <a:t>Baseline</a:t>
            </a:r>
          </a:p>
        </p:txBody>
      </p:sp>
      <p:sp>
        <p:nvSpPr>
          <p:cNvPr id="26" name="TextBox 25"/>
          <p:cNvSpPr txBox="1"/>
          <p:nvPr/>
        </p:nvSpPr>
        <p:spPr>
          <a:xfrm>
            <a:off x="4727448" y="3721608"/>
            <a:ext cx="3794760" cy="411480"/>
          </a:xfrm>
          <a:prstGeom prst="rect">
            <a:avLst/>
          </a:prstGeom>
          <a:noFill/>
        </p:spPr>
        <p:txBody>
          <a:bodyPr wrap="square" lIns="0" rIns="0" tIns="0" bIns="0" anchor="t">
            <a:spAutoFit/>
          </a:bodyPr>
          <a:lstStyle/>
          <a:p>
            <a:pPr algn="l"/>
            <a:r>
              <a:rPr sz="950" b="0" i="0">
                <a:solidFill>
                  <a:srgbClr val="5A6875"/>
                </a:solidFill>
                <a:latin typeface="Open Sans"/>
              </a:rPr>
              <a:t>OpenCV DNN on the same ONNX model, 1 thread, its own per-layer timer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steps: ops → accumulators → tile → benchmark</a:t>
            </a:r>
          </a:p>
        </p:txBody>
      </p:sp>
      <p:sp>
        <p:nvSpPr>
          <p:cNvPr id="3" name="Oval 2"/>
          <p:cNvSpPr/>
          <p:nvPr/>
        </p:nvSpPr>
        <p:spPr>
          <a:xfrm>
            <a:off x="457200" y="1069848"/>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69848"/>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1</a:t>
            </a:r>
          </a:p>
        </p:txBody>
      </p:sp>
      <p:sp>
        <p:nvSpPr>
          <p:cNvPr id="5" name="TextBox 4"/>
          <p:cNvSpPr txBox="1"/>
          <p:nvPr/>
        </p:nvSpPr>
        <p:spPr>
          <a:xfrm>
            <a:off x="914400" y="1033271"/>
            <a:ext cx="3291840" cy="256032"/>
          </a:xfrm>
          <a:prstGeom prst="rect">
            <a:avLst/>
          </a:prstGeom>
          <a:noFill/>
        </p:spPr>
        <p:txBody>
          <a:bodyPr wrap="square" lIns="0" rIns="0" tIns="0" bIns="0" anchor="t">
            <a:spAutoFit/>
          </a:bodyPr>
          <a:lstStyle/>
          <a:p>
            <a:pPr algn="l"/>
            <a:r>
              <a:rPr sz="1300" b="1" i="0">
                <a:solidFill>
                  <a:srgbClr val="1B2630"/>
                </a:solidFill>
                <a:latin typeface="Open Sans"/>
              </a:rPr>
              <a:t>Independent ops</a:t>
            </a:r>
          </a:p>
        </p:txBody>
      </p:sp>
      <p:sp>
        <p:nvSpPr>
          <p:cNvPr id="6" name="TextBox 5"/>
          <p:cNvSpPr txBox="1"/>
          <p:nvPr/>
        </p:nvSpPr>
        <p:spPr>
          <a:xfrm>
            <a:off x="914400" y="1298448"/>
            <a:ext cx="3291840" cy="475488"/>
          </a:xfrm>
          <a:prstGeom prst="rect">
            <a:avLst/>
          </a:prstGeom>
          <a:noFill/>
        </p:spPr>
        <p:txBody>
          <a:bodyPr wrap="square" lIns="0" rIns="0" tIns="0" bIns="0" anchor="t">
            <a:spAutoFit/>
          </a:bodyPr>
          <a:lstStyle/>
          <a:p>
            <a:pPr algn="l"/>
            <a:r>
              <a:rPr sz="1050" b="0" i="0">
                <a:solidFill>
                  <a:srgbClr val="5A6875"/>
                </a:solidFill>
                <a:latin typeface="Open Sans"/>
              </a:rPr>
              <a:t>Each output is a dot product of length C × 9: 102,400 in a 40×40, 64-ch layer.</a:t>
            </a:r>
          </a:p>
        </p:txBody>
      </p:sp>
      <p:sp>
        <p:nvSpPr>
          <p:cNvPr id="7" name="Oval 6"/>
          <p:cNvSpPr/>
          <p:nvPr/>
        </p:nvSpPr>
        <p:spPr>
          <a:xfrm>
            <a:off x="457200" y="1847088"/>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47088"/>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2</a:t>
            </a:r>
          </a:p>
        </p:txBody>
      </p:sp>
      <p:sp>
        <p:nvSpPr>
          <p:cNvPr id="9" name="TextBox 8"/>
          <p:cNvSpPr txBox="1"/>
          <p:nvPr/>
        </p:nvSpPr>
        <p:spPr>
          <a:xfrm>
            <a:off x="914400" y="1810512"/>
            <a:ext cx="3291840" cy="256032"/>
          </a:xfrm>
          <a:prstGeom prst="rect">
            <a:avLst/>
          </a:prstGeom>
          <a:noFill/>
        </p:spPr>
        <p:txBody>
          <a:bodyPr wrap="square" lIns="0" rIns="0" tIns="0" bIns="0" anchor="t">
            <a:spAutoFit/>
          </a:bodyPr>
          <a:lstStyle/>
          <a:p>
            <a:pPr algn="l"/>
            <a:r>
              <a:rPr sz="1300" b="1" i="0">
                <a:solidFill>
                  <a:srgbClr val="1B2630"/>
                </a:solidFill>
                <a:latin typeface="Open Sans"/>
              </a:rPr>
              <a:t>Outputs in flight</a:t>
            </a:r>
          </a:p>
        </p:txBody>
      </p:sp>
      <p:sp>
        <p:nvSpPr>
          <p:cNvPr id="10" name="TextBox 9"/>
          <p:cNvSpPr txBox="1"/>
          <p:nvPr/>
        </p:nvSpPr>
        <p:spPr>
          <a:xfrm>
            <a:off x="914400" y="2075688"/>
            <a:ext cx="3291840" cy="475488"/>
          </a:xfrm>
          <a:prstGeom prst="rect">
            <a:avLst/>
          </a:prstGeom>
          <a:noFill/>
        </p:spPr>
        <p:txBody>
          <a:bodyPr wrap="square" lIns="0" rIns="0" tIns="0" bIns="0" anchor="t">
            <a:spAutoFit/>
          </a:bodyPr>
          <a:lstStyle/>
          <a:p>
            <a:pPr algn="l"/>
            <a:r>
              <a:rPr sz="1050" b="0" i="0">
                <a:solidFill>
                  <a:srgbClr val="5A6875"/>
                </a:solidFill>
                <a:latin typeface="Open Sans"/>
              </a:rPr>
              <a:t>5 × 2 FMA/cycle = 10 accumulators = 80 outputs; 1 accumulator = 10% of peak.</a:t>
            </a:r>
          </a:p>
        </p:txBody>
      </p:sp>
      <p:sp>
        <p:nvSpPr>
          <p:cNvPr id="11" name="Oval 10"/>
          <p:cNvSpPr/>
          <p:nvPr/>
        </p:nvSpPr>
        <p:spPr>
          <a:xfrm>
            <a:off x="457200" y="2624327"/>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624327"/>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3</a:t>
            </a:r>
          </a:p>
        </p:txBody>
      </p:sp>
      <p:sp>
        <p:nvSpPr>
          <p:cNvPr id="13" name="TextBox 12"/>
          <p:cNvSpPr txBox="1"/>
          <p:nvPr/>
        </p:nvSpPr>
        <p:spPr>
          <a:xfrm>
            <a:off x="914400" y="2587751"/>
            <a:ext cx="3291840" cy="256032"/>
          </a:xfrm>
          <a:prstGeom prst="rect">
            <a:avLst/>
          </a:prstGeom>
          <a:noFill/>
        </p:spPr>
        <p:txBody>
          <a:bodyPr wrap="square" lIns="0" rIns="0" tIns="0" bIns="0" anchor="t">
            <a:spAutoFit/>
          </a:bodyPr>
          <a:lstStyle/>
          <a:p>
            <a:pPr algn="l"/>
            <a:r>
              <a:rPr sz="1300" b="1" i="0">
                <a:solidFill>
                  <a:srgbClr val="1B2630"/>
                </a:solidFill>
                <a:latin typeface="Open Sans"/>
              </a:rPr>
              <a:t>Kernel size</a:t>
            </a:r>
          </a:p>
        </p:txBody>
      </p:sp>
      <p:sp>
        <p:nvSpPr>
          <p:cNvPr id="14" name="TextBox 13"/>
          <p:cNvSpPr txBox="1"/>
          <p:nvPr/>
        </p:nvSpPr>
        <p:spPr>
          <a:xfrm>
            <a:off x="914400" y="2852927"/>
            <a:ext cx="3291840" cy="475488"/>
          </a:xfrm>
          <a:prstGeom prst="rect">
            <a:avLst/>
          </a:prstGeom>
          <a:noFill/>
        </p:spPr>
        <p:txBody>
          <a:bodyPr wrap="square" lIns="0" rIns="0" tIns="0" bIns="0" anchor="t">
            <a:spAutoFit/>
          </a:bodyPr>
          <a:lstStyle/>
          <a:p>
            <a:pPr algn="l"/>
            <a:r>
              <a:rPr sz="1050" b="0" i="0">
                <a:solidFill>
                  <a:srgbClr val="5A6875"/>
                </a:solidFill>
                <a:latin typeface="Open Sans"/>
              </a:rPr>
              <a:t>2×5 tile: 10 acc + 2 weights + 1 broadcast = 13 regs; 7 loads per 10 FMAs.</a:t>
            </a:r>
          </a:p>
        </p:txBody>
      </p:sp>
      <p:sp>
        <p:nvSpPr>
          <p:cNvPr id="15" name="Oval 14"/>
          <p:cNvSpPr/>
          <p:nvPr/>
        </p:nvSpPr>
        <p:spPr>
          <a:xfrm>
            <a:off x="457200" y="3401568"/>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401568"/>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4</a:t>
            </a:r>
          </a:p>
        </p:txBody>
      </p:sp>
      <p:sp>
        <p:nvSpPr>
          <p:cNvPr id="17" name="TextBox 16"/>
          <p:cNvSpPr txBox="1"/>
          <p:nvPr/>
        </p:nvSpPr>
        <p:spPr>
          <a:xfrm>
            <a:off x="914400" y="3364991"/>
            <a:ext cx="3291840" cy="256032"/>
          </a:xfrm>
          <a:prstGeom prst="rect">
            <a:avLst/>
          </a:prstGeom>
          <a:noFill/>
        </p:spPr>
        <p:txBody>
          <a:bodyPr wrap="square" lIns="0" rIns="0" tIns="0" bIns="0" anchor="t">
            <a:spAutoFit/>
          </a:bodyPr>
          <a:lstStyle/>
          <a:p>
            <a:pPr algn="l"/>
            <a:r>
              <a:rPr sz="1300" b="1" i="0">
                <a:solidFill>
                  <a:srgbClr val="1B2630"/>
                </a:solidFill>
                <a:latin typeface="Open Sans"/>
              </a:rPr>
              <a:t>Benchmark like A2</a:t>
            </a:r>
          </a:p>
        </p:txBody>
      </p:sp>
      <p:sp>
        <p:nvSpPr>
          <p:cNvPr id="18" name="TextBox 17"/>
          <p:cNvSpPr txBox="1"/>
          <p:nvPr/>
        </p:nvSpPr>
        <p:spPr>
          <a:xfrm>
            <a:off x="914400" y="3630168"/>
            <a:ext cx="3291840" cy="475488"/>
          </a:xfrm>
          <a:prstGeom prst="rect">
            <a:avLst/>
          </a:prstGeom>
          <a:noFill/>
        </p:spPr>
        <p:txBody>
          <a:bodyPr wrap="square" lIns="0" rIns="0" tIns="0" bIns="0" anchor="t">
            <a:spAutoFit/>
          </a:bodyPr>
          <a:lstStyle/>
          <a:p>
            <a:pPr algn="l"/>
            <a:r>
              <a:rPr sz="1050" b="0" i="0">
                <a:solidFill>
                  <a:srgbClr val="5A6875"/>
                </a:solidFill>
                <a:latin typeface="Open Sans"/>
              </a:rPr>
              <a:t>Kernel alone, k = 72 to 4608, 3 runs, 2 s warm-up, cycles at 3.4 GHz, checked.</a:t>
            </a:r>
          </a:p>
        </p:txBody>
      </p:sp>
      <p:graphicFrame>
        <p:nvGraphicFramePr>
          <p:cNvPr id="19" name="Chart 18"/>
          <p:cNvGraphicFramePr>
            <a:graphicFrameLocks noGrp="1"/>
          </p:cNvGraphicFramePr>
          <p:nvPr/>
        </p:nvGraphicFramePr>
        <p:xfrm>
          <a:off x="4389120" y="960120"/>
          <a:ext cx="4297680" cy="3246120"/>
        </p:xfrm>
        <a:graphic>
          <a:graphicData uri="http://schemas.openxmlformats.org/drawingml/2006/chart">
            <c:chart xmlns:c="http://schemas.openxmlformats.org/drawingml/2006/chart" r:id="rId3"/>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Same math, 50% to 95%: tile and register allocation</a:t>
            </a:r>
          </a:p>
        </p:txBody>
      </p:sp>
      <p:pic>
        <p:nvPicPr>
          <p:cNvPr id="3" name="Picture 2" descr="ukr_design_space.png"/>
          <p:cNvPicPr>
            <a:picLocks noChangeAspect="1"/>
          </p:cNvPicPr>
          <p:nvPr/>
        </p:nvPicPr>
        <p:blipFill>
          <a:blip r:embed="rId3"/>
          <a:stretch>
            <a:fillRect/>
          </a:stretch>
        </p:blipFill>
        <p:spPr>
          <a:xfrm>
            <a:off x="457200" y="1005840"/>
            <a:ext cx="5883088" cy="3200400"/>
          </a:xfrm>
          <a:prstGeom prst="rect">
            <a:avLst/>
          </a:prstGeom>
        </p:spPr>
      </p:pic>
      <p:sp>
        <p:nvSpPr>
          <p:cNvPr id="4" name="ds-card-0"/>
          <p:cNvSpPr/>
          <p:nvPr/>
        </p:nvSpPr>
        <p:spPr>
          <a:xfrm>
            <a:off x="6446520" y="1005840"/>
            <a:ext cx="2240280" cy="96012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56248" y="1078992"/>
            <a:ext cx="2011680" cy="256032"/>
          </a:xfrm>
          <a:prstGeom prst="rect">
            <a:avLst/>
          </a:prstGeom>
          <a:noFill/>
        </p:spPr>
        <p:txBody>
          <a:bodyPr wrap="square" lIns="0" rIns="0" tIns="0" bIns="0" anchor="t">
            <a:spAutoFit/>
          </a:bodyPr>
          <a:lstStyle/>
          <a:p>
            <a:pPr algn="l"/>
            <a:r>
              <a:rPr sz="1200" b="1" i="0">
                <a:solidFill>
                  <a:srgbClr val="1B2630"/>
                </a:solidFill>
                <a:latin typeface="Open Sans"/>
              </a:rPr>
              <a:t>Intrinsics</a:t>
            </a:r>
          </a:p>
        </p:txBody>
      </p:sp>
      <p:sp>
        <p:nvSpPr>
          <p:cNvPr id="6" name="TextBox 5"/>
          <p:cNvSpPr txBox="1"/>
          <p:nvPr/>
        </p:nvSpPr>
        <p:spPr>
          <a:xfrm>
            <a:off x="6556248" y="1353312"/>
            <a:ext cx="2011680" cy="594360"/>
          </a:xfrm>
          <a:prstGeom prst="rect">
            <a:avLst/>
          </a:prstGeom>
          <a:noFill/>
        </p:spPr>
        <p:txBody>
          <a:bodyPr wrap="square" lIns="0" rIns="0" tIns="0" bIns="0" anchor="t">
            <a:spAutoFit/>
          </a:bodyPr>
          <a:lstStyle/>
          <a:p>
            <a:pPr algn="l"/>
            <a:r>
              <a:rPr sz="1000" b="0" i="0">
                <a:solidFill>
                  <a:srgbClr val="5A6875"/>
                </a:solidFill>
                <a:latin typeface="Open Sans"/>
              </a:rPr>
              <a:t>GCC: clean at 13 regs, copies at 15, spills at 16</a:t>
            </a:r>
          </a:p>
        </p:txBody>
      </p:sp>
      <p:sp>
        <p:nvSpPr>
          <p:cNvPr id="7" name="ds-card-1"/>
          <p:cNvSpPr/>
          <p:nvPr/>
        </p:nvSpPr>
        <p:spPr>
          <a:xfrm>
            <a:off x="6446520" y="2084832"/>
            <a:ext cx="2240280" cy="960120"/>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56248" y="2157984"/>
            <a:ext cx="2011680" cy="256032"/>
          </a:xfrm>
          <a:prstGeom prst="rect">
            <a:avLst/>
          </a:prstGeom>
          <a:noFill/>
        </p:spPr>
        <p:txBody>
          <a:bodyPr wrap="square" lIns="0" rIns="0" tIns="0" bIns="0" anchor="t">
            <a:spAutoFit/>
          </a:bodyPr>
          <a:lstStyle/>
          <a:p>
            <a:pPr algn="l"/>
            <a:r>
              <a:rPr sz="1200" b="1" i="0">
                <a:solidFill>
                  <a:srgbClr val="BB0027"/>
                </a:solidFill>
                <a:latin typeface="Open Sans"/>
              </a:rPr>
              <a:t>Inline asm</a:t>
            </a:r>
          </a:p>
        </p:txBody>
      </p:sp>
      <p:sp>
        <p:nvSpPr>
          <p:cNvPr id="9" name="TextBox 8"/>
          <p:cNvSpPr txBox="1"/>
          <p:nvPr/>
        </p:nvSpPr>
        <p:spPr>
          <a:xfrm>
            <a:off x="6556248" y="2432304"/>
            <a:ext cx="2011680" cy="594360"/>
          </a:xfrm>
          <a:prstGeom prst="rect">
            <a:avLst/>
          </a:prstGeom>
          <a:noFill/>
        </p:spPr>
        <p:txBody>
          <a:bodyPr wrap="square" lIns="0" rIns="0" tIns="0" bIns="0" anchor="t">
            <a:spAutoFit/>
          </a:bodyPr>
          <a:lstStyle/>
          <a:p>
            <a:pPr algn="l"/>
            <a:r>
              <a:rPr sz="1000" b="0" i="0">
                <a:solidFill>
                  <a:srgbClr val="5A6875"/>
                </a:solidFill>
                <a:latin typeface="Open Sans"/>
              </a:rPr>
              <a:t>hand-written CPU instructions, we pick every register: 2×6 at 95% alone, 84% in layers</a:t>
            </a:r>
          </a:p>
        </p:txBody>
      </p:sp>
      <p:sp>
        <p:nvSpPr>
          <p:cNvPr id="10" name="ds-card-2"/>
          <p:cNvSpPr/>
          <p:nvPr/>
        </p:nvSpPr>
        <p:spPr>
          <a:xfrm>
            <a:off x="6446520" y="3163824"/>
            <a:ext cx="2240280" cy="96012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56248" y="3236976"/>
            <a:ext cx="2011680" cy="256032"/>
          </a:xfrm>
          <a:prstGeom prst="rect">
            <a:avLst/>
          </a:prstGeom>
          <a:noFill/>
        </p:spPr>
        <p:txBody>
          <a:bodyPr wrap="square" lIns="0" rIns="0" tIns="0" bIns="0" anchor="t">
            <a:spAutoFit/>
          </a:bodyPr>
          <a:lstStyle/>
          <a:p>
            <a:pPr algn="l"/>
            <a:r>
              <a:rPr sz="1200" b="1" i="0">
                <a:solidFill>
                  <a:srgbClr val="1B2630"/>
                </a:solidFill>
                <a:latin typeface="Open Sans"/>
              </a:rPr>
              <a:t>Unroll, pipeline</a:t>
            </a:r>
          </a:p>
        </p:txBody>
      </p:sp>
      <p:sp>
        <p:nvSpPr>
          <p:cNvPr id="12" name="TextBox 11"/>
          <p:cNvSpPr txBox="1"/>
          <p:nvPr/>
        </p:nvSpPr>
        <p:spPr>
          <a:xfrm>
            <a:off x="6556248" y="3511296"/>
            <a:ext cx="2011680" cy="594360"/>
          </a:xfrm>
          <a:prstGeom prst="rect">
            <a:avLst/>
          </a:prstGeom>
          <a:noFill/>
        </p:spPr>
        <p:txBody>
          <a:bodyPr wrap="square" lIns="0" rIns="0" tIns="0" bIns="0" anchor="t">
            <a:spAutoFit/>
          </a:bodyPr>
          <a:lstStyle/>
          <a:p>
            <a:pPr algn="l"/>
            <a:r>
              <a:rPr sz="1000" b="0" i="0">
                <a:solidFill>
                  <a:srgbClr val="5A6875"/>
                </a:solidFill>
                <a:latin typeface="Open Sans"/>
              </a:rPr>
              <a:t>lost: uop cache, spills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Benchmarked like Assignment 2: FLOPs/cycle vs k</a:t>
            </a:r>
          </a:p>
        </p:txBody>
      </p:sp>
      <p:pic>
        <p:nvPicPr>
          <p:cNvPr id="3" name="Picture 2" descr="ukr_sweep_nosilu_34.png"/>
          <p:cNvPicPr>
            <a:picLocks noChangeAspect="1"/>
          </p:cNvPicPr>
          <p:nvPr/>
        </p:nvPicPr>
        <p:blipFill>
          <a:blip r:embed="rId3"/>
          <a:stretch>
            <a:fillRect/>
          </a:stretch>
        </p:blipFill>
        <p:spPr>
          <a:xfrm>
            <a:off x="457200" y="960120"/>
            <a:ext cx="5486400" cy="2926080"/>
          </a:xfrm>
          <a:prstGeom prst="rect">
            <a:avLst/>
          </a:prstGeom>
        </p:spPr>
      </p:pic>
      <p:sp>
        <p:nvSpPr>
          <p:cNvPr id="4" name="TextBox 3"/>
          <p:cNvSpPr txBox="1"/>
          <p:nvPr/>
        </p:nvSpPr>
        <p:spPr>
          <a:xfrm>
            <a:off x="457200" y="3931920"/>
            <a:ext cx="5486400" cy="274320"/>
          </a:xfrm>
          <a:prstGeom prst="rect">
            <a:avLst/>
          </a:prstGeom>
          <a:noFill/>
        </p:spPr>
        <p:txBody>
          <a:bodyPr wrap="square" lIns="0" rIns="0" tIns="0" bIns="0" anchor="t">
            <a:spAutoFit/>
          </a:bodyPr>
          <a:lstStyle/>
          <a:p>
            <a:pPr algn="l"/>
            <a:r>
              <a:rPr sz="1000" b="0" i="0">
                <a:solidFill>
                  <a:srgbClr val="5A6875"/>
                </a:solidFill>
                <a:latin typeface="Open Sans"/>
              </a:rPr>
              <a:t>SiLU off, cycles = time × 3.4 GHz, as in A2. 3 runs, every point checked (576 pass).</a:t>
            </a:r>
          </a:p>
        </p:txBody>
      </p:sp>
      <p:sp>
        <p:nvSpPr>
          <p:cNvPr id="5" name="TextBox 4"/>
          <p:cNvSpPr txBox="1"/>
          <p:nvPr/>
        </p:nvSpPr>
        <p:spPr>
          <a:xfrm>
            <a:off x="6172200" y="960120"/>
            <a:ext cx="2514600" cy="548640"/>
          </a:xfrm>
          <a:prstGeom prst="rect">
            <a:avLst/>
          </a:prstGeom>
          <a:noFill/>
        </p:spPr>
        <p:txBody>
          <a:bodyPr wrap="square" lIns="0" rIns="0" tIns="0" bIns="0" anchor="t">
            <a:spAutoFit/>
          </a:bodyPr>
          <a:lstStyle/>
          <a:p>
            <a:pPr algn="l"/>
            <a:r>
              <a:rPr sz="3000" b="1" i="0">
                <a:solidFill>
                  <a:srgbClr val="BB0027"/>
                </a:solidFill>
                <a:latin typeface="Open Sans"/>
              </a:rPr>
              <a:t>94–97%</a:t>
            </a:r>
          </a:p>
        </p:txBody>
      </p:sp>
      <p:sp>
        <p:nvSpPr>
          <p:cNvPr id="6" name="TextBox 5"/>
          <p:cNvSpPr txBox="1"/>
          <p:nvPr/>
        </p:nvSpPr>
        <p:spPr>
          <a:xfrm>
            <a:off x="6172200" y="1527048"/>
            <a:ext cx="2514600" cy="548640"/>
          </a:xfrm>
          <a:prstGeom prst="rect">
            <a:avLst/>
          </a:prstGeom>
          <a:noFill/>
        </p:spPr>
        <p:txBody>
          <a:bodyPr wrap="square" lIns="0" rIns="0" tIns="0" bIns="0" anchor="t">
            <a:spAutoFit/>
          </a:bodyPr>
          <a:lstStyle/>
          <a:p>
            <a:pPr algn="l"/>
            <a:r>
              <a:rPr sz="1200" b="0" i="0">
                <a:solidFill>
                  <a:srgbClr val="5A6875"/>
                </a:solidFill>
                <a:latin typeface="Open Sans"/>
              </a:rPr>
              <a:t>2×6 asm: 30–31 FLOPs/cycle, ~102 GFLOP/s on one core</a:t>
            </a:r>
          </a:p>
        </p:txBody>
      </p:sp>
      <p:sp>
        <p:nvSpPr>
          <p:cNvPr id="7" name="TextBox 6"/>
          <p:cNvSpPr txBox="1"/>
          <p:nvPr/>
        </p:nvSpPr>
        <p:spPr>
          <a:xfrm>
            <a:off x="6172200" y="2011680"/>
            <a:ext cx="2514600" cy="548640"/>
          </a:xfrm>
          <a:prstGeom prst="rect">
            <a:avLst/>
          </a:prstGeom>
          <a:noFill/>
        </p:spPr>
        <p:txBody>
          <a:bodyPr wrap="square" lIns="0" rIns="0" tIns="0" bIns="0" anchor="t">
            <a:spAutoFit/>
          </a:bodyPr>
          <a:lstStyle/>
          <a:p>
            <a:pPr algn="l"/>
            <a:r>
              <a:rPr sz="3000" b="1" i="0">
                <a:solidFill>
                  <a:srgbClr val="6B7782"/>
                </a:solidFill>
                <a:latin typeface="Open Sans"/>
              </a:rPr>
              <a:t>83–89%</a:t>
            </a:r>
          </a:p>
        </p:txBody>
      </p:sp>
      <p:sp>
        <p:nvSpPr>
          <p:cNvPr id="8" name="TextBox 7"/>
          <p:cNvSpPr txBox="1"/>
          <p:nvPr/>
        </p:nvSpPr>
        <p:spPr>
          <a:xfrm>
            <a:off x="6172200" y="2578608"/>
            <a:ext cx="2514600" cy="548640"/>
          </a:xfrm>
          <a:prstGeom prst="rect">
            <a:avLst/>
          </a:prstGeom>
          <a:noFill/>
        </p:spPr>
        <p:txBody>
          <a:bodyPr wrap="square" lIns="0" rIns="0" tIns="0" bIns="0" anchor="t">
            <a:spAutoFit/>
          </a:bodyPr>
          <a:lstStyle/>
          <a:p>
            <a:pPr algn="l"/>
            <a:r>
              <a:rPr sz="1200" b="0" i="0">
                <a:solidFill>
                  <a:srgbClr val="5A6875"/>
                </a:solidFill>
                <a:latin typeface="Open Sans"/>
              </a:rPr>
              <a:t>2×5 intrinsics (v2's tile)</a:t>
            </a:r>
          </a:p>
        </p:txBody>
      </p:sp>
      <p:sp>
        <p:nvSpPr>
          <p:cNvPr id="9" name="TextBox 8"/>
          <p:cNvSpPr txBox="1"/>
          <p:nvPr/>
        </p:nvSpPr>
        <p:spPr>
          <a:xfrm>
            <a:off x="6172200" y="3063240"/>
            <a:ext cx="2514600" cy="548640"/>
          </a:xfrm>
          <a:prstGeom prst="rect">
            <a:avLst/>
          </a:prstGeom>
          <a:noFill/>
        </p:spPr>
        <p:txBody>
          <a:bodyPr wrap="square" lIns="0" rIns="0" tIns="0" bIns="0" anchor="t">
            <a:spAutoFit/>
          </a:bodyPr>
          <a:lstStyle/>
          <a:p>
            <a:pPr algn="l"/>
            <a:r>
              <a:rPr sz="3000" b="1" i="0">
                <a:solidFill>
                  <a:srgbClr val="B7731A"/>
                </a:solidFill>
                <a:latin typeface="Open Sans"/>
              </a:rPr>
              <a:t>k ≈ 500</a:t>
            </a:r>
          </a:p>
        </p:txBody>
      </p:sp>
      <p:sp>
        <p:nvSpPr>
          <p:cNvPr id="10" name="TextBox 9"/>
          <p:cNvSpPr txBox="1"/>
          <p:nvPr/>
        </p:nvSpPr>
        <p:spPr>
          <a:xfrm>
            <a:off x="6172200" y="3630168"/>
            <a:ext cx="2514600" cy="548640"/>
          </a:xfrm>
          <a:prstGeom prst="rect">
            <a:avLst/>
          </a:prstGeom>
          <a:noFill/>
        </p:spPr>
        <p:txBody>
          <a:bodyPr wrap="square" lIns="0" rIns="0" tIns="0" bIns="0" anchor="t">
            <a:spAutoFit/>
          </a:bodyPr>
          <a:lstStyle/>
          <a:p>
            <a:pPr algn="l"/>
            <a:r>
              <a:rPr sz="1200" b="0" i="0">
                <a:solidFill>
                  <a:srgbClr val="5A6875"/>
                </a:solidFill>
                <a:latin typeface="Open Sans"/>
              </a:rPr>
              <a:t>L1 dip: 2×5 weights pass 32 KB, like k ≈ 315 in A2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Fastest alone is not fastest in the layer</a:t>
            </a:r>
          </a:p>
        </p:txBody>
      </p:sp>
      <p:graphicFrame>
        <p:nvGraphicFramePr>
          <p:cNvPr id="3" name="Chart 2"/>
          <p:cNvGraphicFramePr>
            <a:graphicFrameLocks noGrp="1"/>
          </p:cNvGraphicFramePr>
          <p:nvPr/>
        </p:nvGraphicFramePr>
        <p:xfrm>
          <a:off x="457200" y="1005840"/>
          <a:ext cx="4023360" cy="3200400"/>
        </p:xfrm>
        <a:graphic>
          <a:graphicData uri="http://schemas.openxmlformats.org/drawingml/2006/chart">
            <c:chart xmlns:c="http://schemas.openxmlformats.org/drawingml/2006/chart" r:id="rId3"/>
          </a:graphicData>
        </a:graphic>
      </p:graphicFrame>
      <p:sp>
        <p:nvSpPr>
          <p:cNvPr id="4" name="TextBox 3"/>
          <p:cNvSpPr txBox="1"/>
          <p:nvPr/>
        </p:nvSpPr>
        <p:spPr>
          <a:xfrm>
            <a:off x="4754880" y="1005840"/>
            <a:ext cx="3931920" cy="274320"/>
          </a:xfrm>
          <a:prstGeom prst="rect">
            <a:avLst/>
          </a:prstGeom>
          <a:noFill/>
        </p:spPr>
        <p:txBody>
          <a:bodyPr wrap="square" lIns="0" rIns="0" tIns="0" bIns="0" anchor="t">
            <a:spAutoFit/>
          </a:bodyPr>
          <a:lstStyle/>
          <a:p>
            <a:pPr algn="l"/>
            <a:r>
              <a:rPr sz="1200" b="1" i="0">
                <a:solidFill>
                  <a:srgbClr val="1B2630"/>
                </a:solidFill>
                <a:latin typeface="Open Sans"/>
              </a:rPr>
              <a:t>What the compiler did when inlined:</a:t>
            </a:r>
          </a:p>
        </p:txBody>
      </p:sp>
      <p:sp>
        <p:nvSpPr>
          <p:cNvPr id="5" name="spill-code"/>
          <p:cNvSpPr/>
          <p:nvPr/>
        </p:nvSpPr>
        <p:spPr>
          <a:xfrm>
            <a:off x="4754880" y="1325880"/>
            <a:ext cx="3931920" cy="86868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64608" y="1389888"/>
            <a:ext cx="3749039" cy="749808"/>
          </a:xfrm>
          <a:prstGeom prst="rect">
            <a:avLst/>
          </a:prstGeom>
          <a:noFill/>
        </p:spPr>
        <p:txBody>
          <a:bodyPr wrap="square" lIns="0" rIns="0" tIns="0" bIns="0" anchor="ctr">
            <a:spAutoFit/>
          </a:bodyPr>
          <a:lstStyle/>
          <a:p>
            <a:pPr algn="l"/>
            <a:r>
              <a:rPr sz="1050" b="0" i="0">
                <a:solidFill>
                  <a:srgbClr val="1B2630"/>
                </a:solidFill>
                <a:latin typeface="Courier New"/>
              </a:rPr>
              <a:t>vmovaps 168(%rsp), %ymm1   # load sum back</a:t>
            </a:r>
          </a:p>
          <a:p>
            <a:pPr algn="l">
              <a:spcBef>
                <a:spcPts val="600"/>
              </a:spcBef>
            </a:pPr>
            <a:r>
              <a:rPr sz="1050" b="0" i="0">
                <a:solidFill>
                  <a:srgbClr val="1B2630"/>
                </a:solidFill>
                <a:latin typeface="Courier New"/>
              </a:rPr>
              <a:t>  ...kernel: 80 FMAs...</a:t>
            </a:r>
          </a:p>
          <a:p>
            <a:pPr algn="l">
              <a:spcBef>
                <a:spcPts val="600"/>
              </a:spcBef>
            </a:pPr>
            <a:r>
              <a:rPr sz="1050" b="0" i="0">
                <a:solidFill>
                  <a:srgbClr val="1B2630"/>
                </a:solidFill>
                <a:latin typeface="Courier New"/>
              </a:rPr>
              <a:t>vmovaps %ymm1, 168(%rsp)   # park sum again</a:t>
            </a:r>
          </a:p>
        </p:txBody>
      </p:sp>
      <p:sp>
        <p:nvSpPr>
          <p:cNvPr id="7" name="TextBox 6"/>
          <p:cNvSpPr txBox="1"/>
          <p:nvPr/>
        </p:nvSpPr>
        <p:spPr>
          <a:xfrm>
            <a:off x="4754880" y="2331720"/>
            <a:ext cx="3931920" cy="914400"/>
          </a:xfrm>
          <a:prstGeom prst="rect">
            <a:avLst/>
          </a:prstGeom>
          <a:noFill/>
        </p:spPr>
        <p:txBody>
          <a:bodyPr wrap="square" lIns="0" rIns="0" tIns="0" bIns="0" anchor="t">
            <a:spAutoFit/>
          </a:bodyPr>
          <a:lstStyle/>
          <a:p>
            <a:pPr algn="l"/>
            <a:r>
              <a:rPr sz="1150" b="1" i="0">
                <a:solidFill>
                  <a:srgbClr val="1B2630"/>
                </a:solidFill>
                <a:latin typeface="Open Sans"/>
              </a:rPr>
              <a:t>Problem: </a:t>
            </a:r>
            <a:r>
              <a:rPr sz="1150" b="0" i="0">
                <a:solidFill>
                  <a:srgbClr val="5A6875"/>
                </a:solidFill>
                <a:latin typeface="Open Sans"/>
              </a:rPr>
              <a:t>3 of the 10 sums live in memory, so each step waits on a store and a load.</a:t>
            </a:r>
          </a:p>
          <a:p>
            <a:pPr algn="l">
              <a:spcBef>
                <a:spcPts val="600"/>
              </a:spcBef>
            </a:pPr>
            <a:r>
              <a:rPr sz="1150" b="1" i="0">
                <a:solidFill>
                  <a:srgbClr val="1B2630"/>
                </a:solidFill>
                <a:latin typeface="Open Sans"/>
              </a:rPr>
              <a:t>Fix: </a:t>
            </a:r>
            <a:r>
              <a:rPr sz="1150" b="0" i="0">
                <a:solidFill>
                  <a:srgbClr val="5A6875"/>
                </a:solidFill>
                <a:latin typeface="Open Sans"/>
              </a:rPr>
              <a:t>call the kernel as a function, as the benchmark does; all 10 stay in registers.</a:t>
            </a:r>
          </a:p>
        </p:txBody>
      </p:sp>
      <p:sp>
        <p:nvSpPr>
          <p:cNvPr id="8" name="TextBox 7"/>
          <p:cNvSpPr txBox="1"/>
          <p:nvPr/>
        </p:nvSpPr>
        <p:spPr>
          <a:xfrm>
            <a:off x="4754880" y="3429000"/>
            <a:ext cx="3931920" cy="731520"/>
          </a:xfrm>
          <a:prstGeom prst="rect">
            <a:avLst/>
          </a:prstGeom>
          <a:noFill/>
        </p:spPr>
        <p:txBody>
          <a:bodyPr wrap="square" lIns="0" rIns="0" tIns="0" bIns="0" anchor="t">
            <a:spAutoFit/>
          </a:bodyPr>
          <a:lstStyle/>
          <a:p>
            <a:pPr algn="l"/>
            <a:r>
              <a:rPr sz="1400" b="1" i="1">
                <a:solidFill>
                  <a:srgbClr val="BB0027"/>
                </a:solidFill>
                <a:latin typeface="Open Sans"/>
              </a:rPr>
              <a:t>The kernel is only fast if its registers stay its 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1.36× faster than OpenCV on all 32 layers</a:t>
            </a:r>
          </a:p>
        </p:txBody>
      </p:sp>
      <p:graphicFrame>
        <p:nvGraphicFramePr>
          <p:cNvPr id="3" name="Chart 2"/>
          <p:cNvGraphicFramePr>
            <a:graphicFrameLocks noGrp="1"/>
          </p:cNvGraphicFramePr>
          <p:nvPr/>
        </p:nvGraphicFramePr>
        <p:xfrm>
          <a:off x="457200" y="1005840"/>
          <a:ext cx="5120640" cy="3108960"/>
        </p:xfrm>
        <a:graphic>
          <a:graphicData uri="http://schemas.openxmlformats.org/drawingml/2006/chart">
            <c:chart xmlns:c="http://schemas.openxmlformats.org/drawingml/2006/chart" r:id="rId3"/>
          </a:graphicData>
        </a:graphic>
      </p:graphicFrame>
      <p:sp>
        <p:nvSpPr>
          <p:cNvPr id="4" name="TextBox 3"/>
          <p:cNvSpPr txBox="1"/>
          <p:nvPr/>
        </p:nvSpPr>
        <p:spPr>
          <a:xfrm>
            <a:off x="5943600" y="1005840"/>
            <a:ext cx="2743200" cy="548640"/>
          </a:xfrm>
          <a:prstGeom prst="rect">
            <a:avLst/>
          </a:prstGeom>
          <a:noFill/>
        </p:spPr>
        <p:txBody>
          <a:bodyPr wrap="square" lIns="0" rIns="0" tIns="0" bIns="0" anchor="t">
            <a:spAutoFit/>
          </a:bodyPr>
          <a:lstStyle/>
          <a:p>
            <a:pPr algn="l"/>
            <a:r>
              <a:rPr sz="3000" b="1" i="0">
                <a:solidFill>
                  <a:srgbClr val="BB0027"/>
                </a:solidFill>
                <a:latin typeface="Open Sans"/>
              </a:rPr>
              <a:t>1.36×</a:t>
            </a:r>
          </a:p>
        </p:txBody>
      </p:sp>
      <p:sp>
        <p:nvSpPr>
          <p:cNvPr id="5" name="TextBox 4"/>
          <p:cNvSpPr txBox="1"/>
          <p:nvPr/>
        </p:nvSpPr>
        <p:spPr>
          <a:xfrm>
            <a:off x="5943600" y="1572768"/>
            <a:ext cx="2743200" cy="548640"/>
          </a:xfrm>
          <a:prstGeom prst="rect">
            <a:avLst/>
          </a:prstGeom>
          <a:noFill/>
        </p:spPr>
        <p:txBody>
          <a:bodyPr wrap="square" lIns="0" rIns="0" tIns="0" bIns="0" anchor="t">
            <a:spAutoFit/>
          </a:bodyPr>
          <a:lstStyle/>
          <a:p>
            <a:pPr algn="l"/>
            <a:r>
              <a:rPr sz="1200" b="0" i="0">
                <a:solidFill>
                  <a:srgbClr val="5A6875"/>
                </a:solidFill>
                <a:latin typeface="Open Sans"/>
              </a:rPr>
              <a:t>v10 vs OpenCV DNN (84% of peak vs 62%)</a:t>
            </a:r>
          </a:p>
        </p:txBody>
      </p:sp>
      <p:sp>
        <p:nvSpPr>
          <p:cNvPr id="6" name="TextBox 5"/>
          <p:cNvSpPr txBox="1"/>
          <p:nvPr/>
        </p:nvSpPr>
        <p:spPr>
          <a:xfrm>
            <a:off x="5943600" y="2057400"/>
            <a:ext cx="2743200" cy="548640"/>
          </a:xfrm>
          <a:prstGeom prst="rect">
            <a:avLst/>
          </a:prstGeom>
          <a:noFill/>
        </p:spPr>
        <p:txBody>
          <a:bodyPr wrap="square" lIns="0" rIns="0" tIns="0" bIns="0" anchor="t">
            <a:spAutoFit/>
          </a:bodyPr>
          <a:lstStyle/>
          <a:p>
            <a:pPr algn="l"/>
            <a:r>
              <a:rPr sz="3000" b="1" i="0">
                <a:solidFill>
                  <a:srgbClr val="6B7782"/>
                </a:solidFill>
                <a:latin typeface="Open Sans"/>
              </a:rPr>
              <a:t>1.24×</a:t>
            </a:r>
          </a:p>
        </p:txBody>
      </p:sp>
      <p:sp>
        <p:nvSpPr>
          <p:cNvPr id="7" name="TextBox 6"/>
          <p:cNvSpPr txBox="1"/>
          <p:nvPr/>
        </p:nvSpPr>
        <p:spPr>
          <a:xfrm>
            <a:off x="5943600" y="2624328"/>
            <a:ext cx="2743200" cy="548640"/>
          </a:xfrm>
          <a:prstGeom prst="rect">
            <a:avLst/>
          </a:prstGeom>
          <a:noFill/>
        </p:spPr>
        <p:txBody>
          <a:bodyPr wrap="square" lIns="0" rIns="0" tIns="0" bIns="0" anchor="t">
            <a:spAutoFit/>
          </a:bodyPr>
          <a:lstStyle/>
          <a:p>
            <a:pPr algn="l"/>
            <a:r>
              <a:rPr sz="1200" b="0" i="0">
                <a:solidFill>
                  <a:srgbClr val="5A6875"/>
                </a:solidFill>
                <a:latin typeface="Open Sans"/>
              </a:rPr>
              <a:t>v2, the first working kernel, vs OpenCV</a:t>
            </a:r>
          </a:p>
        </p:txBody>
      </p:sp>
      <p:sp>
        <p:nvSpPr>
          <p:cNvPr id="8" name="TextBox 7"/>
          <p:cNvSpPr txBox="1"/>
          <p:nvPr/>
        </p:nvSpPr>
        <p:spPr>
          <a:xfrm>
            <a:off x="5943600" y="3154680"/>
            <a:ext cx="2743200" cy="1005840"/>
          </a:xfrm>
          <a:prstGeom prst="rect">
            <a:avLst/>
          </a:prstGeom>
          <a:noFill/>
        </p:spPr>
        <p:txBody>
          <a:bodyPr wrap="square" lIns="0" rIns="0" tIns="0" bIns="0" anchor="t">
            <a:spAutoFit/>
          </a:bodyPr>
          <a:lstStyle/>
          <a:p>
            <a:pPr algn="l"/>
            <a:r>
              <a:rPr sz="1150" b="0" i="1">
                <a:solidFill>
                  <a:srgbClr val="5A6875"/>
                </a:solidFill>
                <a:latin typeface="Open Sans"/>
              </a:rPr>
              <a:t>Next: cache blocking for C ≥ 128 (where 4×3 collapses), then threads on 20 cores.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same sweeps with SiLU on</a:t>
            </a:r>
          </a:p>
        </p:txBody>
      </p:sp>
      <p:pic>
        <p:nvPicPr>
          <p:cNvPr id="3" name="Picture 2" descr="ukr_sweep_2x6_34.png"/>
          <p:cNvPicPr>
            <a:picLocks noChangeAspect="1"/>
          </p:cNvPicPr>
          <p:nvPr/>
        </p:nvPicPr>
        <p:blipFill>
          <a:blip r:embed="rId3"/>
          <a:stretch>
            <a:fillRect/>
          </a:stretch>
        </p:blipFill>
        <p:spPr>
          <a:xfrm>
            <a:off x="457200" y="1051560"/>
            <a:ext cx="4023360" cy="2145792"/>
          </a:xfrm>
          <a:prstGeom prst="rect">
            <a:avLst/>
          </a:prstGeom>
        </p:spPr>
      </p:pic>
      <p:pic>
        <p:nvPicPr>
          <p:cNvPr id="4" name="Picture 3" descr="ukr_sweep_34.png"/>
          <p:cNvPicPr>
            <a:picLocks noChangeAspect="1"/>
          </p:cNvPicPr>
          <p:nvPr/>
        </p:nvPicPr>
        <p:blipFill>
          <a:blip r:embed="rId4"/>
          <a:stretch>
            <a:fillRect/>
          </a:stretch>
        </p:blipFill>
        <p:spPr>
          <a:xfrm>
            <a:off x="4663440" y="1051560"/>
            <a:ext cx="4023360" cy="2145792"/>
          </a:xfrm>
          <a:prstGeom prst="rect">
            <a:avLst/>
          </a:prstGeom>
        </p:spPr>
      </p:pic>
      <p:sp>
        <p:nvSpPr>
          <p:cNvPr id="5" name="TextBox 4"/>
          <p:cNvSpPr txBox="1"/>
          <p:nvPr/>
        </p:nvSpPr>
        <p:spPr>
          <a:xfrm>
            <a:off x="457200" y="3291840"/>
            <a:ext cx="4023360" cy="640080"/>
          </a:xfrm>
          <a:prstGeom prst="rect">
            <a:avLst/>
          </a:prstGeom>
          <a:noFill/>
        </p:spPr>
        <p:txBody>
          <a:bodyPr wrap="square" lIns="0" rIns="0" tIns="0" bIns="0" anchor="t">
            <a:spAutoFit/>
          </a:bodyPr>
          <a:lstStyle/>
          <a:p>
            <a:pPr algn="l"/>
            <a:r>
              <a:rPr sz="1050" b="0" i="0">
                <a:solidFill>
                  <a:srgbClr val="5A6875"/>
                </a:solidFill>
                <a:latin typeface="Open Sans"/>
              </a:rPr>
              <a:t>2×6 asm 90.2% mean (C = 32–256); 2×5 81.4%. SiLU costs a fixed 160–290 cycles per call.</a:t>
            </a:r>
          </a:p>
        </p:txBody>
      </p:sp>
      <p:sp>
        <p:nvSpPr>
          <p:cNvPr id="6" name="TextBox 5"/>
          <p:cNvSpPr txBox="1"/>
          <p:nvPr/>
        </p:nvSpPr>
        <p:spPr>
          <a:xfrm>
            <a:off x="4663440" y="3291840"/>
            <a:ext cx="4023360" cy="640080"/>
          </a:xfrm>
          <a:prstGeom prst="rect">
            <a:avLst/>
          </a:prstGeom>
          <a:noFill/>
        </p:spPr>
        <p:txBody>
          <a:bodyPr wrap="square" lIns="0" rIns="0" tIns="0" bIns="0" anchor="t">
            <a:spAutoFit/>
          </a:bodyPr>
          <a:lstStyle/>
          <a:p>
            <a:pPr algn="l"/>
            <a:r>
              <a:rPr sz="1050" b="0" i="0">
                <a:solidFill>
                  <a:srgbClr val="5A6875"/>
                </a:solidFill>
                <a:latin typeface="Open Sans"/>
              </a:rPr>
              <a:t>4×3 asm: best 87.5% at C = 120, 57% at C = 256: its weights leave L2 (cache blocking fixes this).</a:t>
            </a:r>
          </a:p>
        </p:txBody>
      </p:sp>
    </p:spTree>
  </p:cSld>
  <p:clrMapOvr>
    <a:masterClrMapping/>
  </p:clrMapOvr>
</p:sld>
</file>

<file path=ppt/theme/theme1.xml><?xml version="1.0" encoding="utf-8"?>
<a:theme xmlns:a="http://schemas.openxmlformats.org/drawingml/2006/main" xmlns:r="http://schemas.openxmlformats.org/officeDocument/2006/relationships" name="CMU PPT Theme">
  <a:themeElements>
    <a:clrScheme name="Custom 1">
      <a:dk1>
        <a:srgbClr val="000000"/>
      </a:dk1>
      <a:lt1>
        <a:srgbClr val="FFFFFF"/>
      </a:lt1>
      <a:dk2>
        <a:srgbClr val="75787B"/>
      </a:dk2>
      <a:lt2>
        <a:srgbClr val="C8C9C7"/>
      </a:lt2>
      <a:accent1>
        <a:srgbClr val="BB0000"/>
      </a:accent1>
      <a:accent2>
        <a:srgbClr val="75787B"/>
      </a:accent2>
      <a:accent3>
        <a:srgbClr val="00833C"/>
      </a:accent3>
      <a:accent4>
        <a:srgbClr val="F2A900"/>
      </a:accent4>
      <a:accent5>
        <a:srgbClr val="002C71"/>
      </a:accent5>
      <a:accent6>
        <a:srgbClr val="C8C9C7"/>
      </a:accent6>
      <a:hlink>
        <a:srgbClr val="BB0000"/>
      </a:hlink>
      <a:folHlink>
        <a:srgbClr val="8200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