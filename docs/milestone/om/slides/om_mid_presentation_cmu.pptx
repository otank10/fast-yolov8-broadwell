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7"/>
    <p:sldId id="257" r:id="rId6"/>
    <p:sldId id="258" r:id="rId20"/>
    <p:sldId id="259" r:id="rId21"/>
    <p:sldId id="260" r:id="rId22"/>
    <p:sldId id="261" r:id="rId23"/>
    <p:sldId id="262" r:id="rId24"/>
    <p:sldId id="263" r:id="rId25"/>
    <p:sldId id="264" r:id="rId26"/>
    <p:sldId id="265" r:id="rId27"/>
    <p:sldId id="266" r:id="rId28"/>
    <p:sldId id="267" r:id="rId29"/>
    <p:sldId id="268" r:id="rId30"/>
    <p:sldId id="269" r:id="rId31"/>
  </p:sldIdLst>
  <p:sldSz cy="5143500" cx="9144000"/>
  <p:notesSz cx="6858000" cy="9144000"/>
  <p:embeddedFontLst>
    <p:embeddedFont>
      <p:font typeface="Helvetica Neue Light"/>
      <p:regular r:id="rId8"/>
      <p:bold r:id="rId9"/>
      <p:italic r:id="rId10"/>
      <p:boldItalic r:id="rId11"/>
    </p:embeddedFont>
    <p:embeddedFont>
      <p:font typeface="Open Sans Light"/>
      <p:regular r:id="rId12"/>
      <p:bold r:id="rId13"/>
      <p:italic r:id="rId14"/>
      <p:boldItalic r:id="rId15"/>
    </p:embeddedFont>
    <p:embeddedFont>
      <p:font typeface="Open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font" Target="fonts/HelveticaNeueLight-regular.fntdata"/><Relationship Id="rId9" Type="http://schemas.openxmlformats.org/officeDocument/2006/relationships/font" Target="fonts/HelveticaNeueLight-bold.fntdata"/><Relationship Id="rId10" Type="http://schemas.openxmlformats.org/officeDocument/2006/relationships/font" Target="fonts/HelveticaNeueLight-italic.fntdata"/><Relationship Id="rId11" Type="http://schemas.openxmlformats.org/officeDocument/2006/relationships/font" Target="fonts/HelveticaNeueLight-boldItalic.fntdata"/><Relationship Id="rId12" Type="http://schemas.openxmlformats.org/officeDocument/2006/relationships/font" Target="fonts/OpenSansLight-regular.fntdata"/><Relationship Id="rId13" Type="http://schemas.openxmlformats.org/officeDocument/2006/relationships/font" Target="fonts/OpenSansLight-bold.fntdata"/><Relationship Id="rId14" Type="http://schemas.openxmlformats.org/officeDocument/2006/relationships/font" Target="fonts/OpenSansLight-italic.fntdata"/><Relationship Id="rId15" Type="http://schemas.openxmlformats.org/officeDocument/2006/relationships/font" Target="fonts/OpenSansLight-boldItalic.fntdata"/><Relationship Id="rId16" Type="http://schemas.openxmlformats.org/officeDocument/2006/relationships/font" Target="fonts/OpenSans-regular.fntdata"/><Relationship Id="rId17" Type="http://schemas.openxmlformats.org/officeDocument/2006/relationships/font" Target="fonts/OpenSans-bold.fntdata"/><Relationship Id="rId18" Type="http://schemas.openxmlformats.org/officeDocument/2006/relationships/font" Target="fonts/OpenSans-italic.fntdata"/><Relationship Id="rId19" Type="http://schemas.openxmlformats.org/officeDocument/2006/relationships/font" Target="fonts/OpenSans-boldItalic.fntdata"/><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Microkernel alone vs accumulators (C = 64, SiLU off)</a:t>
            </a:r>
          </a:p>
        </c:rich>
      </c:tx>
      <c:layout/>
      <c:overlay val="0"/>
    </c:title>
    <c:autoTitleDeleted val="0"/>
    <c:plotArea>
      <c:barChart>
        <c:barDir val="col"/>
        <c:grouping val="clustered"/>
        <c:ser>
          <c:idx val="0"/>
          <c:order val="0"/>
          <c:tx>
            <c:strRef>
              <c:f>Sheet1!$B$1</c:f>
              <c:strCache>
                <c:ptCount val="1"/>
                <c:pt idx="0">
                  <c:v>% of peak</c:v>
                </c:pt>
              </c:strCache>
            </c:strRef>
          </c:tx>
          <c:spPr>
            <a:solidFill>
              <a:srgbClr val="0C6A87"/>
            </a:solidFill>
          </c:spPr>
          <c:cat>
            <c:strRef>
              <c:f>Sheet1!$A$2:$A$7</c:f>
              <c:strCache>
                <c:ptCount val="6"/>
                <c:pt idx="0">
                  <c:v>1×1 (1)</c:v>
                </c:pt>
                <c:pt idx="1">
                  <c:v>2×2 (4)</c:v>
                </c:pt>
                <c:pt idx="2">
                  <c:v>1×5 (5)</c:v>
                </c:pt>
                <c:pt idx="3">
                  <c:v>2×4 (8)</c:v>
                </c:pt>
                <c:pt idx="4">
                  <c:v>1×10 (10)</c:v>
                </c:pt>
                <c:pt idx="5">
                  <c:v>2×5 (10)</c:v>
                </c:pt>
              </c:strCache>
            </c:strRef>
          </c:cat>
          <c:val>
            <c:numRef>
              <c:f>Sheet1!$B$2:$B$7</c:f>
              <c:numCache>
                <c:formatCode>General</c:formatCode>
                <c:ptCount val="6"/>
                <c:pt idx="0">
                  <c:v>9.9</c:v>
                </c:pt>
                <c:pt idx="1">
                  <c:v>39.3</c:v>
                </c:pt>
                <c:pt idx="2">
                  <c:v>49.6</c:v>
                </c:pt>
                <c:pt idx="3">
                  <c:v>72.4</c:v>
                </c:pt>
                <c:pt idx="4">
                  <c:v>85.8</c:v>
                </c:pt>
                <c:pt idx="5">
                  <c:v>85.3</c:v>
                </c:pt>
              </c:numCache>
            </c:numRef>
          </c:val>
        </c:ser>
        <c:dLbls>
          <c:numFmt formatCode="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 of peak: alone (C = 64) vs all 32 layers</a:t>
            </a:r>
          </a:p>
        </c:rich>
      </c:tx>
      <c:layout/>
      <c:overlay val="0"/>
    </c:title>
    <c:autoTitleDeleted val="0"/>
    <c:plotArea>
      <c:barChart>
        <c:barDir val="col"/>
        <c:grouping val="clustered"/>
        <c:ser>
          <c:idx val="0"/>
          <c:order val="0"/>
          <c:tx>
            <c:strRef>
              <c:f>Sheet1!$B$1</c:f>
              <c:strCache>
                <c:ptCount val="1"/>
                <c:pt idx="0">
                  <c:v>alone</c:v>
                </c:pt>
              </c:strCache>
            </c:strRef>
          </c:tx>
          <c:spPr>
            <a:solidFill>
              <a:srgbClr val="0C6A87"/>
            </a:solidFill>
          </c:spPr>
          <c:cat>
            <c:strRef>
              <c:f>Sheet1!$A$2:$A$3</c:f>
              <c:strCache>
                <c:ptCount val="2"/>
                <c:pt idx="0">
                  <c:v>2×5 (v2)</c:v>
                </c:pt>
                <c:pt idx="1">
                  <c:v>2×6 (v4)</c:v>
                </c:pt>
              </c:strCache>
            </c:strRef>
          </c:cat>
          <c:val>
            <c:numRef>
              <c:f>Sheet1!$B$2:$B$3</c:f>
              <c:numCache>
                <c:formatCode>General</c:formatCode>
                <c:ptCount val="2"/>
                <c:pt idx="0">
                  <c:v>85.3</c:v>
                </c:pt>
                <c:pt idx="1">
                  <c:v>81.2</c:v>
                </c:pt>
              </c:numCache>
            </c:numRef>
          </c:val>
        </c:ser>
        <c:ser>
          <c:idx val="1"/>
          <c:order val="1"/>
          <c:tx>
            <c:strRef>
              <c:f>Sheet1!$C$1</c:f>
              <c:strCache>
                <c:ptCount val="1"/>
                <c:pt idx="0">
                  <c:v>in layers</c:v>
                </c:pt>
              </c:strCache>
            </c:strRef>
          </c:tx>
          <c:spPr>
            <a:solidFill>
              <a:srgbClr val="6B7782"/>
            </a:solidFill>
          </c:spPr>
          <c:cat>
            <c:strRef>
              <c:f>Sheet1!$A$2:$A$3</c:f>
              <c:strCache>
                <c:ptCount val="2"/>
                <c:pt idx="0">
                  <c:v>2×5 (v2)</c:v>
                </c:pt>
                <c:pt idx="1">
                  <c:v>2×6 (v4)</c:v>
                </c:pt>
              </c:strCache>
            </c:strRef>
          </c:cat>
          <c:val>
            <c:numRef>
              <c:f>Sheet1!$C$2:$C$3</c:f>
              <c:numCache>
                <c:formatCode>General</c:formatCode>
                <c:ptCount val="2"/>
                <c:pt idx="0">
                  <c:v>76.8</c:v>
                </c:pt>
                <c:pt idx="1">
                  <c:v>75.3</c:v>
                </c:pt>
              </c:numCache>
            </c:numRef>
          </c:val>
        </c:ser>
        <c:dLbls>
          <c:numFmt formatCode="0.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legend>
      <c:legendPos val="b"/>
      <c:overlay val="0"/>
      <c:txPr>
        <a:bodyPr/>
        <a:lstStyle/>
        <a:p>
          <a:pPr>
            <a:defRPr sz="1000">
              <a:latin typeface="Open Sans"/>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All 32 layers, 1 core, SiLU on: ms (lower is better)</a:t>
            </a:r>
          </a:p>
        </c:rich>
      </c:tx>
      <c:layout/>
      <c:overlay val="0"/>
    </c:title>
    <c:autoTitleDeleted val="0"/>
    <c:plotArea>
      <c:barChart>
        <c:barDir val="bar"/>
        <c:grouping val="clustered"/>
        <c:ser>
          <c:idx val="0"/>
          <c:order val="0"/>
          <c:tx>
            <c:strRef>
              <c:f>Sheet1!$B$1</c:f>
              <c:strCache>
                <c:ptCount val="1"/>
                <c:pt idx="0">
                  <c:v>ms</c:v>
                </c:pt>
              </c:strCache>
            </c:strRef>
          </c:tx>
          <c:spPr>
            <a:solidFill>
              <a:srgbClr val="6B7782"/>
            </a:solidFill>
          </c:spPr>
          <c:cat>
            <c:strRef>
              <c:f>Sheet1!$A$2:$A$3</c:f>
              <c:strCache>
                <c:ptCount val="2"/>
                <c:pt idx="0">
                  <c:v>v2 (2×5, intrinsics)</c:v>
                </c:pt>
                <c:pt idx="1">
                  <c:v>OpenCV DNN</c:v>
                </c:pt>
              </c:strCache>
            </c:strRef>
          </c:cat>
          <c:val>
            <c:numRef>
              <c:f>Sheet1!$B$2:$B$3</c:f>
              <c:numCache>
                <c:formatCode>General</c:formatCode>
                <c:ptCount val="2"/>
                <c:pt idx="0">
                  <c:v>69.5</c:v>
                </c:pt>
                <c:pt idx="1">
                  <c:v>86.4</c:v>
                </c:pt>
              </c:numCache>
            </c:numRef>
          </c:val>
        </c:ser>
        <c:dLbls>
          <c:numFmt formatCode="0.0&quot; ms&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b"/>
        <c:majorGridlines>
          <c:spPr>
            <a:ln>
              <a:solidFill>
                <a:srgbClr val="DDE3E7"/>
              </a:solidFill>
            </a:ln>
          </c:spPr>
        </c:majorGridlines>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1pPr>
            <a:lvl2pPr indent="-228600" lvl="1" marL="9144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2pPr>
            <a:lvl3pPr indent="-228600" lvl="2" marL="13716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3pPr>
            <a:lvl4pPr indent="-228600" lvl="3" marL="18288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4pPr>
            <a:lvl5pPr indent="-228600" lvl="4" marL="22860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Open Sans"/>
                <a:ea typeface="Open Sans"/>
                <a:cs typeface="Open Sans"/>
                <a:sym typeface="Open Sans"/>
              </a:rPr>
              <a:t>‹#›</a:t>
            </a:fld>
            <a:endParaRPr b="0" i="0" sz="1200" u="none" cap="none" strike="noStrike">
              <a:solidFill>
                <a:schemeClr val="dk1"/>
              </a:solidFill>
              <a:latin typeface="Open Sans"/>
              <a:ea typeface="Open Sans"/>
              <a:cs typeface="Open Sans"/>
              <a:sym typeface="Open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My kernel is the 3x3 stride-1 convolution: 32 layers, the C2f bottlenecks and the Detect head, two thirds of YOLOv8n's work. The story: it is the Assignment 2 kernel, I followed the same four steps, and the measurements chose the tile. The 2x5 microkernel alone: 85% of the 32 FLOPs/cycle peak; inside all 32 real layers: 77%, 1.24 times faster than OpenCV. Intrinsics only, no assembly. All percentages assume the core runs at 3.4 GHz, as in Assignment 2.</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 10 accumulators is the minimum (5 x 2); the 2x6 tile uses 12, two chains of slack.</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call computes the teal strip: one output row, 5 pixels wide, 16 output channels deep, 80 numbers. Each cell is 8 channels of one pixel, exactly one YMM register, so the strip is 10 accumulators. It reads a 3 by 7 window of the input across all C channels and 16 filters of 3 by 3 by C. Each step multiplies 2 weight vectors by 5 broadcast inputs, 10 FMAs, repeated k = C x 9 times, then bias, SiLU, store.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Answering the handout questions directly. (a) One call computes 80 outputs: 5 pixels of one output row times 16 output channels. (b) It needs 13 YMM registers out of the 16 that AVX2 gives on Broadwell: 10 accumulators, 2 weight vectors, 1 broadcast input. 10 accumulators is the minimum to hide FMA latency: 5 cycles latency times 2 FMA units. (c) Outputs: the 10 accumulators stay in registers for the whole C x 9 reduction. Inputs: the 2 weight registers hold 8 output channels each for one input channel and tap; the broadcast register holds one input value copied to all 8 lanes. Temporaries: none inside the loop; 3 registers stay free. We write intrinsics, so GCC assigns the physical registers; we checked GCC's output for v2 and it keeps all 13 in registers with no spills.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 Reuse. Each weight register is loaded once and used by 5 FMAs, one per pixel. Each broadcast input is used by 2 FMAs, one per output block. The single x register is reused 5 times per step, once per pixel, because each broadcast is consumed right away. Each accumulator is reused C x 9 times and written to memory once. So one step is 7 loads for 10 FMAs, which the 2 load ports handle with room to spare. (e) The code: initialize the accumulators with the bias, so the add is free. Then loop over input-channel blocks, the 3 by 3 taps, and the 8 input channels of the block; load 2 weight vectors, then for each of the 5 pixels broadcast one input and issue 2 FMAs. After the loop, apply SiLU in registers and store. The zero halo means no edge branches. GCC fully unrolls the inner 8 channels and 5 pixels, so the loop body is 80 FMAs, 40 broadcasts and 16 loads.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ONNX stores activations as NCHW: all of channel 0, then all of channel 1. The 8 channels of one pixel are then H times W floats apart, so filling one register with them takes 8 separate loads. We store NCHW8c: channels in blocks of 8, and inside a block the 8 channels of a pixel sit next to each other, 32 bytes, one aligned load into one YMM register. Around every plane we store a 1-pixel border of zeros, the halo, which is the convolution's padding written out. A 3 by 3 window at the image edge then just reads zeros, so there is no if-statement for edges. A kernel writes only the interior, so the next layer can read its output directly. Weights are packed once, offline, like the BatchNorm folding: for one input channel and one tap, the weights of 8 output channels are 8 contiguous floats, one aligned load, in the order the loop reads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we chose it. First, vectors: every register the kernel needs, a weight vector or an output, is one aligned load or store; NCHW would need 8 loads per register. Second, no branches: because the padding is stored, every microkernel call runs the same code, also at the image edge. The cost is memory: 2.5 percent at 160 by 160, 21 percent at 20 by 20. Third, one layout for all three kernels, stride 1, stride 2 and 1 by 1, so layers chain with no conversion; we convert only at the network input and output, outside the timing. C2f's Split becomes a pointer offset and Concat is the producer writing into its slice. Fourth, the cache: the weights one 2x5 tile reads are 576 times C bytes. Up to C = 32 they fit in L1, up to C = 256 in L2, and they are reused across the whole output plane. Only the two C = 256 head layers, where weights plus the 400 KB input exceed L2, lose noticeably; input-channel blocking is the next step.</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assumptions behind every number in the talk. The important one: we count rdtsc ticks, which run at the fixed 2.4 GHz base clock, and scale them by 3.4 over 2.4, the ratio of max turbo to base, exactly the Assignment 2 convention. The core can never run faster than that, so the percentages can only understate.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Step 1: every output is an independent dot product; the only chain is the reduction. Step 2: 5-cycle latency times 2 FMAs per cycle means 10 independent accumulators, 80 outputs in flight. The chart: 1 accumulator is 10%, each adds about 10 points. Step 3: 2x5 gives 10 accumulators in 13 registers, 7 loads per 10 FMAs, and 5 divides 160, 80, 40 and 20. Step 4: benchmark the kernel alone exactly like Assignment 2.</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kernel I built, all intrinsics, same arithmetic, same layout. Filled dots: the microkernel alone; hollow: all 32 layers. 2x5 is the best in the layers: 85% alone, 77% in all 32 layers. Bigger tiles lose because of how GCC allocates registers: at 15 live registers (2x6) it adds 11 register copies per tap, found by reading GCC's generated assembly; at 16 (4x3) it spills accumulators to memory and drops to 49%. Unrolling and software pipelining made it worse: full unrolling overflowed the uop cache and partial unrolling made GCC spill.</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Assignment 2 figure for my kernel: FLOPs per cycle against the reduction length k. Cycles are time times 3.4 GHz, the max turbo, exactly as in Assignment 2, so this can only understate. 2x5 holds 27 to 28.5 FLOPs per cycle, 83 to 89 percent of peak; 2x6 sits about 3 points lower, 80 to 83, because of GCC's register copies. The dip near k = 500 is the 2x5 weights leaving L1, like k = 315 in A2. Cross-checked: the hardware FP-instruction counter matches our FLOP count exactly.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natural next step after 2x5 was 2x6: 12 accumulators instead of 10, two chains of slack beyond the minimum, still under 16 registers. On paper it should be at least as fast. Measured, it loses both alone and in the layers: 81.2 against 85.3 percent alone at C = 64, and 75.3 against 76.8 in all 32 layers. The reason is in GCC's generated code: at 15 live registers it inserts 11 register-to-register copies per tap, against 2 for 2x5. Those copies take issue slots the FMAs need, so the extra accumulators buy nothing. With intrinsics the compiler, not us, assigns registers, so the tile that leaves GCC room, 2x5 with 13 registers, is the one we keep. In the layers the gap shrinks to 1.5 points because both kernels then also wait on data from L2.</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Total time for all 32 stride-1 layers, one core, same model and image. OpenCV DNN takes 86.4 milliseconds. Our kernel, v2, the 2x5 tile written with intrinsics, takes 69.5: 1.24 times faster, at 77 percent of peak against OpenCV's 62. Next: cache blocking for the layers with 128 or more input channels, and threading across 20 cores.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With the fused SiLU on, the curves sit about 4 to 5 points lower: SiLU costs a fixed 160 to 290 cycles per call, a big share at small k and almost nothing from C = 128 up.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spTree>
      <p:nvGrpSpPr>
        <p:cNvPr id="20" name="Shape 20"/>
        <p:cNvGrpSpPr/>
        <p:nvPr/>
      </p:nvGrpSpPr>
      <p:grpSpPr>
        <a:xfrm>
          <a:off x="0" y="0"/>
          <a:ext cx="0" cy="0"/>
          <a:chOff x="0" y="0"/>
          <a:chExt cx="0" cy="0"/>
        </a:xfrm>
      </p:grpSpPr>
      <p:sp>
        <p:nvSpPr>
          <p:cNvPr id="21" name="Google Shape;21;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2" name="Google Shape;22;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3" name="Google Shape;23;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
        <p:nvSpPr>
          <p:cNvPr id="24" name="Google Shape;24;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5" name="Google Shape;25;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6" name="Google Shape;26;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7" name="Shape 2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8" name="Shape 28"/>
        <p:cNvGrpSpPr/>
        <p:nvPr/>
      </p:nvGrpSpPr>
      <p:grpSpPr>
        <a:xfrm>
          <a:off x="0" y="0"/>
          <a:ext cx="0" cy="0"/>
          <a:chOff x="0" y="0"/>
          <a:chExt cx="0" cy="0"/>
        </a:xfrm>
      </p:grpSpPr>
      <p:sp>
        <p:nvSpPr>
          <p:cNvPr id="29" name="Google Shape;29;p4"/>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Column">
  <p:cSld name="1 Column">
    <p:spTree>
      <p:nvGrpSpPr>
        <p:cNvPr id="30" name="Shape 30"/>
        <p:cNvGrpSpPr/>
        <p:nvPr/>
      </p:nvGrpSpPr>
      <p:grpSpPr>
        <a:xfrm>
          <a:off x="0" y="0"/>
          <a:ext cx="0" cy="0"/>
          <a:chOff x="0" y="0"/>
          <a:chExt cx="0" cy="0"/>
        </a:xfrm>
      </p:grpSpPr>
      <p:sp>
        <p:nvSpPr>
          <p:cNvPr id="31" name="Google Shape;31;p5"/>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 type="body"/>
          </p:nvPr>
        </p:nvSpPr>
        <p:spPr>
          <a:xfrm>
            <a:off x="457200" y="1200150"/>
            <a:ext cx="82296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p:cSld name="2 Column">
    <p:spTree>
      <p:nvGrpSpPr>
        <p:cNvPr id="33" name="Shape 33"/>
        <p:cNvGrpSpPr/>
        <p:nvPr/>
      </p:nvGrpSpPr>
      <p:grpSpPr>
        <a:xfrm>
          <a:off x="0" y="0"/>
          <a:ext cx="0" cy="0"/>
          <a:chOff x="0" y="0"/>
          <a:chExt cx="0" cy="0"/>
        </a:xfrm>
      </p:grpSpPr>
      <p:sp>
        <p:nvSpPr>
          <p:cNvPr id="34" name="Google Shape;34;p6"/>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6"/>
          <p:cNvSpPr txBox="1"/>
          <p:nvPr>
            <p:ph idx="1" type="body"/>
          </p:nvPr>
        </p:nvSpPr>
        <p:spPr>
          <a:xfrm>
            <a:off x="457200" y="1200150"/>
            <a:ext cx="39624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6" name="Google Shape;36;p6"/>
          <p:cNvSpPr txBox="1"/>
          <p:nvPr>
            <p:ph idx="2" type="body"/>
          </p:nvPr>
        </p:nvSpPr>
        <p:spPr>
          <a:xfrm>
            <a:off x="4727448" y="1212300"/>
            <a:ext cx="3959352"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p:cSld name="3 Column">
    <p:spTree>
      <p:nvGrpSpPr>
        <p:cNvPr id="37" name="Shape 37"/>
        <p:cNvGrpSpPr/>
        <p:nvPr/>
      </p:nvGrpSpPr>
      <p:grpSpPr>
        <a:xfrm>
          <a:off x="0" y="0"/>
          <a:ext cx="0" cy="0"/>
          <a:chOff x="0" y="0"/>
          <a:chExt cx="0" cy="0"/>
        </a:xfrm>
      </p:grpSpPr>
      <p:sp>
        <p:nvSpPr>
          <p:cNvPr id="38" name="Google Shape;38;p7"/>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
          <p:cNvSpPr txBox="1"/>
          <p:nvPr>
            <p:ph idx="1" type="body"/>
          </p:nvPr>
        </p:nvSpPr>
        <p:spPr>
          <a:xfrm>
            <a:off x="4572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0" name="Google Shape;40;p7"/>
          <p:cNvSpPr txBox="1"/>
          <p:nvPr>
            <p:ph idx="2" type="body"/>
          </p:nvPr>
        </p:nvSpPr>
        <p:spPr>
          <a:xfrm>
            <a:off x="32766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1" name="Google Shape;41;p7"/>
          <p:cNvSpPr txBox="1"/>
          <p:nvPr>
            <p:ph idx="3" type="body"/>
          </p:nvPr>
        </p:nvSpPr>
        <p:spPr>
          <a:xfrm>
            <a:off x="60960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
  <p:cSld name="4 Column">
    <p:spTree>
      <p:nvGrpSpPr>
        <p:cNvPr id="42" name="Shape 42"/>
        <p:cNvGrpSpPr/>
        <p:nvPr/>
      </p:nvGrpSpPr>
      <p:grpSpPr>
        <a:xfrm>
          <a:off x="0" y="0"/>
          <a:ext cx="0" cy="0"/>
          <a:chOff x="0" y="0"/>
          <a:chExt cx="0" cy="0"/>
        </a:xfrm>
      </p:grpSpPr>
      <p:sp>
        <p:nvSpPr>
          <p:cNvPr id="43" name="Google Shape;43;p8"/>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8"/>
          <p:cNvSpPr txBox="1"/>
          <p:nvPr>
            <p:ph idx="1" type="body"/>
          </p:nvPr>
        </p:nvSpPr>
        <p:spPr>
          <a:xfrm>
            <a:off x="4572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5" name="Google Shape;45;p8"/>
          <p:cNvSpPr txBox="1"/>
          <p:nvPr>
            <p:ph idx="2" type="body"/>
          </p:nvPr>
        </p:nvSpPr>
        <p:spPr>
          <a:xfrm>
            <a:off x="25654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6" name="Google Shape;46;p8"/>
          <p:cNvSpPr txBox="1"/>
          <p:nvPr>
            <p:ph idx="3" type="body"/>
          </p:nvPr>
        </p:nvSpPr>
        <p:spPr>
          <a:xfrm>
            <a:off x="46736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7" name="Google Shape;47;p8"/>
          <p:cNvSpPr txBox="1"/>
          <p:nvPr>
            <p:ph idx="4" type="body"/>
          </p:nvPr>
        </p:nvSpPr>
        <p:spPr>
          <a:xfrm>
            <a:off x="67818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_Plaid-Digital_FINAL-NEW.png" id="10" name="Google Shape;10;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pic>
        <p:nvPicPr>
          <p:cNvPr descr="_Plaid-Digital_FINAL-NEW.png" id="11" name="Google Shape;11;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sp>
        <p:nvSpPr>
          <p:cNvPr id="12" name="Google Shape;12;p1"/>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4200" u="none" cap="none" strike="noStrike">
                <a:solidFill>
                  <a:schemeClr val="dk2"/>
                </a:solidFill>
                <a:latin typeface="Times"/>
                <a:ea typeface="Times"/>
                <a:cs typeface="Times"/>
                <a:sym typeface="Times"/>
              </a:defRPr>
            </a:lvl6pPr>
            <a:lvl7pPr lvl="6" marR="0" rtl="0" algn="l">
              <a:spcBef>
                <a:spcPts val="0"/>
              </a:spcBef>
              <a:spcAft>
                <a:spcPts val="0"/>
              </a:spcAft>
              <a:buSzPts val="1400"/>
              <a:buNone/>
              <a:defRPr b="0" i="0" sz="4200" u="none" cap="none" strike="noStrike">
                <a:solidFill>
                  <a:schemeClr val="dk2"/>
                </a:solidFill>
                <a:latin typeface="Times"/>
                <a:ea typeface="Times"/>
                <a:cs typeface="Times"/>
                <a:sym typeface="Times"/>
              </a:defRPr>
            </a:lvl7pPr>
            <a:lvl8pPr lvl="7" marR="0" rtl="0" algn="l">
              <a:spcBef>
                <a:spcPts val="0"/>
              </a:spcBef>
              <a:spcAft>
                <a:spcPts val="0"/>
              </a:spcAft>
              <a:buSzPts val="1400"/>
              <a:buNone/>
              <a:defRPr b="0" i="0" sz="4200" u="none" cap="none" strike="noStrike">
                <a:solidFill>
                  <a:schemeClr val="dk2"/>
                </a:solidFill>
                <a:latin typeface="Times"/>
                <a:ea typeface="Times"/>
                <a:cs typeface="Times"/>
                <a:sym typeface="Times"/>
              </a:defRPr>
            </a:lvl8pPr>
            <a:lvl9pPr lvl="8" marR="0" rtl="0" algn="l">
              <a:spcBef>
                <a:spcPts val="0"/>
              </a:spcBef>
              <a:spcAft>
                <a:spcPts val="0"/>
              </a:spcAft>
              <a:buSzPts val="1400"/>
              <a:buNone/>
              <a:defRPr b="0" i="0" sz="4200" u="none" cap="none" strike="noStrike">
                <a:solidFill>
                  <a:schemeClr val="dk2"/>
                </a:solidFill>
                <a:latin typeface="Times"/>
                <a:ea typeface="Times"/>
                <a:cs typeface="Times"/>
                <a:sym typeface="Times"/>
              </a:defRPr>
            </a:lvl9pPr>
          </a:lstStyle>
          <a:p/>
        </p:txBody>
      </p:sp>
      <p:sp>
        <p:nvSpPr>
          <p:cNvPr id="13" name="Google Shape;13;p1"/>
          <p:cNvSpPr txBox="1"/>
          <p:nvPr>
            <p:ph idx="1" type="body"/>
          </p:nvPr>
        </p:nvSpPr>
        <p:spPr>
          <a:xfrm>
            <a:off x="457200" y="1200150"/>
            <a:ext cx="8229600" cy="3505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00"/>
              </a:spcBef>
              <a:spcAft>
                <a:spcPts val="0"/>
              </a:spcAft>
              <a:buSzPts val="1400"/>
              <a:buNone/>
              <a:defRPr b="0" i="0" sz="1400" u="none" cap="none" strike="noStrike">
                <a:solidFill>
                  <a:schemeClr val="dk1"/>
                </a:solidFill>
                <a:latin typeface="Open Sans"/>
                <a:ea typeface="Open Sans"/>
                <a:cs typeface="Open Sans"/>
                <a:sym typeface="Open Sans"/>
              </a:defRPr>
            </a:lvl1pPr>
            <a:lvl2pPr indent="-326390" lvl="1" marL="9144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2pPr>
            <a:lvl3pPr indent="-326390" lvl="2" marL="13716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3pPr>
            <a:lvl4pPr indent="-326390" lvl="3" marL="18288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4pPr>
            <a:lvl5pPr indent="-326390" lvl="4" marL="22860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pic>
        <p:nvPicPr>
          <p:cNvPr id="14" name="Google Shape;14;p1"/>
          <p:cNvPicPr preferRelativeResize="0"/>
          <p:nvPr/>
        </p:nvPicPr>
        <p:blipFill rotWithShape="1">
          <a:blip r:embed="rId2">
            <a:alphaModFix/>
          </a:blip>
          <a:srcRect b="0" l="0" r="0" t="0"/>
          <a:stretch/>
        </p:blipFill>
        <p:spPr>
          <a:xfrm>
            <a:off x="7772400" y="4248150"/>
            <a:ext cx="1154590" cy="736392"/>
          </a:xfrm>
          <a:prstGeom prst="rect">
            <a:avLst/>
          </a:prstGeom>
          <a:noFill/>
          <a:ln>
            <a:noFill/>
          </a:ln>
        </p:spPr>
      </p:pic>
      <p:sp>
        <p:nvSpPr>
          <p:cNvPr id="15" name="Google Shape;15;p1"/>
          <p:cNvSpPr txBox="1"/>
          <p:nvPr>
            <p:ph idx="12" type="sldNum"/>
          </p:nvPr>
        </p:nvSpPr>
        <p:spPr>
          <a:xfrm>
            <a:off x="11073918" y="6400413"/>
            <a:ext cx="279883" cy="276999"/>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1pPr>
            <a:lvl2pPr indent="0" lvl="1"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2pPr>
            <a:lvl3pPr indent="0" lvl="2"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3pPr>
            <a:lvl4pPr indent="0" lvl="3"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4pPr>
            <a:lvl5pPr indent="0" lvl="4"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5pPr>
            <a:lvl6pPr indent="0" lvl="5"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6pPr>
            <a:lvl7pPr indent="0" lvl="6"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7pPr>
            <a:lvl8pPr indent="0" lvl="7"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8pPr>
            <a:lvl9pPr indent="0" lvl="8"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16" name="Google Shape;16;p1"/>
          <p:cNvSpPr txBox="1"/>
          <p:nvPr/>
        </p:nvSpPr>
        <p:spPr>
          <a:xfrm>
            <a:off x="11226318" y="65528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7" name="Google Shape;17;p1"/>
          <p:cNvSpPr txBox="1"/>
          <p:nvPr/>
        </p:nvSpPr>
        <p:spPr>
          <a:xfrm>
            <a:off x="11378718" y="67052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8" name="Google Shape;18;p1"/>
          <p:cNvSpPr txBox="1"/>
          <p:nvPr/>
        </p:nvSpPr>
        <p:spPr>
          <a:xfrm>
            <a:off x="11531118" y="68576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9" name="Google Shape;19;p1"/>
          <p:cNvSpPr txBox="1"/>
          <p:nvPr/>
        </p:nvSpPr>
        <p:spPr>
          <a:xfrm>
            <a:off x="8534400" y="100340"/>
            <a:ext cx="506890" cy="2616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0" i="0" lang="en-US" sz="1100" u="none" cap="none" strike="noStrike">
                <a:solidFill>
                  <a:srgbClr val="7F7F7F"/>
                </a:solidFill>
                <a:latin typeface="Helvetica Neue Light"/>
                <a:ea typeface="Helvetica Neue Light"/>
                <a:cs typeface="Helvetica Neue Light"/>
                <a:sym typeface="Helvetica Neue Light"/>
              </a:rPr>
              <a:t>‹#›</a:t>
            </a:fld>
            <a:endParaRPr b="0" i="0" sz="1100" u="none" cap="none" strike="noStrike">
              <a:solidFill>
                <a:srgbClr val="7F7F7F"/>
              </a:solidFill>
              <a:latin typeface="Helvetica Neue Light"/>
              <a:ea typeface="Helvetica Neue Light"/>
              <a:cs typeface="Helvetica Neue Light"/>
              <a:sym typeface="Helvetica Neue Light"/>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130552" y="1371600"/>
            <a:ext cx="6309360" cy="1188720"/>
          </a:xfrm>
          <a:prstGeom prst="rect">
            <a:avLst/>
          </a:prstGeom>
          <a:noFill/>
        </p:spPr>
        <p:txBody>
          <a:bodyPr wrap="square" lIns="0" rIns="0" tIns="0" bIns="0" anchor="b">
            <a:spAutoFit/>
          </a:bodyPr>
          <a:lstStyle/>
          <a:p>
            <a:pPr algn="l"/>
            <a:r>
              <a:rPr sz="3400" b="1" i="0">
                <a:solidFill>
                  <a:srgbClr val="FFFFFF"/>
                </a:solidFill>
                <a:latin typeface="Open Sans"/>
              </a:rPr>
              <a:t>The 3×3 stride-1 convolution kernel</a:t>
            </a:r>
          </a:p>
        </p:txBody>
      </p:sp>
      <p:sp>
        <p:nvSpPr>
          <p:cNvPr id="3" name="TextBox 2"/>
          <p:cNvSpPr txBox="1"/>
          <p:nvPr/>
        </p:nvSpPr>
        <p:spPr>
          <a:xfrm>
            <a:off x="2130552" y="2743200"/>
            <a:ext cx="6309360" cy="457200"/>
          </a:xfrm>
          <a:prstGeom prst="rect">
            <a:avLst/>
          </a:prstGeom>
          <a:noFill/>
        </p:spPr>
        <p:txBody>
          <a:bodyPr wrap="square" lIns="0" rIns="0" tIns="0" bIns="0" anchor="t">
            <a:spAutoFit/>
          </a:bodyPr>
          <a:lstStyle/>
          <a:p>
            <a:pPr algn="l"/>
            <a:r>
              <a:rPr sz="1500" b="1" i="0">
                <a:solidFill>
                  <a:srgbClr val="FFFFFF"/>
                </a:solidFill>
                <a:latin typeface="Open Sans"/>
              </a:rPr>
              <a:t>Om Tank</a:t>
            </a:r>
            <a:r>
              <a:rPr sz="1500" b="0" i="0">
                <a:solidFill>
                  <a:srgbClr val="FFFFFF"/>
                </a:solidFill>
                <a:latin typeface="Open Sans"/>
              </a:rPr>
              <a:t>  ·  YOLOv8n on one Broadwell core, built like the Assignment 2 kernel</a:t>
            </a:r>
          </a:p>
        </p:txBody>
      </p:sp>
      <p:sp>
        <p:nvSpPr>
          <p:cNvPr id="4" name="TextBox 3"/>
          <p:cNvSpPr txBox="1"/>
          <p:nvPr/>
        </p:nvSpPr>
        <p:spPr>
          <a:xfrm>
            <a:off x="21305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32</a:t>
            </a:r>
          </a:p>
        </p:txBody>
      </p:sp>
      <p:sp>
        <p:nvSpPr>
          <p:cNvPr id="5" name="TextBox 4"/>
          <p:cNvSpPr txBox="1"/>
          <p:nvPr/>
        </p:nvSpPr>
        <p:spPr>
          <a:xfrm>
            <a:off x="21305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layers</a:t>
            </a:r>
          </a:p>
        </p:txBody>
      </p:sp>
      <p:sp>
        <p:nvSpPr>
          <p:cNvPr id="6" name="TextBox 5"/>
          <p:cNvSpPr txBox="1"/>
          <p:nvPr/>
        </p:nvSpPr>
        <p:spPr>
          <a:xfrm>
            <a:off x="37307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66%</a:t>
            </a:r>
          </a:p>
        </p:txBody>
      </p:sp>
      <p:sp>
        <p:nvSpPr>
          <p:cNvPr id="7" name="TextBox 6"/>
          <p:cNvSpPr txBox="1"/>
          <p:nvPr/>
        </p:nvSpPr>
        <p:spPr>
          <a:xfrm>
            <a:off x="37307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YOLOv8n's work</a:t>
            </a:r>
          </a:p>
        </p:txBody>
      </p:sp>
      <p:sp>
        <p:nvSpPr>
          <p:cNvPr id="8" name="TextBox 7"/>
          <p:cNvSpPr txBox="1"/>
          <p:nvPr/>
        </p:nvSpPr>
        <p:spPr>
          <a:xfrm>
            <a:off x="53309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85%</a:t>
            </a:r>
          </a:p>
        </p:txBody>
      </p:sp>
      <p:sp>
        <p:nvSpPr>
          <p:cNvPr id="9" name="TextBox 8"/>
          <p:cNvSpPr txBox="1"/>
          <p:nvPr/>
        </p:nvSpPr>
        <p:spPr>
          <a:xfrm>
            <a:off x="53309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kernel alone</a:t>
            </a:r>
          </a:p>
        </p:txBody>
      </p:sp>
      <p:sp>
        <p:nvSpPr>
          <p:cNvPr id="10" name="TextBox 9"/>
          <p:cNvSpPr txBox="1"/>
          <p:nvPr/>
        </p:nvSpPr>
        <p:spPr>
          <a:xfrm>
            <a:off x="69311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77%</a:t>
            </a:r>
          </a:p>
        </p:txBody>
      </p:sp>
      <p:sp>
        <p:nvSpPr>
          <p:cNvPr id="11" name="TextBox 10"/>
          <p:cNvSpPr txBox="1"/>
          <p:nvPr/>
        </p:nvSpPr>
        <p:spPr>
          <a:xfrm>
            <a:off x="69311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32 layers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is the Assignment 2 kernel, with floats</a:t>
            </a:r>
          </a:p>
        </p:txBody>
      </p:sp>
      <p:graphicFrame>
        <p:nvGraphicFramePr>
          <p:cNvPr id="3" name="Table 2"/>
          <p:cNvGraphicFramePr>
            <a:graphicFrameLocks noGrp="1"/>
          </p:cNvGraphicFramePr>
          <p:nvPr/>
        </p:nvGraphicFramePr>
        <p:xfrm>
          <a:off x="457200" y="1097280"/>
          <a:ext cx="4572000" cy="2377440"/>
        </p:xfrm>
        <a:graphic>
          <a:graphicData uri="http://schemas.openxmlformats.org/drawingml/2006/table">
            <a:tbl>
              <a:tblPr firstRow="1" bandRow="1">
                <a:tableStyleId>{5C22544A-7EE6-4342-B048-85BDC9FD1C3A}</a:tableStyleId>
              </a:tblPr>
              <a:tblGrid>
                <a:gridCol w="1325880"/>
                <a:gridCol w="1463040"/>
                <a:gridCol w="1783080"/>
              </a:tblGrid>
              <a:tr h="339634">
                <a:tc>
                  <a:txBody>
                    <a:bodyPr/>
                    <a:lstStyle/>
                    <a:p/>
                  </a:txBody>
                  <a:tcPr marL="54864" marR="54864">
                    <a:solidFill>
                      <a:srgbClr val="F1F3F5"/>
                    </a:solidFill>
                  </a:tcPr>
                </a:tc>
                <a:tc>
                  <a:txBody>
                    <a:bodyPr/>
                    <a:lstStyle/>
                    <a:p>
                      <a:r>
                        <a:rPr sz="1100" b="1">
                          <a:solidFill>
                            <a:srgbClr val="1B2630"/>
                          </a:solidFill>
                          <a:latin typeface="Open Sans"/>
                        </a:rPr>
                        <a:t>Assignment 2</a:t>
                      </a:r>
                    </a:p>
                  </a:txBody>
                  <a:tcPr marL="54864" marR="54864">
                    <a:solidFill>
                      <a:srgbClr val="F1F3F5"/>
                    </a:solidFill>
                  </a:tcPr>
                </a:tc>
                <a:tc>
                  <a:txBody>
                    <a:bodyPr/>
                    <a:lstStyle/>
                    <a:p>
                      <a:r>
                        <a:rPr sz="1100" b="1">
                          <a:solidFill>
                            <a:srgbClr val="1B2630"/>
                          </a:solidFill>
                          <a:latin typeface="Open Sans"/>
                        </a:rPr>
                        <a:t>Stride-1 microkernel</a:t>
                      </a:r>
                    </a:p>
                  </a:txBody>
                  <a:tcPr marL="54864" marR="54864">
                    <a:solidFill>
                      <a:srgbClr val="F1F3F5"/>
                    </a:solidFill>
                  </a:tcPr>
                </a:tc>
              </a:tr>
              <a:tr h="339634">
                <a:tc>
                  <a:txBody>
                    <a:bodyPr/>
                    <a:lstStyle/>
                    <a:p>
                      <a:r>
                        <a:rPr sz="1100" b="0">
                          <a:solidFill>
                            <a:srgbClr val="1B2630"/>
                          </a:solidFill>
                          <a:latin typeface="Open Sans"/>
                        </a:rPr>
                        <a:t>m (broadcast)</a:t>
                      </a:r>
                    </a:p>
                  </a:txBody>
                  <a:tcPr marL="54864" marR="54864">
                    <a:solidFill>
                      <a:srgbClr val="FFFFFF"/>
                    </a:solidFill>
                  </a:tcPr>
                </a:tc>
                <a:tc>
                  <a:txBody>
                    <a:bodyPr/>
                    <a:lstStyle/>
                    <a:p>
                      <a:r>
                        <a:rPr sz="1100" b="0">
                          <a:solidFill>
                            <a:srgbClr val="1B2630"/>
                          </a:solidFill>
                          <a:latin typeface="Open Sans"/>
                        </a:rPr>
                        <a:t>5 rows of A</a:t>
                      </a:r>
                    </a:p>
                  </a:txBody>
                  <a:tcPr marL="54864" marR="54864">
                    <a:solidFill>
                      <a:srgbClr val="FFFFFF"/>
                    </a:solidFill>
                  </a:tcPr>
                </a:tc>
                <a:tc>
                  <a:txBody>
                    <a:bodyPr/>
                    <a:lstStyle/>
                    <a:p>
                      <a:r>
                        <a:rPr sz="1100" b="0">
                          <a:solidFill>
                            <a:srgbClr val="1B2630"/>
                          </a:solidFill>
                          <a:latin typeface="Open Sans"/>
                        </a:rPr>
                        <a:t>5 output pixels</a:t>
                      </a:r>
                    </a:p>
                  </a:txBody>
                  <a:tcPr marL="54864" marR="54864">
                    <a:solidFill>
                      <a:srgbClr val="FFFFFF"/>
                    </a:solidFill>
                  </a:tcPr>
                </a:tc>
              </a:tr>
              <a:tr h="339634">
                <a:tc>
                  <a:txBody>
                    <a:bodyPr/>
                    <a:lstStyle/>
                    <a:p>
                      <a:r>
                        <a:rPr sz="1100" b="0">
                          <a:solidFill>
                            <a:srgbClr val="1B2630"/>
                          </a:solidFill>
                          <a:latin typeface="Open Sans"/>
                        </a:rPr>
                        <a:t>n (vector loads)</a:t>
                      </a:r>
                    </a:p>
                  </a:txBody>
                  <a:tcPr marL="54864" marR="54864">
                    <a:solidFill>
                      <a:srgbClr val="FFFFFF"/>
                    </a:solidFill>
                  </a:tcPr>
                </a:tc>
                <a:tc>
                  <a:txBody>
                    <a:bodyPr/>
                    <a:lstStyle/>
                    <a:p>
                      <a:r>
                        <a:rPr sz="1100" b="0">
                          <a:solidFill>
                            <a:srgbClr val="1B2630"/>
                          </a:solidFill>
                          <a:latin typeface="Open Sans"/>
                        </a:rPr>
                        <a:t>8 = 2 × 4 doubles</a:t>
                      </a:r>
                    </a:p>
                  </a:txBody>
                  <a:tcPr marL="54864" marR="54864">
                    <a:solidFill>
                      <a:srgbClr val="FFFFFF"/>
                    </a:solidFill>
                  </a:tcPr>
                </a:tc>
                <a:tc>
                  <a:txBody>
                    <a:bodyPr/>
                    <a:lstStyle/>
                    <a:p>
                      <a:r>
                        <a:rPr sz="1100" b="0">
                          <a:solidFill>
                            <a:srgbClr val="1B2630"/>
                          </a:solidFill>
                          <a:latin typeface="Open Sans"/>
                        </a:rPr>
                        <a:t>16 ch = 2 × 8 floats</a:t>
                      </a:r>
                    </a:p>
                  </a:txBody>
                  <a:tcPr marL="54864" marR="54864">
                    <a:solidFill>
                      <a:srgbClr val="FFFFFF"/>
                    </a:solidFill>
                  </a:tcPr>
                </a:tc>
              </a:tr>
              <a:tr h="339634">
                <a:tc>
                  <a:txBody>
                    <a:bodyPr/>
                    <a:lstStyle/>
                    <a:p>
                      <a:r>
                        <a:rPr sz="1100" b="0">
                          <a:solidFill>
                            <a:srgbClr val="1B2630"/>
                          </a:solidFill>
                          <a:latin typeface="Open Sans"/>
                        </a:rPr>
                        <a:t>k (reduction)</a:t>
                      </a:r>
                    </a:p>
                  </a:txBody>
                  <a:tcPr marL="54864" marR="54864">
                    <a:solidFill>
                      <a:srgbClr val="FFFFFF"/>
                    </a:solidFill>
                  </a:tcPr>
                </a:tc>
                <a:tc>
                  <a:txBody>
                    <a:bodyPr/>
                    <a:lstStyle/>
                    <a:p>
                      <a:r>
                        <a:rPr sz="1100" b="0">
                          <a:solidFill>
                            <a:srgbClr val="1B2630"/>
                          </a:solidFill>
                          <a:latin typeface="Open Sans"/>
                        </a:rPr>
                        <a:t>32 to 512</a:t>
                      </a:r>
                    </a:p>
                  </a:txBody>
                  <a:tcPr marL="54864" marR="54864">
                    <a:solidFill>
                      <a:srgbClr val="FFFFFF"/>
                    </a:solidFill>
                  </a:tcPr>
                </a:tc>
                <a:tc>
                  <a:txBody>
                    <a:bodyPr/>
                    <a:lstStyle/>
                    <a:p>
                      <a:r>
                        <a:rPr sz="1100" b="0">
                          <a:solidFill>
                            <a:srgbClr val="1B2630"/>
                          </a:solidFill>
                          <a:latin typeface="Open Sans"/>
                        </a:rPr>
                        <a:t>C × 9 (144 to 2304)</a:t>
                      </a:r>
                    </a:p>
                  </a:txBody>
                  <a:tcPr marL="54864" marR="54864">
                    <a:solidFill>
                      <a:srgbClr val="FFFFFF"/>
                    </a:solidFill>
                  </a:tcPr>
                </a:tc>
              </a:tr>
              <a:tr h="339634">
                <a:tc>
                  <a:txBody>
                    <a:bodyPr/>
                    <a:lstStyle/>
                    <a:p>
                      <a:r>
                        <a:rPr sz="1100" b="0">
                          <a:solidFill>
                            <a:srgbClr val="1B2630"/>
                          </a:solidFill>
                          <a:latin typeface="Open Sans"/>
                        </a:rPr>
                        <a:t>Accumulators</a:t>
                      </a:r>
                    </a:p>
                  </a:txBody>
                  <a:tcPr marL="54864" marR="54864">
                    <a:solidFill>
                      <a:srgbClr val="FFFFFF"/>
                    </a:solidFill>
                  </a:tcPr>
                </a:tc>
                <a:tc>
                  <a:txBody>
                    <a:bodyPr/>
                    <a:lstStyle/>
                    <a:p>
                      <a:r>
                        <a:rPr sz="1100" b="0">
                          <a:solidFill>
                            <a:srgbClr val="1B2630"/>
                          </a:solidFill>
                          <a:latin typeface="Open Sans"/>
                        </a:rPr>
                        <a:t>10</a:t>
                      </a:r>
                    </a:p>
                  </a:txBody>
                  <a:tcPr marL="54864" marR="54864">
                    <a:solidFill>
                      <a:srgbClr val="FFFFFF"/>
                    </a:solidFill>
                  </a:tcPr>
                </a:tc>
                <a:tc>
                  <a:txBody>
                    <a:bodyPr/>
                    <a:lstStyle/>
                    <a:p>
                      <a:r>
                        <a:rPr sz="1100" b="0">
                          <a:solidFill>
                            <a:srgbClr val="1B2630"/>
                          </a:solidFill>
                          <a:latin typeface="Open Sans"/>
                        </a:rPr>
                        <a:t>10 (2×5) or 12 (2×6)</a:t>
                      </a:r>
                    </a:p>
                  </a:txBody>
                  <a:tcPr marL="54864" marR="54864">
                    <a:solidFill>
                      <a:srgbClr val="FFFFFF"/>
                    </a:solidFill>
                  </a:tcPr>
                </a:tc>
              </a:tr>
              <a:tr h="339634">
                <a:tc>
                  <a:txBody>
                    <a:bodyPr/>
                    <a:lstStyle/>
                    <a:p>
                      <a:r>
                        <a:rPr sz="1100" b="0">
                          <a:solidFill>
                            <a:srgbClr val="1B2630"/>
                          </a:solidFill>
                          <a:latin typeface="Open Sans"/>
                        </a:rPr>
                        <a:t>Registers</a:t>
                      </a:r>
                    </a:p>
                  </a:txBody>
                  <a:tcPr marL="54864" marR="54864">
                    <a:solidFill>
                      <a:srgbClr val="FFFFFF"/>
                    </a:solidFill>
                  </a:tcPr>
                </a:tc>
                <a:tc>
                  <a:txBody>
                    <a:bodyPr/>
                    <a:lstStyle/>
                    <a:p>
                      <a:r>
                        <a:rPr sz="1100" b="0">
                          <a:solidFill>
                            <a:srgbClr val="1B2630"/>
                          </a:solidFill>
                          <a:latin typeface="Open Sans"/>
                        </a:rPr>
                        <a:t>13 of 16</a:t>
                      </a:r>
                    </a:p>
                  </a:txBody>
                  <a:tcPr marL="54864" marR="54864">
                    <a:solidFill>
                      <a:srgbClr val="FFFFFF"/>
                    </a:solidFill>
                  </a:tcPr>
                </a:tc>
                <a:tc>
                  <a:txBody>
                    <a:bodyPr/>
                    <a:lstStyle/>
                    <a:p>
                      <a:r>
                        <a:rPr sz="1100" b="0">
                          <a:solidFill>
                            <a:srgbClr val="1B2630"/>
                          </a:solidFill>
                          <a:latin typeface="Open Sans"/>
                        </a:rPr>
                        <a:t>13 or 15 of 16</a:t>
                      </a:r>
                    </a:p>
                  </a:txBody>
                  <a:tcPr marL="54864" marR="54864">
                    <a:solidFill>
                      <a:srgbClr val="FFFFFF"/>
                    </a:solidFill>
                  </a:tcPr>
                </a:tc>
              </a:tr>
              <a:tr h="339636">
                <a:tc>
                  <a:txBody>
                    <a:bodyPr/>
                    <a:lstStyle/>
                    <a:p>
                      <a:r>
                        <a:rPr sz="1100" b="0">
                          <a:solidFill>
                            <a:srgbClr val="1B2630"/>
                          </a:solidFill>
                          <a:latin typeface="Open Sans"/>
                        </a:rPr>
                        <a:t>Peak per core</a:t>
                      </a:r>
                    </a:p>
                  </a:txBody>
                  <a:tcPr marL="54864" marR="54864">
                    <a:solidFill>
                      <a:srgbClr val="FFFFFF"/>
                    </a:solidFill>
                  </a:tcPr>
                </a:tc>
                <a:tc>
                  <a:txBody>
                    <a:bodyPr/>
                    <a:lstStyle/>
                    <a:p>
                      <a:r>
                        <a:rPr sz="1100" b="0">
                          <a:solidFill>
                            <a:srgbClr val="1B2630"/>
                          </a:solidFill>
                          <a:latin typeface="Open Sans"/>
                        </a:rPr>
                        <a:t>16 FLOPs/cycle</a:t>
                      </a:r>
                    </a:p>
                  </a:txBody>
                  <a:tcPr marL="54864" marR="54864">
                    <a:solidFill>
                      <a:srgbClr val="FFFFFF"/>
                    </a:solidFill>
                  </a:tcPr>
                </a:tc>
                <a:tc>
                  <a:txBody>
                    <a:bodyPr/>
                    <a:lstStyle/>
                    <a:p>
                      <a:r>
                        <a:rPr sz="1100" b="0">
                          <a:solidFill>
                            <a:srgbClr val="1B2630"/>
                          </a:solidFill>
                          <a:latin typeface="Open Sans"/>
                        </a:rPr>
                        <a:t>32 FLOPs/cycle</a:t>
                      </a:r>
                    </a:p>
                  </a:txBody>
                  <a:tcPr marL="54864" marR="54864">
                    <a:solidFill>
                      <a:srgbClr val="FFFFFF"/>
                    </a:solidFill>
                  </a:tcPr>
                </a:tc>
              </a:tr>
            </a:tbl>
          </a:graphicData>
        </a:graphic>
      </p:graphicFrame>
      <p:sp>
        <p:nvSpPr>
          <p:cNvPr id="4" name="TextBox 3"/>
          <p:cNvSpPr txBox="1"/>
          <p:nvPr/>
        </p:nvSpPr>
        <p:spPr>
          <a:xfrm>
            <a:off x="457200" y="3611880"/>
            <a:ext cx="4572000" cy="548640"/>
          </a:xfrm>
          <a:prstGeom prst="rect">
            <a:avLst/>
          </a:prstGeom>
          <a:noFill/>
        </p:spPr>
        <p:txBody>
          <a:bodyPr wrap="square" lIns="0" rIns="0" tIns="0" bIns="0" anchor="t">
            <a:spAutoFit/>
          </a:bodyPr>
          <a:lstStyle/>
          <a:p>
            <a:pPr algn="l"/>
            <a:r>
              <a:rPr sz="1200" b="0" i="0">
                <a:solidFill>
                  <a:srgbClr val="5A6875"/>
                </a:solidFill>
                <a:latin typeface="Open Sans"/>
              </a:rPr>
              <a:t>Same Broadwell core: 2 FMA units × 8 lanes × 2 FLOPs = 32 FLOPs/cycle. Latency 5 × throughput 2 = 10 chains in flight.</a:t>
            </a:r>
          </a:p>
        </p:txBody>
      </p:sp>
      <p:sp>
        <p:nvSpPr>
          <p:cNvPr id="5" name="term-0"/>
          <p:cNvSpPr/>
          <p:nvPr/>
        </p:nvSpPr>
        <p:spPr>
          <a:xfrm>
            <a:off x="5257800" y="1097280"/>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6672" y="1161288"/>
            <a:ext cx="3200400" cy="228600"/>
          </a:xfrm>
          <a:prstGeom prst="rect">
            <a:avLst/>
          </a:prstGeom>
          <a:noFill/>
        </p:spPr>
        <p:txBody>
          <a:bodyPr wrap="square" lIns="0" rIns="0" tIns="0" bIns="0" anchor="t">
            <a:spAutoFit/>
          </a:bodyPr>
          <a:lstStyle/>
          <a:p>
            <a:pPr algn="l"/>
            <a:r>
              <a:rPr sz="1200" b="1" i="0">
                <a:solidFill>
                  <a:srgbClr val="1B2630"/>
                </a:solidFill>
                <a:latin typeface="Courier New"/>
              </a:rPr>
              <a:t>C</a:t>
            </a:r>
          </a:p>
        </p:txBody>
      </p:sp>
      <p:sp>
        <p:nvSpPr>
          <p:cNvPr id="7" name="TextBox 6"/>
          <p:cNvSpPr txBox="1"/>
          <p:nvPr/>
        </p:nvSpPr>
        <p:spPr>
          <a:xfrm>
            <a:off x="5376672" y="1399032"/>
            <a:ext cx="3200400" cy="384048"/>
          </a:xfrm>
          <a:prstGeom prst="rect">
            <a:avLst/>
          </a:prstGeom>
          <a:noFill/>
        </p:spPr>
        <p:txBody>
          <a:bodyPr wrap="square" lIns="0" rIns="0" tIns="0" bIns="0" anchor="t">
            <a:spAutoFit/>
          </a:bodyPr>
          <a:lstStyle/>
          <a:p>
            <a:pPr algn="l"/>
            <a:r>
              <a:rPr sz="1000" b="0" i="0">
                <a:solidFill>
                  <a:srgbClr val="5A6875"/>
                </a:solidFill>
                <a:latin typeface="Open Sans"/>
              </a:rPr>
              <a:t>input channels of the layer (16 to 256)</a:t>
            </a:r>
          </a:p>
        </p:txBody>
      </p:sp>
      <p:sp>
        <p:nvSpPr>
          <p:cNvPr id="8" name="term-1"/>
          <p:cNvSpPr/>
          <p:nvPr/>
        </p:nvSpPr>
        <p:spPr>
          <a:xfrm>
            <a:off x="5257800" y="1865376"/>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6672" y="1929384"/>
            <a:ext cx="3200400" cy="228600"/>
          </a:xfrm>
          <a:prstGeom prst="rect">
            <a:avLst/>
          </a:prstGeom>
          <a:noFill/>
        </p:spPr>
        <p:txBody>
          <a:bodyPr wrap="square" lIns="0" rIns="0" tIns="0" bIns="0" anchor="t">
            <a:spAutoFit/>
          </a:bodyPr>
          <a:lstStyle/>
          <a:p>
            <a:pPr algn="l"/>
            <a:r>
              <a:rPr sz="1200" b="1" i="0">
                <a:solidFill>
                  <a:srgbClr val="1B2630"/>
                </a:solidFill>
                <a:latin typeface="Courier New"/>
              </a:rPr>
              <a:t>k = C × 9</a:t>
            </a:r>
          </a:p>
        </p:txBody>
      </p:sp>
      <p:sp>
        <p:nvSpPr>
          <p:cNvPr id="10" name="TextBox 9"/>
          <p:cNvSpPr txBox="1"/>
          <p:nvPr/>
        </p:nvSpPr>
        <p:spPr>
          <a:xfrm>
            <a:off x="5376672" y="2167128"/>
            <a:ext cx="3200400" cy="384048"/>
          </a:xfrm>
          <a:prstGeom prst="rect">
            <a:avLst/>
          </a:prstGeom>
          <a:noFill/>
        </p:spPr>
        <p:txBody>
          <a:bodyPr wrap="square" lIns="0" rIns="0" tIns="0" bIns="0" anchor="t">
            <a:spAutoFit/>
          </a:bodyPr>
          <a:lstStyle/>
          <a:p>
            <a:pPr algn="l"/>
            <a:r>
              <a:rPr sz="1000" b="0" i="0">
                <a:solidFill>
                  <a:srgbClr val="5A6875"/>
                </a:solidFill>
                <a:latin typeface="Open Sans"/>
              </a:rPr>
              <a:t>multiply-adds per output: C channels × the 9 taps of the 3×3 filter (A2's k)</a:t>
            </a:r>
          </a:p>
        </p:txBody>
      </p:sp>
      <p:sp>
        <p:nvSpPr>
          <p:cNvPr id="11" name="term-2"/>
          <p:cNvSpPr/>
          <p:nvPr/>
        </p:nvSpPr>
        <p:spPr>
          <a:xfrm>
            <a:off x="5257800" y="2633472"/>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2697479"/>
            <a:ext cx="3200400" cy="228600"/>
          </a:xfrm>
          <a:prstGeom prst="rect">
            <a:avLst/>
          </a:prstGeom>
          <a:noFill/>
        </p:spPr>
        <p:txBody>
          <a:bodyPr wrap="square" lIns="0" rIns="0" tIns="0" bIns="0" anchor="t">
            <a:spAutoFit/>
          </a:bodyPr>
          <a:lstStyle/>
          <a:p>
            <a:pPr algn="l"/>
            <a:r>
              <a:rPr sz="1200" b="1" i="0">
                <a:solidFill>
                  <a:srgbClr val="1B2630"/>
                </a:solidFill>
                <a:latin typeface="Courier New"/>
              </a:rPr>
              <a:t>accumulator</a:t>
            </a:r>
          </a:p>
        </p:txBody>
      </p:sp>
      <p:sp>
        <p:nvSpPr>
          <p:cNvPr id="13" name="TextBox 12"/>
          <p:cNvSpPr txBox="1"/>
          <p:nvPr/>
        </p:nvSpPr>
        <p:spPr>
          <a:xfrm>
            <a:off x="5376672" y="2935224"/>
            <a:ext cx="3200400" cy="384048"/>
          </a:xfrm>
          <a:prstGeom prst="rect">
            <a:avLst/>
          </a:prstGeom>
          <a:noFill/>
        </p:spPr>
        <p:txBody>
          <a:bodyPr wrap="square" lIns="0" rIns="0" tIns="0" bIns="0" anchor="t">
            <a:spAutoFit/>
          </a:bodyPr>
          <a:lstStyle/>
          <a:p>
            <a:pPr algn="l"/>
            <a:r>
              <a:rPr sz="1000" b="0" i="0">
                <a:solidFill>
                  <a:srgbClr val="5A6875"/>
                </a:solidFill>
                <a:latin typeface="Open Sans"/>
              </a:rPr>
              <a:t>one YMM register = 8 outputs (8 channels of one pixel); one dependency chain</a:t>
            </a:r>
          </a:p>
        </p:txBody>
      </p:sp>
      <p:sp>
        <p:nvSpPr>
          <p:cNvPr id="14" name="term-3"/>
          <p:cNvSpPr/>
          <p:nvPr/>
        </p:nvSpPr>
        <p:spPr>
          <a:xfrm>
            <a:off x="5257800" y="3401568"/>
            <a:ext cx="3429000" cy="694944"/>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3465575"/>
            <a:ext cx="3200400" cy="228600"/>
          </a:xfrm>
          <a:prstGeom prst="rect">
            <a:avLst/>
          </a:prstGeom>
          <a:noFill/>
        </p:spPr>
        <p:txBody>
          <a:bodyPr wrap="square" lIns="0" rIns="0" tIns="0" bIns="0" anchor="t">
            <a:spAutoFit/>
          </a:bodyPr>
          <a:lstStyle/>
          <a:p>
            <a:pPr algn="l"/>
            <a:r>
              <a:rPr sz="1200" b="1" i="0">
                <a:solidFill>
                  <a:srgbClr val="BB0027"/>
                </a:solidFill>
                <a:latin typeface="Courier New"/>
              </a:rPr>
              <a:t>tile 2×5 (10)</a:t>
            </a:r>
          </a:p>
        </p:txBody>
      </p:sp>
      <p:sp>
        <p:nvSpPr>
          <p:cNvPr id="16" name="TextBox 15"/>
          <p:cNvSpPr txBox="1"/>
          <p:nvPr/>
        </p:nvSpPr>
        <p:spPr>
          <a:xfrm>
            <a:off x="5376672" y="3703320"/>
            <a:ext cx="3200400" cy="384048"/>
          </a:xfrm>
          <a:prstGeom prst="rect">
            <a:avLst/>
          </a:prstGeom>
          <a:noFill/>
        </p:spPr>
        <p:txBody>
          <a:bodyPr wrap="square" lIns="0" rIns="0" tIns="0" bIns="0" anchor="t">
            <a:spAutoFit/>
          </a:bodyPr>
          <a:lstStyle/>
          <a:p>
            <a:pPr algn="l"/>
            <a:r>
              <a:rPr sz="1000" b="0" i="0">
                <a:solidFill>
                  <a:srgbClr val="5A6875"/>
                </a:solidFill>
                <a:latin typeface="Open Sans"/>
              </a:rPr>
              <a:t>outputs per call: 2 blocks of 8 ch × 5 pixels = 80 outputs in 10 accumulators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kernel call = 80 outputs</a:t>
            </a:r>
          </a:p>
        </p:txBody>
      </p:sp>
      <p:pic>
        <p:nvPicPr>
          <p:cNvPr id="3" name="Picture 2" descr="tile_tensors.png"/>
          <p:cNvPicPr>
            <a:picLocks noChangeAspect="1"/>
          </p:cNvPicPr>
          <p:nvPr/>
        </p:nvPicPr>
        <p:blipFill>
          <a:blip r:embed="rId3"/>
          <a:stretch>
            <a:fillRect/>
          </a:stretch>
        </p:blipFill>
        <p:spPr>
          <a:xfrm>
            <a:off x="1097280" y="960120"/>
            <a:ext cx="6949440" cy="2024057"/>
          </a:xfrm>
          <a:prstGeom prst="rect">
            <a:avLst/>
          </a:prstGeom>
        </p:spPr>
      </p:pic>
      <p:sp>
        <p:nvSpPr>
          <p:cNvPr id="4" name="TextBox 3"/>
          <p:cNvSpPr txBox="1"/>
          <p:nvPr/>
        </p:nvSpPr>
        <p:spPr>
          <a:xfrm>
            <a:off x="457200" y="3017520"/>
            <a:ext cx="8229600" cy="274320"/>
          </a:xfrm>
          <a:prstGeom prst="rect">
            <a:avLst/>
          </a:prstGeom>
          <a:noFill/>
        </p:spPr>
        <p:txBody>
          <a:bodyPr wrap="square" lIns="0" rIns="0" tIns="0" bIns="0" anchor="t">
            <a:spAutoFit/>
          </a:bodyPr>
          <a:lstStyle/>
          <a:p>
            <a:pPr algn="l"/>
            <a:r>
              <a:rPr sz="1150" b="0" i="0">
                <a:solidFill>
                  <a:srgbClr val="1B2630"/>
                </a:solidFill>
                <a:latin typeface="Open Sans"/>
              </a:rPr>
              <a:t>Per step: 2 weight loads + 5 broadcasts feed 10 FMAs; repeated k = C × 9 times, then bias, SiLU, one store.</a:t>
            </a:r>
          </a:p>
        </p:txBody>
      </p:sp>
      <p:sp>
        <p:nvSpPr>
          <p:cNvPr id="5" name="strip-0"/>
          <p:cNvSpPr/>
          <p:nvPr/>
        </p:nvSpPr>
        <p:spPr>
          <a:xfrm>
            <a:off x="457200" y="3364992"/>
            <a:ext cx="1965960" cy="841248"/>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419856"/>
            <a:ext cx="1783080" cy="228600"/>
          </a:xfrm>
          <a:prstGeom prst="rect">
            <a:avLst/>
          </a:prstGeom>
          <a:noFill/>
        </p:spPr>
        <p:txBody>
          <a:bodyPr wrap="square" lIns="0" rIns="0" tIns="0" bIns="0" anchor="t">
            <a:spAutoFit/>
          </a:bodyPr>
          <a:lstStyle/>
          <a:p>
            <a:pPr algn="l"/>
            <a:r>
              <a:rPr sz="1150" b="1" i="0">
                <a:solidFill>
                  <a:srgbClr val="BB0027"/>
                </a:solidFill>
                <a:latin typeface="Open Sans"/>
              </a:rPr>
              <a:t>SIMD</a:t>
            </a:r>
          </a:p>
        </p:txBody>
      </p:sp>
      <p:sp>
        <p:nvSpPr>
          <p:cNvPr id="7" name="TextBox 6"/>
          <p:cNvSpPr txBox="1"/>
          <p:nvPr/>
        </p:nvSpPr>
        <p:spPr>
          <a:xfrm>
            <a:off x="548640"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one vfmadd231ps = 8 multiply-adds (8 output channels): 32 FLOPs/cycle vs 4 scalar</a:t>
            </a:r>
          </a:p>
        </p:txBody>
      </p:sp>
      <p:sp>
        <p:nvSpPr>
          <p:cNvPr id="8" name="strip-1"/>
          <p:cNvSpPr/>
          <p:nvPr/>
        </p:nvSpPr>
        <p:spPr>
          <a:xfrm>
            <a:off x="2542032"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33472"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Intrinsics</a:t>
            </a:r>
          </a:p>
        </p:txBody>
      </p:sp>
      <p:sp>
        <p:nvSpPr>
          <p:cNvPr id="10" name="TextBox 9"/>
          <p:cNvSpPr txBox="1"/>
          <p:nvPr/>
        </p:nvSpPr>
        <p:spPr>
          <a:xfrm>
            <a:off x="2633472"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C calls that are one instruction each, e.g. _mm256_fmadd_ps = vfmadd231ps</a:t>
            </a:r>
          </a:p>
        </p:txBody>
      </p:sp>
      <p:sp>
        <p:nvSpPr>
          <p:cNvPr id="11" name="strip-2"/>
          <p:cNvSpPr/>
          <p:nvPr/>
        </p:nvSpPr>
        <p:spPr>
          <a:xfrm>
            <a:off x="4626864"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3"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Reuse</a:t>
            </a:r>
          </a:p>
        </p:txBody>
      </p:sp>
      <p:sp>
        <p:nvSpPr>
          <p:cNvPr id="13" name="TextBox 12"/>
          <p:cNvSpPr txBox="1"/>
          <p:nvPr/>
        </p:nvSpPr>
        <p:spPr>
          <a:xfrm>
            <a:off x="4718303"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each weight vector used 5×, each broadcast 2×, each accumulator stored once</a:t>
            </a:r>
          </a:p>
        </p:txBody>
      </p:sp>
      <p:sp>
        <p:nvSpPr>
          <p:cNvPr id="14" name="strip-3"/>
          <p:cNvSpPr/>
          <p:nvPr/>
        </p:nvSpPr>
        <p:spPr>
          <a:xfrm>
            <a:off x="6711696"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3136"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Layout</a:t>
            </a:r>
          </a:p>
        </p:txBody>
      </p:sp>
      <p:sp>
        <p:nvSpPr>
          <p:cNvPr id="16" name="TextBox 15"/>
          <p:cNvSpPr txBox="1"/>
          <p:nvPr/>
        </p:nvSpPr>
        <p:spPr>
          <a:xfrm>
            <a:off x="6803136"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8 channels of a pixel are contiguous: one aligned load fills one register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 size, registers, allocation</a:t>
            </a:r>
          </a:p>
        </p:txBody>
      </p:sp>
      <p:sp>
        <p:nvSpPr>
          <p:cNvPr id="3" name="TextBox 2"/>
          <p:cNvSpPr txBox="1"/>
          <p:nvPr/>
        </p:nvSpPr>
        <p:spPr>
          <a:xfrm>
            <a:off x="457200" y="960120"/>
            <a:ext cx="4297680" cy="274320"/>
          </a:xfrm>
          <a:prstGeom prst="rect">
            <a:avLst/>
          </a:prstGeom>
          <a:noFill/>
        </p:spPr>
        <p:txBody>
          <a:bodyPr wrap="square" lIns="0" rIns="0" tIns="0" bIns="0" anchor="t">
            <a:spAutoFit/>
          </a:bodyPr>
          <a:lstStyle/>
          <a:p>
            <a:pPr algn="l"/>
            <a:r>
              <a:rPr sz="1100" b="1" i="0">
                <a:solidFill>
                  <a:srgbClr val="1B2630"/>
                </a:solidFill>
                <a:latin typeface="Open Sans"/>
              </a:rPr>
              <a:t>16 YMM registers, 8 floats each (row 1: block kb, row 2: kb+1)</a:t>
            </a:r>
          </a:p>
        </p:txBody>
      </p:sp>
      <p:sp>
        <p:nvSpPr>
          <p:cNvPr id="4" name="Rectangle 3"/>
          <p:cNvSpPr/>
          <p:nvPr/>
        </p:nvSpPr>
        <p:spPr>
          <a:xfrm>
            <a:off x="457200"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c[0][0]</a:t>
            </a:r>
          </a:p>
        </p:txBody>
      </p:sp>
      <p:sp>
        <p:nvSpPr>
          <p:cNvPr id="5" name="Rectangle 4"/>
          <p:cNvSpPr/>
          <p:nvPr/>
        </p:nvSpPr>
        <p:spPr>
          <a:xfrm>
            <a:off x="1298448"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c[0][1]</a:t>
            </a:r>
          </a:p>
        </p:txBody>
      </p:sp>
      <p:sp>
        <p:nvSpPr>
          <p:cNvPr id="6" name="Rectangle 5"/>
          <p:cNvSpPr/>
          <p:nvPr/>
        </p:nvSpPr>
        <p:spPr>
          <a:xfrm>
            <a:off x="2139696"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c[0][2]</a:t>
            </a:r>
          </a:p>
        </p:txBody>
      </p:sp>
      <p:sp>
        <p:nvSpPr>
          <p:cNvPr id="7" name="Rectangle 6"/>
          <p:cNvSpPr/>
          <p:nvPr/>
        </p:nvSpPr>
        <p:spPr>
          <a:xfrm>
            <a:off x="2980944"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c[0][3]</a:t>
            </a:r>
          </a:p>
        </p:txBody>
      </p:sp>
      <p:sp>
        <p:nvSpPr>
          <p:cNvPr id="8" name="Rectangle 7"/>
          <p:cNvSpPr/>
          <p:nvPr/>
        </p:nvSpPr>
        <p:spPr>
          <a:xfrm>
            <a:off x="3822191"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c[0][4]</a:t>
            </a:r>
          </a:p>
        </p:txBody>
      </p:sp>
      <p:sp>
        <p:nvSpPr>
          <p:cNvPr id="9" name="Rectangle 8"/>
          <p:cNvSpPr/>
          <p:nvPr/>
        </p:nvSpPr>
        <p:spPr>
          <a:xfrm>
            <a:off x="457200"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c[1][0]</a:t>
            </a:r>
          </a:p>
        </p:txBody>
      </p:sp>
      <p:sp>
        <p:nvSpPr>
          <p:cNvPr id="10" name="Rectangle 9"/>
          <p:cNvSpPr/>
          <p:nvPr/>
        </p:nvSpPr>
        <p:spPr>
          <a:xfrm>
            <a:off x="1298448"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c[1][1]</a:t>
            </a:r>
          </a:p>
        </p:txBody>
      </p:sp>
      <p:sp>
        <p:nvSpPr>
          <p:cNvPr id="11" name="Rectangle 10"/>
          <p:cNvSpPr/>
          <p:nvPr/>
        </p:nvSpPr>
        <p:spPr>
          <a:xfrm>
            <a:off x="2139696"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c[1][2]</a:t>
            </a:r>
          </a:p>
        </p:txBody>
      </p:sp>
      <p:sp>
        <p:nvSpPr>
          <p:cNvPr id="12" name="Rectangle 11"/>
          <p:cNvSpPr/>
          <p:nvPr/>
        </p:nvSpPr>
        <p:spPr>
          <a:xfrm>
            <a:off x="2980944"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c[1][3]</a:t>
            </a:r>
          </a:p>
        </p:txBody>
      </p:sp>
      <p:sp>
        <p:nvSpPr>
          <p:cNvPr id="13" name="Rectangle 12"/>
          <p:cNvSpPr/>
          <p:nvPr/>
        </p:nvSpPr>
        <p:spPr>
          <a:xfrm>
            <a:off x="3822191"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c[1][4]</a:t>
            </a:r>
          </a:p>
        </p:txBody>
      </p:sp>
      <p:sp>
        <p:nvSpPr>
          <p:cNvPr id="14" name="Rectangle 13"/>
          <p:cNvSpPr/>
          <p:nvPr/>
        </p:nvSpPr>
        <p:spPr>
          <a:xfrm>
            <a:off x="457200" y="2459736"/>
            <a:ext cx="649224" cy="475488"/>
          </a:xfrm>
          <a:prstGeom prst="rect">
            <a:avLst/>
          </a:prstGeom>
          <a:solidFill>
            <a:srgbClr val="F5E6CF"/>
          </a:solidFill>
          <a:ln w="1587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B7731A"/>
                </a:solidFill>
                <a:latin typeface="Courier New"/>
              </a:rPr>
              <a:t>w0</a:t>
            </a:r>
          </a:p>
        </p:txBody>
      </p:sp>
      <p:sp>
        <p:nvSpPr>
          <p:cNvPr id="15" name="Rectangle 14"/>
          <p:cNvSpPr/>
          <p:nvPr/>
        </p:nvSpPr>
        <p:spPr>
          <a:xfrm>
            <a:off x="1161288" y="2459736"/>
            <a:ext cx="649224" cy="475488"/>
          </a:xfrm>
          <a:prstGeom prst="rect">
            <a:avLst/>
          </a:prstGeom>
          <a:solidFill>
            <a:srgbClr val="F5E6CF"/>
          </a:solidFill>
          <a:ln w="1587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B7731A"/>
                </a:solidFill>
                <a:latin typeface="Courier New"/>
              </a:rPr>
              <a:t>w1</a:t>
            </a:r>
          </a:p>
        </p:txBody>
      </p:sp>
      <p:sp>
        <p:nvSpPr>
          <p:cNvPr id="16" name="Rectangle 15"/>
          <p:cNvSpPr/>
          <p:nvPr/>
        </p:nvSpPr>
        <p:spPr>
          <a:xfrm>
            <a:off x="1865376" y="2459736"/>
            <a:ext cx="649224" cy="475488"/>
          </a:xfrm>
          <a:prstGeom prst="rect">
            <a:avLst/>
          </a:prstGeom>
          <a:solidFill>
            <a:srgbClr val="E4E0F0"/>
          </a:solidFill>
          <a:ln w="1587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5B4B8A"/>
                </a:solidFill>
                <a:latin typeface="Courier New"/>
              </a:rPr>
              <a:t>x</a:t>
            </a:r>
          </a:p>
        </p:txBody>
      </p:sp>
      <p:sp>
        <p:nvSpPr>
          <p:cNvPr id="17" name="Rectangle 16"/>
          <p:cNvSpPr/>
          <p:nvPr/>
        </p:nvSpPr>
        <p:spPr>
          <a:xfrm>
            <a:off x="2569464"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18" name="Rectangle 17"/>
          <p:cNvSpPr/>
          <p:nvPr/>
        </p:nvSpPr>
        <p:spPr>
          <a:xfrm>
            <a:off x="3273552"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19" name="Rectangle 18"/>
          <p:cNvSpPr/>
          <p:nvPr/>
        </p:nvSpPr>
        <p:spPr>
          <a:xfrm>
            <a:off x="3977639"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20" name="TextBox 19"/>
          <p:cNvSpPr txBox="1"/>
          <p:nvPr/>
        </p:nvSpPr>
        <p:spPr>
          <a:xfrm>
            <a:off x="457200" y="3154680"/>
            <a:ext cx="4206240" cy="822960"/>
          </a:xfrm>
          <a:prstGeom prst="rect">
            <a:avLst/>
          </a:prstGeom>
          <a:noFill/>
        </p:spPr>
        <p:txBody>
          <a:bodyPr wrap="square" lIns="0" rIns="0" tIns="0" bIns="0" anchor="t">
            <a:spAutoFit/>
          </a:bodyPr>
          <a:lstStyle/>
          <a:p>
            <a:pPr algn="l"/>
            <a:r>
              <a:rPr sz="1050" b="1" i="0">
                <a:solidFill>
                  <a:srgbClr val="0C6A87"/>
                </a:solidFill>
                <a:latin typeface="Courier New"/>
              </a:rPr>
              <a:t>c[b][j]</a:t>
            </a:r>
            <a:r>
              <a:rPr sz="1050" b="0" i="0">
                <a:solidFill>
                  <a:srgbClr val="5A6875"/>
                </a:solidFill>
                <a:latin typeface="Open Sans"/>
              </a:rPr>
              <a:t> output block b (8 ch), pixel j: 10 accumulators</a:t>
            </a:r>
          </a:p>
          <a:p>
            <a:pPr algn="l">
              <a:spcBef>
                <a:spcPts val="600"/>
              </a:spcBef>
            </a:pPr>
            <a:r>
              <a:rPr sz="1050" b="1" i="0">
                <a:solidFill>
                  <a:srgbClr val="B7731A"/>
                </a:solidFill>
                <a:latin typeface="Courier New"/>
              </a:rPr>
              <a:t>w0, w1</a:t>
            </a:r>
            <a:r>
              <a:rPr sz="1050" b="0" i="0">
                <a:solidFill>
                  <a:srgbClr val="5A6875"/>
                </a:solidFill>
                <a:latin typeface="Open Sans"/>
              </a:rPr>
              <a:t> 8 weights for blocks kb, kb+1 (one load each)</a:t>
            </a:r>
          </a:p>
          <a:p>
            <a:pPr algn="l">
              <a:spcBef>
                <a:spcPts val="600"/>
              </a:spcBef>
            </a:pPr>
            <a:r>
              <a:rPr sz="1050" b="1" i="0">
                <a:solidFill>
                  <a:srgbClr val="5B4B8A"/>
                </a:solidFill>
                <a:latin typeface="Courier New"/>
              </a:rPr>
              <a:t>x</a:t>
            </a:r>
            <a:r>
              <a:rPr sz="1050" b="0" i="0">
                <a:solidFill>
                  <a:srgbClr val="5A6875"/>
                </a:solidFill>
                <a:latin typeface="Open Sans"/>
              </a:rPr>
              <a:t> one input value broadcast to 8 lanes</a:t>
            </a:r>
          </a:p>
        </p:txBody>
      </p:sp>
      <p:sp>
        <p:nvSpPr>
          <p:cNvPr id="21" name="qa-0"/>
          <p:cNvSpPr/>
          <p:nvPr/>
        </p:nvSpPr>
        <p:spPr>
          <a:xfrm>
            <a:off x="4800600" y="960120"/>
            <a:ext cx="3886200" cy="100584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9472" y="1033272"/>
            <a:ext cx="3657600" cy="256032"/>
          </a:xfrm>
          <a:prstGeom prst="rect">
            <a:avLst/>
          </a:prstGeom>
          <a:noFill/>
        </p:spPr>
        <p:txBody>
          <a:bodyPr wrap="square" lIns="0" rIns="0" tIns="0" bIns="0" anchor="t">
            <a:spAutoFit/>
          </a:bodyPr>
          <a:lstStyle/>
          <a:p>
            <a:pPr algn="l"/>
            <a:r>
              <a:rPr sz="1250" b="1" i="0">
                <a:solidFill>
                  <a:srgbClr val="1B2630"/>
                </a:solidFill>
                <a:latin typeface="Open Sans"/>
              </a:rPr>
              <a:t>(a) Size</a:t>
            </a:r>
          </a:p>
        </p:txBody>
      </p:sp>
      <p:sp>
        <p:nvSpPr>
          <p:cNvPr id="23" name="TextBox 22"/>
          <p:cNvSpPr txBox="1"/>
          <p:nvPr/>
        </p:nvSpPr>
        <p:spPr>
          <a:xfrm>
            <a:off x="4919472" y="1307592"/>
            <a:ext cx="3657600" cy="640080"/>
          </a:xfrm>
          <a:prstGeom prst="rect">
            <a:avLst/>
          </a:prstGeom>
          <a:noFill/>
        </p:spPr>
        <p:txBody>
          <a:bodyPr wrap="square" lIns="0" rIns="0" tIns="0" bIns="0" anchor="t">
            <a:spAutoFit/>
          </a:bodyPr>
          <a:lstStyle/>
          <a:p>
            <a:pPr algn="l"/>
            <a:r>
              <a:rPr sz="1050" b="0" i="0">
                <a:solidFill>
                  <a:srgbClr val="5A6875"/>
                </a:solidFill>
                <a:latin typeface="Open Sans"/>
              </a:rPr>
              <a:t>80 outputs per call: 5 pixels × 16 output channels (2 blocks of 8).</a:t>
            </a:r>
          </a:p>
        </p:txBody>
      </p:sp>
      <p:sp>
        <p:nvSpPr>
          <p:cNvPr id="24" name="qa-1"/>
          <p:cNvSpPr/>
          <p:nvPr/>
        </p:nvSpPr>
        <p:spPr>
          <a:xfrm>
            <a:off x="4800600" y="2057400"/>
            <a:ext cx="3886200" cy="100584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19472" y="2130552"/>
            <a:ext cx="3657600" cy="256032"/>
          </a:xfrm>
          <a:prstGeom prst="rect">
            <a:avLst/>
          </a:prstGeom>
          <a:noFill/>
        </p:spPr>
        <p:txBody>
          <a:bodyPr wrap="square" lIns="0" rIns="0" tIns="0" bIns="0" anchor="t">
            <a:spAutoFit/>
          </a:bodyPr>
          <a:lstStyle/>
          <a:p>
            <a:pPr algn="l"/>
            <a:r>
              <a:rPr sz="1250" b="1" i="0">
                <a:solidFill>
                  <a:srgbClr val="BB0027"/>
                </a:solidFill>
                <a:latin typeface="Open Sans"/>
              </a:rPr>
              <a:t>(b) Registers</a:t>
            </a:r>
          </a:p>
        </p:txBody>
      </p:sp>
      <p:sp>
        <p:nvSpPr>
          <p:cNvPr id="26" name="TextBox 25"/>
          <p:cNvSpPr txBox="1"/>
          <p:nvPr/>
        </p:nvSpPr>
        <p:spPr>
          <a:xfrm>
            <a:off x="4919472" y="2404872"/>
            <a:ext cx="3657600" cy="640080"/>
          </a:xfrm>
          <a:prstGeom prst="rect">
            <a:avLst/>
          </a:prstGeom>
          <a:noFill/>
        </p:spPr>
        <p:txBody>
          <a:bodyPr wrap="square" lIns="0" rIns="0" tIns="0" bIns="0" anchor="t">
            <a:spAutoFit/>
          </a:bodyPr>
          <a:lstStyle/>
          <a:p>
            <a:pPr algn="l"/>
            <a:r>
              <a:rPr sz="1050" b="0" i="0">
                <a:solidFill>
                  <a:srgbClr val="5A6875"/>
                </a:solidFill>
                <a:latin typeface="Open Sans"/>
              </a:rPr>
              <a:t>Need 13 of the 16 YMM registers (AVX2, no AVX-512). At least 10 accumulators: FMA latency 5 × 2 FMA units.</a:t>
            </a:r>
          </a:p>
        </p:txBody>
      </p:sp>
      <p:sp>
        <p:nvSpPr>
          <p:cNvPr id="27" name="qa-2"/>
          <p:cNvSpPr/>
          <p:nvPr/>
        </p:nvSpPr>
        <p:spPr>
          <a:xfrm>
            <a:off x="4800600" y="3154680"/>
            <a:ext cx="3886200" cy="100584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19472" y="3227832"/>
            <a:ext cx="3657600" cy="256032"/>
          </a:xfrm>
          <a:prstGeom prst="rect">
            <a:avLst/>
          </a:prstGeom>
          <a:noFill/>
        </p:spPr>
        <p:txBody>
          <a:bodyPr wrap="square" lIns="0" rIns="0" tIns="0" bIns="0" anchor="t">
            <a:spAutoFit/>
          </a:bodyPr>
          <a:lstStyle/>
          <a:p>
            <a:pPr algn="l"/>
            <a:r>
              <a:rPr sz="1250" b="1" i="0">
                <a:solidFill>
                  <a:srgbClr val="1B2630"/>
                </a:solidFill>
                <a:latin typeface="Open Sans"/>
              </a:rPr>
              <a:t>(c) Allocation</a:t>
            </a:r>
          </a:p>
        </p:txBody>
      </p:sp>
      <p:sp>
        <p:nvSpPr>
          <p:cNvPr id="29" name="TextBox 28"/>
          <p:cNvSpPr txBox="1"/>
          <p:nvPr/>
        </p:nvSpPr>
        <p:spPr>
          <a:xfrm>
            <a:off x="4919472" y="3502152"/>
            <a:ext cx="3657600" cy="640080"/>
          </a:xfrm>
          <a:prstGeom prst="rect">
            <a:avLst/>
          </a:prstGeom>
          <a:noFill/>
        </p:spPr>
        <p:txBody>
          <a:bodyPr wrap="square" lIns="0" rIns="0" tIns="0" bIns="0" anchor="t">
            <a:spAutoFit/>
          </a:bodyPr>
          <a:lstStyle/>
          <a:p>
            <a:pPr algn="l"/>
            <a:r>
              <a:rPr sz="1050" b="0" i="0">
                <a:solidFill>
                  <a:srgbClr val="5A6875"/>
                </a:solidFill>
                <a:latin typeface="Open Sans"/>
              </a:rPr>
              <a:t>Outputs: 10 accumulators, live for the whole C × 9 loop. Inputs: 2 weight + 1 broadcast. Temporaries: none in the loop; 3 free. Pointers and counters live in integer registers.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 register reuse and the code</a:t>
            </a:r>
          </a:p>
        </p:txBody>
      </p:sp>
      <p:sp>
        <p:nvSpPr>
          <p:cNvPr id="3" name="TextBox 2"/>
          <p:cNvSpPr txBox="1"/>
          <p:nvPr/>
        </p:nvSpPr>
        <p:spPr>
          <a:xfrm>
            <a:off x="457200" y="960120"/>
            <a:ext cx="3291840" cy="274320"/>
          </a:xfrm>
          <a:prstGeom prst="rect">
            <a:avLst/>
          </a:prstGeom>
          <a:noFill/>
        </p:spPr>
        <p:txBody>
          <a:bodyPr wrap="square" lIns="0" rIns="0" tIns="0" bIns="0" anchor="t">
            <a:spAutoFit/>
          </a:bodyPr>
          <a:lstStyle/>
          <a:p>
            <a:pPr algn="l"/>
            <a:r>
              <a:rPr sz="1300" b="1" i="0">
                <a:solidFill>
                  <a:srgbClr val="BB0027"/>
                </a:solidFill>
                <a:latin typeface="Open Sans"/>
              </a:rPr>
              <a:t>(d) Reuse</a:t>
            </a:r>
          </a:p>
        </p:txBody>
      </p:sp>
      <p:sp>
        <p:nvSpPr>
          <p:cNvPr id="4" name="reuse-0"/>
          <p:cNvSpPr/>
          <p:nvPr/>
        </p:nvSpPr>
        <p:spPr>
          <a:xfrm>
            <a:off x="457200" y="128016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35024"/>
            <a:ext cx="3108960" cy="228600"/>
          </a:xfrm>
          <a:prstGeom prst="rect">
            <a:avLst/>
          </a:prstGeom>
          <a:noFill/>
        </p:spPr>
        <p:txBody>
          <a:bodyPr wrap="square" lIns="0" rIns="0" tIns="0" bIns="0" anchor="t">
            <a:spAutoFit/>
          </a:bodyPr>
          <a:lstStyle/>
          <a:p>
            <a:pPr algn="l"/>
            <a:r>
              <a:rPr sz="1150" b="1" i="0">
                <a:solidFill>
                  <a:srgbClr val="1B2630"/>
                </a:solidFill>
                <a:latin typeface="Open Sans"/>
              </a:rPr>
              <a:t>Weight w0, w1</a:t>
            </a:r>
          </a:p>
        </p:txBody>
      </p:sp>
      <p:sp>
        <p:nvSpPr>
          <p:cNvPr id="6" name="TextBox 5"/>
          <p:cNvSpPr txBox="1"/>
          <p:nvPr/>
        </p:nvSpPr>
        <p:spPr>
          <a:xfrm>
            <a:off x="566928" y="1563624"/>
            <a:ext cx="3108960" cy="384048"/>
          </a:xfrm>
          <a:prstGeom prst="rect">
            <a:avLst/>
          </a:prstGeom>
          <a:noFill/>
        </p:spPr>
        <p:txBody>
          <a:bodyPr wrap="square" lIns="0" rIns="0" tIns="0" bIns="0" anchor="t">
            <a:spAutoFit/>
          </a:bodyPr>
          <a:lstStyle/>
          <a:p>
            <a:pPr algn="l"/>
            <a:r>
              <a:rPr sz="950" b="0" i="0">
                <a:solidFill>
                  <a:srgbClr val="5A6875"/>
                </a:solidFill>
                <a:latin typeface="Open Sans"/>
              </a:rPr>
              <a:t>1 load → 5 FMAs (one per pixel)</a:t>
            </a:r>
          </a:p>
        </p:txBody>
      </p:sp>
      <p:sp>
        <p:nvSpPr>
          <p:cNvPr id="7" name="reuse-1"/>
          <p:cNvSpPr/>
          <p:nvPr/>
        </p:nvSpPr>
        <p:spPr>
          <a:xfrm>
            <a:off x="457200" y="201168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66544"/>
            <a:ext cx="3108960" cy="228600"/>
          </a:xfrm>
          <a:prstGeom prst="rect">
            <a:avLst/>
          </a:prstGeom>
          <a:noFill/>
        </p:spPr>
        <p:txBody>
          <a:bodyPr wrap="square" lIns="0" rIns="0" tIns="0" bIns="0" anchor="t">
            <a:spAutoFit/>
          </a:bodyPr>
          <a:lstStyle/>
          <a:p>
            <a:pPr algn="l"/>
            <a:r>
              <a:rPr sz="1150" b="1" i="0">
                <a:solidFill>
                  <a:srgbClr val="1B2630"/>
                </a:solidFill>
                <a:latin typeface="Open Sans"/>
              </a:rPr>
              <a:t>Input x</a:t>
            </a:r>
          </a:p>
        </p:txBody>
      </p:sp>
      <p:sp>
        <p:nvSpPr>
          <p:cNvPr id="9" name="TextBox 8"/>
          <p:cNvSpPr txBox="1"/>
          <p:nvPr/>
        </p:nvSpPr>
        <p:spPr>
          <a:xfrm>
            <a:off x="566928" y="2295144"/>
            <a:ext cx="3108960" cy="384048"/>
          </a:xfrm>
          <a:prstGeom prst="rect">
            <a:avLst/>
          </a:prstGeom>
          <a:noFill/>
        </p:spPr>
        <p:txBody>
          <a:bodyPr wrap="square" lIns="0" rIns="0" tIns="0" bIns="0" anchor="t">
            <a:spAutoFit/>
          </a:bodyPr>
          <a:lstStyle/>
          <a:p>
            <a:pPr algn="l"/>
            <a:r>
              <a:rPr sz="950" b="0" i="0">
                <a:solidFill>
                  <a:srgbClr val="5A6875"/>
                </a:solidFill>
                <a:latin typeface="Open Sans"/>
              </a:rPr>
              <a:t>1 broadcast → 2 FMAs (one per block); the one x register is reused for all 5 pixels</a:t>
            </a:r>
          </a:p>
        </p:txBody>
      </p:sp>
      <p:sp>
        <p:nvSpPr>
          <p:cNvPr id="10" name="reuse-2"/>
          <p:cNvSpPr/>
          <p:nvPr/>
        </p:nvSpPr>
        <p:spPr>
          <a:xfrm>
            <a:off x="457200" y="274320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798064"/>
            <a:ext cx="3108960" cy="228600"/>
          </a:xfrm>
          <a:prstGeom prst="rect">
            <a:avLst/>
          </a:prstGeom>
          <a:noFill/>
        </p:spPr>
        <p:txBody>
          <a:bodyPr wrap="square" lIns="0" rIns="0" tIns="0" bIns="0" anchor="t">
            <a:spAutoFit/>
          </a:bodyPr>
          <a:lstStyle/>
          <a:p>
            <a:pPr algn="l"/>
            <a:r>
              <a:rPr sz="1150" b="1" i="0">
                <a:solidFill>
                  <a:srgbClr val="1B2630"/>
                </a:solidFill>
                <a:latin typeface="Open Sans"/>
              </a:rPr>
              <a:t>Accumulator c</a:t>
            </a:r>
          </a:p>
        </p:txBody>
      </p:sp>
      <p:sp>
        <p:nvSpPr>
          <p:cNvPr id="12" name="TextBox 11"/>
          <p:cNvSpPr txBox="1"/>
          <p:nvPr/>
        </p:nvSpPr>
        <p:spPr>
          <a:xfrm>
            <a:off x="566928" y="3026664"/>
            <a:ext cx="3108960" cy="384048"/>
          </a:xfrm>
          <a:prstGeom prst="rect">
            <a:avLst/>
          </a:prstGeom>
          <a:noFill/>
        </p:spPr>
        <p:txBody>
          <a:bodyPr wrap="square" lIns="0" rIns="0" tIns="0" bIns="0" anchor="t">
            <a:spAutoFit/>
          </a:bodyPr>
          <a:lstStyle/>
          <a:p>
            <a:pPr algn="l"/>
            <a:r>
              <a:rPr sz="950" b="0" i="0">
                <a:solidFill>
                  <a:srgbClr val="5A6875"/>
                </a:solidFill>
                <a:latin typeface="Open Sans"/>
              </a:rPr>
              <a:t>C × 9 FMAs → 1 store (bias as start value)</a:t>
            </a:r>
          </a:p>
        </p:txBody>
      </p:sp>
      <p:sp>
        <p:nvSpPr>
          <p:cNvPr id="13" name="reuse-3"/>
          <p:cNvSpPr/>
          <p:nvPr/>
        </p:nvSpPr>
        <p:spPr>
          <a:xfrm>
            <a:off x="457200" y="347472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529584"/>
            <a:ext cx="3108960" cy="228600"/>
          </a:xfrm>
          <a:prstGeom prst="rect">
            <a:avLst/>
          </a:prstGeom>
          <a:noFill/>
        </p:spPr>
        <p:txBody>
          <a:bodyPr wrap="square" lIns="0" rIns="0" tIns="0" bIns="0" anchor="t">
            <a:spAutoFit/>
          </a:bodyPr>
          <a:lstStyle/>
          <a:p>
            <a:pPr algn="l"/>
            <a:r>
              <a:rPr sz="1150" b="1" i="0">
                <a:solidFill>
                  <a:srgbClr val="1B2630"/>
                </a:solidFill>
                <a:latin typeface="Open Sans"/>
              </a:rPr>
              <a:t>Per step</a:t>
            </a:r>
          </a:p>
        </p:txBody>
      </p:sp>
      <p:sp>
        <p:nvSpPr>
          <p:cNvPr id="15" name="TextBox 14"/>
          <p:cNvSpPr txBox="1"/>
          <p:nvPr/>
        </p:nvSpPr>
        <p:spPr>
          <a:xfrm>
            <a:off x="566928" y="3758184"/>
            <a:ext cx="3108960" cy="384048"/>
          </a:xfrm>
          <a:prstGeom prst="rect">
            <a:avLst/>
          </a:prstGeom>
          <a:noFill/>
        </p:spPr>
        <p:txBody>
          <a:bodyPr wrap="square" lIns="0" rIns="0" tIns="0" bIns="0" anchor="t">
            <a:spAutoFit/>
          </a:bodyPr>
          <a:lstStyle/>
          <a:p>
            <a:pPr algn="l"/>
            <a:r>
              <a:rPr sz="950" b="0" i="0">
                <a:solidFill>
                  <a:srgbClr val="5A6875"/>
                </a:solidFill>
                <a:latin typeface="Open Sans"/>
              </a:rPr>
              <a:t>7 loads : 10 FMAs, under the 2 loads/cycle limit</a:t>
            </a:r>
          </a:p>
        </p:txBody>
      </p:sp>
      <p:sp>
        <p:nvSpPr>
          <p:cNvPr id="16" name="TextBox 15"/>
          <p:cNvSpPr txBox="1"/>
          <p:nvPr/>
        </p:nvSpPr>
        <p:spPr>
          <a:xfrm>
            <a:off x="3977639" y="960120"/>
            <a:ext cx="4663440" cy="274320"/>
          </a:xfrm>
          <a:prstGeom prst="rect">
            <a:avLst/>
          </a:prstGeom>
          <a:noFill/>
        </p:spPr>
        <p:txBody>
          <a:bodyPr wrap="square" lIns="0" rIns="0" tIns="0" bIns="0" anchor="t">
            <a:spAutoFit/>
          </a:bodyPr>
          <a:lstStyle/>
          <a:p>
            <a:pPr algn="l"/>
            <a:r>
              <a:rPr sz="1300" b="1" i="0">
                <a:solidFill>
                  <a:srgbClr val="BB0027"/>
                </a:solidFill>
                <a:latin typeface="Open Sans"/>
              </a:rPr>
              <a:t>(e) Implementation, AVX2 intrinsics (v2)</a:t>
            </a:r>
          </a:p>
        </p:txBody>
      </p:sp>
      <p:sp>
        <p:nvSpPr>
          <p:cNvPr id="17" name="code"/>
          <p:cNvSpPr/>
          <p:nvPr/>
        </p:nvSpPr>
        <p:spPr>
          <a:xfrm>
            <a:off x="3977639" y="1280160"/>
            <a:ext cx="4709160" cy="2331720"/>
          </a:xfrm>
          <a:prstGeom prst="roundRect">
            <a:avLst>
              <a:gd name="adj" fmla="val 8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87368" y="1371600"/>
            <a:ext cx="4526280" cy="2194560"/>
          </a:xfrm>
          <a:prstGeom prst="rect">
            <a:avLst/>
          </a:prstGeom>
          <a:noFill/>
        </p:spPr>
        <p:txBody>
          <a:bodyPr wrap="square" lIns="0" rIns="0" tIns="0" bIns="0" anchor="t">
            <a:spAutoFit/>
          </a:bodyPr>
          <a:lstStyle/>
          <a:p>
            <a:pPr algn="l"/>
            <a:r>
              <a:rPr sz="850" b="0" i="0">
                <a:solidFill>
                  <a:srgbClr val="1B2630"/>
                </a:solidFill>
                <a:latin typeface="Courier New"/>
              </a:rPr>
              <a:t>c[b][j] = _mm256_load_ps(bias + 8*(kb+b));  // b&lt;2, j&lt;5</a:t>
            </a:r>
          </a:p>
          <a:p>
            <a:pPr algn="l">
              <a:spcBef>
                <a:spcPts val="600"/>
              </a:spcBef>
            </a:pPr>
            <a:r>
              <a:rPr sz="850" b="0" i="0">
                <a:solidFill>
                  <a:srgbClr val="1B2630"/>
                </a:solidFill>
                <a:latin typeface="Courier New"/>
              </a:rPr>
              <a:t>for cb in C/8:  for r in 0..2:  for s in 0..2:</a:t>
            </a:r>
          </a:p>
          <a:p>
            <a:pPr algn="l">
              <a:spcBef>
                <a:spcPts val="600"/>
              </a:spcBef>
            </a:pPr>
            <a:r>
              <a:rPr sz="850" b="0" i="0">
                <a:solidFill>
                  <a:srgbClr val="1B2630"/>
                </a:solidFill>
                <a:latin typeface="Courier New"/>
              </a:rPr>
              <a:t>  for ci in 0..7:              // unrolled by GCC</a:t>
            </a:r>
          </a:p>
          <a:p>
            <a:pPr algn="l">
              <a:spcBef>
                <a:spcPts val="600"/>
              </a:spcBef>
            </a:pPr>
            <a:r>
              <a:rPr sz="850" b="0" i="0">
                <a:solidFill>
                  <a:srgbClr val="1B2630"/>
                </a:solidFill>
                <a:latin typeface="Courier New"/>
              </a:rPr>
              <a:t>    w0 = _mm256_load_ps(W[kb  ][cb][r][s][ci]);</a:t>
            </a:r>
          </a:p>
          <a:p>
            <a:pPr algn="l">
              <a:spcBef>
                <a:spcPts val="600"/>
              </a:spcBef>
            </a:pPr>
            <a:r>
              <a:rPr sz="850" b="0" i="0">
                <a:solidFill>
                  <a:srgbClr val="1B2630"/>
                </a:solidFill>
                <a:latin typeface="Courier New"/>
              </a:rPr>
              <a:t>    w1 = _mm256_load_ps(W[kb+1][cb][r][s][ci]);</a:t>
            </a:r>
          </a:p>
          <a:p>
            <a:pPr algn="l">
              <a:spcBef>
                <a:spcPts val="600"/>
              </a:spcBef>
            </a:pPr>
            <a:r>
              <a:rPr sz="850" b="0" i="0">
                <a:solidFill>
                  <a:srgbClr val="1B2630"/>
                </a:solidFill>
                <a:latin typeface="Courier New"/>
              </a:rPr>
              <a:t>    for j in 0..4:             // unrolled</a:t>
            </a:r>
          </a:p>
          <a:p>
            <a:pPr algn="l">
              <a:spcBef>
                <a:spcPts val="600"/>
              </a:spcBef>
            </a:pPr>
            <a:r>
              <a:rPr sz="850" b="0" i="0">
                <a:solidFill>
                  <a:srgbClr val="1B2630"/>
                </a:solidFill>
                <a:latin typeface="Courier New"/>
              </a:rPr>
              <a:t>      x = _mm256_broadcast_ss(&amp;In[cb][oh+r][ow+j+s][ci]);</a:t>
            </a:r>
          </a:p>
          <a:p>
            <a:pPr algn="l">
              <a:spcBef>
                <a:spcPts val="600"/>
              </a:spcBef>
            </a:pPr>
            <a:r>
              <a:rPr sz="850" b="0" i="0">
                <a:solidFill>
                  <a:srgbClr val="1B2630"/>
                </a:solidFill>
                <a:latin typeface="Courier New"/>
              </a:rPr>
              <a:t>      c[0][j] = _mm256_fmadd_ps(x, w0, c[0][j]);</a:t>
            </a:r>
          </a:p>
          <a:p>
            <a:pPr algn="l">
              <a:spcBef>
                <a:spcPts val="600"/>
              </a:spcBef>
            </a:pPr>
            <a:r>
              <a:rPr sz="850" b="0" i="0">
                <a:solidFill>
                  <a:srgbClr val="1B2630"/>
                </a:solidFill>
                <a:latin typeface="Courier New"/>
              </a:rPr>
              <a:t>      c[1][j] = _mm256_fmadd_ps(x, w1, c[1][j]);</a:t>
            </a:r>
          </a:p>
          <a:p>
            <a:pPr algn="l">
              <a:spcBef>
                <a:spcPts val="600"/>
              </a:spcBef>
            </a:pPr>
            <a:r>
              <a:rPr sz="850" b="0" i="0">
                <a:solidFill>
                  <a:srgbClr val="1B2630"/>
                </a:solidFill>
                <a:latin typeface="Courier New"/>
              </a:rPr>
              <a:t>c[b][j] = epilogue_ps(c[b][j], fuse_silu);   // SiLU</a:t>
            </a:r>
          </a:p>
          <a:p>
            <a:pPr algn="l">
              <a:spcBef>
                <a:spcPts val="600"/>
              </a:spcBef>
            </a:pPr>
            <a:r>
              <a:rPr sz="850" b="0" i="0">
                <a:solidFill>
                  <a:srgbClr val="1B2630"/>
                </a:solidFill>
                <a:latin typeface="Courier New"/>
              </a:rPr>
              <a:t>_mm256_store_ps(&amp;Out[kb+b][oh+1][ow+j+1][0], c[b][j]);</a:t>
            </a:r>
          </a:p>
        </p:txBody>
      </p:sp>
      <p:sp>
        <p:nvSpPr>
          <p:cNvPr id="19" name="TextBox 18"/>
          <p:cNvSpPr txBox="1"/>
          <p:nvPr/>
        </p:nvSpPr>
        <p:spPr>
          <a:xfrm>
            <a:off x="3977639" y="3685032"/>
            <a:ext cx="4709160" cy="502920"/>
          </a:xfrm>
          <a:prstGeom prst="rect">
            <a:avLst/>
          </a:prstGeom>
          <a:noFill/>
        </p:spPr>
        <p:txBody>
          <a:bodyPr wrap="square" lIns="0" rIns="0" tIns="0" bIns="0" anchor="t">
            <a:spAutoFit/>
          </a:bodyPr>
          <a:lstStyle/>
          <a:p>
            <a:pPr algn="l"/>
            <a:r>
              <a:rPr sz="950" b="0" i="0">
                <a:solidFill>
                  <a:srgbClr val="5A6875"/>
                </a:solidFill>
                <a:latin typeface="Open Sans"/>
              </a:rPr>
              <a:t>Weights packed [K/8][C/8][3][3][8 ic][8 oc]; activations NCHW8c with a 1-pixel zero halo, so no edge branches. Outer loops: output-channel pairs kb, rows oh, pixel groups ow of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Memory layout: NCHW8c with a zero halo</a:t>
            </a:r>
          </a:p>
        </p:txBody>
      </p:sp>
      <p:sp>
        <p:nvSpPr>
          <p:cNvPr id="3" name="TextBox 2"/>
          <p:cNvSpPr txBox="1"/>
          <p:nvPr/>
        </p:nvSpPr>
        <p:spPr>
          <a:xfrm>
            <a:off x="457200" y="960120"/>
            <a:ext cx="5120640" cy="274320"/>
          </a:xfrm>
          <a:prstGeom prst="rect">
            <a:avLst/>
          </a:prstGeom>
          <a:noFill/>
        </p:spPr>
        <p:txBody>
          <a:bodyPr wrap="square" lIns="0" rIns="0" tIns="0" bIns="0" anchor="t">
            <a:spAutoFit/>
          </a:bodyPr>
          <a:lstStyle/>
          <a:p>
            <a:pPr algn="l"/>
            <a:r>
              <a:rPr sz="1150" b="1" i="0">
                <a:solidFill>
                  <a:srgbClr val="1B2630"/>
                </a:solidFill>
                <a:latin typeface="Open Sans"/>
              </a:rPr>
              <a:t>ONNX NCHW: </a:t>
            </a:r>
            <a:r>
              <a:rPr sz="1150" b="0" i="0">
                <a:solidFill>
                  <a:srgbClr val="5A6875"/>
                </a:solidFill>
                <a:latin typeface="Open Sans"/>
              </a:rPr>
              <a:t>channel planes one after another</a:t>
            </a:r>
          </a:p>
        </p:txBody>
      </p:sp>
      <p:sp>
        <p:nvSpPr>
          <p:cNvPr id="4" name="Rectangle 3"/>
          <p:cNvSpPr/>
          <p:nvPr/>
        </p:nvSpPr>
        <p:spPr>
          <a:xfrm>
            <a:off x="457200" y="1280160"/>
            <a:ext cx="283464" cy="329184"/>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0C6A87"/>
                </a:solidFill>
                <a:latin typeface="Open Sans"/>
              </a:rPr>
              <a:t>c0p0</a:t>
            </a:r>
          </a:p>
        </p:txBody>
      </p:sp>
      <p:sp>
        <p:nvSpPr>
          <p:cNvPr id="5" name="Rectangle 4"/>
          <p:cNvSpPr/>
          <p:nvPr/>
        </p:nvSpPr>
        <p:spPr>
          <a:xfrm>
            <a:off x="758952" y="1280160"/>
            <a:ext cx="283464" cy="329184"/>
          </a:xfrm>
          <a:prstGeom prst="rect">
            <a:avLst/>
          </a:prstGeom>
          <a:solidFill>
            <a:srgbClr val="FFFFFF"/>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0C6A87"/>
                </a:solidFill>
                <a:latin typeface="Open Sans"/>
              </a:rPr>
              <a:t>c0p1</a:t>
            </a:r>
          </a:p>
        </p:txBody>
      </p:sp>
      <p:sp>
        <p:nvSpPr>
          <p:cNvPr id="6" name="Rectangle 5"/>
          <p:cNvSpPr/>
          <p:nvPr/>
        </p:nvSpPr>
        <p:spPr>
          <a:xfrm>
            <a:off x="1060704" y="1280160"/>
            <a:ext cx="283464" cy="329184"/>
          </a:xfrm>
          <a:prstGeom prst="rect">
            <a:avLst/>
          </a:prstGeom>
          <a:solidFill>
            <a:srgbClr val="FFFFFF"/>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0C6A87"/>
                </a:solidFill>
                <a:latin typeface="Open Sans"/>
              </a:rPr>
              <a:t>c0p2</a:t>
            </a:r>
          </a:p>
        </p:txBody>
      </p:sp>
      <p:sp>
        <p:nvSpPr>
          <p:cNvPr id="7" name="Rectangle 6"/>
          <p:cNvSpPr/>
          <p:nvPr/>
        </p:nvSpPr>
        <p:spPr>
          <a:xfrm>
            <a:off x="1362456" y="1280160"/>
            <a:ext cx="283464" cy="329184"/>
          </a:xfrm>
          <a:prstGeom prst="rect">
            <a:avLst/>
          </a:prstGeom>
          <a:solidFill>
            <a:srgbClr val="FFFFFF"/>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0C6A87"/>
                </a:solidFill>
                <a:latin typeface="Open Sans"/>
              </a:rPr>
              <a:t>c0p3</a:t>
            </a:r>
          </a:p>
        </p:txBody>
      </p:sp>
      <p:sp>
        <p:nvSpPr>
          <p:cNvPr id="8" name="Rectangle 7"/>
          <p:cNvSpPr/>
          <p:nvPr/>
        </p:nvSpPr>
        <p:spPr>
          <a:xfrm>
            <a:off x="1664208" y="1280160"/>
            <a:ext cx="283464" cy="329184"/>
          </a:xfrm>
          <a:prstGeom prst="rect">
            <a:avLst/>
          </a:prstGeom>
          <a:solidFill>
            <a:srgbClr val="F5E6C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B7731A"/>
                </a:solidFill>
                <a:latin typeface="Open Sans"/>
              </a:rPr>
              <a:t>c1p0</a:t>
            </a:r>
          </a:p>
        </p:txBody>
      </p:sp>
      <p:sp>
        <p:nvSpPr>
          <p:cNvPr id="9" name="Rectangle 8"/>
          <p:cNvSpPr/>
          <p:nvPr/>
        </p:nvSpPr>
        <p:spPr>
          <a:xfrm>
            <a:off x="1965960" y="1280160"/>
            <a:ext cx="283464" cy="329184"/>
          </a:xfrm>
          <a:prstGeom prst="rect">
            <a:avLst/>
          </a:prstGeom>
          <a:solidFill>
            <a:srgbClr val="FFFFF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B7731A"/>
                </a:solidFill>
                <a:latin typeface="Open Sans"/>
              </a:rPr>
              <a:t>c1p1</a:t>
            </a:r>
          </a:p>
        </p:txBody>
      </p:sp>
      <p:sp>
        <p:nvSpPr>
          <p:cNvPr id="10" name="Rectangle 9"/>
          <p:cNvSpPr/>
          <p:nvPr/>
        </p:nvSpPr>
        <p:spPr>
          <a:xfrm>
            <a:off x="2267712" y="1280160"/>
            <a:ext cx="283464" cy="329184"/>
          </a:xfrm>
          <a:prstGeom prst="rect">
            <a:avLst/>
          </a:prstGeom>
          <a:solidFill>
            <a:srgbClr val="FFFFF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B7731A"/>
                </a:solidFill>
                <a:latin typeface="Open Sans"/>
              </a:rPr>
              <a:t>c1p2</a:t>
            </a:r>
          </a:p>
        </p:txBody>
      </p:sp>
      <p:sp>
        <p:nvSpPr>
          <p:cNvPr id="11" name="Rectangle 10"/>
          <p:cNvSpPr/>
          <p:nvPr/>
        </p:nvSpPr>
        <p:spPr>
          <a:xfrm>
            <a:off x="2569464" y="1280160"/>
            <a:ext cx="283464" cy="329184"/>
          </a:xfrm>
          <a:prstGeom prst="rect">
            <a:avLst/>
          </a:prstGeom>
          <a:solidFill>
            <a:srgbClr val="FFFFF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B7731A"/>
                </a:solidFill>
                <a:latin typeface="Open Sans"/>
              </a:rPr>
              <a:t>c1p3</a:t>
            </a:r>
          </a:p>
        </p:txBody>
      </p:sp>
      <p:sp>
        <p:nvSpPr>
          <p:cNvPr id="12" name="Rectangle 11"/>
          <p:cNvSpPr/>
          <p:nvPr/>
        </p:nvSpPr>
        <p:spPr>
          <a:xfrm>
            <a:off x="2871216" y="1280160"/>
            <a:ext cx="283464" cy="329184"/>
          </a:xfrm>
          <a:prstGeom prst="rect">
            <a:avLst/>
          </a:prstGeom>
          <a:solidFill>
            <a:srgbClr val="E4E0F0"/>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5B4B8A"/>
                </a:solidFill>
                <a:latin typeface="Open Sans"/>
              </a:rPr>
              <a:t>c2p0</a:t>
            </a:r>
          </a:p>
        </p:txBody>
      </p:sp>
      <p:sp>
        <p:nvSpPr>
          <p:cNvPr id="13" name="Rectangle 12"/>
          <p:cNvSpPr/>
          <p:nvPr/>
        </p:nvSpPr>
        <p:spPr>
          <a:xfrm>
            <a:off x="3172968" y="1280160"/>
            <a:ext cx="283464" cy="329184"/>
          </a:xfrm>
          <a:prstGeom prst="rect">
            <a:avLst/>
          </a:prstGeom>
          <a:solidFill>
            <a:srgbClr val="FFFFFF"/>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5B4B8A"/>
                </a:solidFill>
                <a:latin typeface="Open Sans"/>
              </a:rPr>
              <a:t>c2p1</a:t>
            </a:r>
          </a:p>
        </p:txBody>
      </p:sp>
      <p:sp>
        <p:nvSpPr>
          <p:cNvPr id="14" name="Rectangle 13"/>
          <p:cNvSpPr/>
          <p:nvPr/>
        </p:nvSpPr>
        <p:spPr>
          <a:xfrm>
            <a:off x="3474720" y="1280160"/>
            <a:ext cx="283464" cy="329184"/>
          </a:xfrm>
          <a:prstGeom prst="rect">
            <a:avLst/>
          </a:prstGeom>
          <a:solidFill>
            <a:srgbClr val="FFFFFF"/>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5B4B8A"/>
                </a:solidFill>
                <a:latin typeface="Open Sans"/>
              </a:rPr>
              <a:t>c2p2</a:t>
            </a:r>
          </a:p>
        </p:txBody>
      </p:sp>
      <p:sp>
        <p:nvSpPr>
          <p:cNvPr id="15" name="Rectangle 14"/>
          <p:cNvSpPr/>
          <p:nvPr/>
        </p:nvSpPr>
        <p:spPr>
          <a:xfrm>
            <a:off x="3776472" y="1280160"/>
            <a:ext cx="283464" cy="329184"/>
          </a:xfrm>
          <a:prstGeom prst="rect">
            <a:avLst/>
          </a:prstGeom>
          <a:solidFill>
            <a:srgbClr val="FFFFFF"/>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5B4B8A"/>
                </a:solidFill>
                <a:latin typeface="Open Sans"/>
              </a:rPr>
              <a:t>c2p3</a:t>
            </a:r>
          </a:p>
        </p:txBody>
      </p:sp>
      <p:sp>
        <p:nvSpPr>
          <p:cNvPr id="16" name="Rectangle 15"/>
          <p:cNvSpPr/>
          <p:nvPr/>
        </p:nvSpPr>
        <p:spPr>
          <a:xfrm>
            <a:off x="4078224" y="1280160"/>
            <a:ext cx="283464" cy="329184"/>
          </a:xfrm>
          <a:prstGeom prst="rect">
            <a:avLst/>
          </a:prstGeom>
          <a:solidFill>
            <a:srgbClr val="DFEEDC"/>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3D7A3A"/>
                </a:solidFill>
                <a:latin typeface="Open Sans"/>
              </a:rPr>
              <a:t>c3p0</a:t>
            </a:r>
          </a:p>
        </p:txBody>
      </p:sp>
      <p:sp>
        <p:nvSpPr>
          <p:cNvPr id="17" name="Rectangle 16"/>
          <p:cNvSpPr/>
          <p:nvPr/>
        </p:nvSpPr>
        <p:spPr>
          <a:xfrm>
            <a:off x="4379976" y="1280160"/>
            <a:ext cx="283464" cy="329184"/>
          </a:xfrm>
          <a:prstGeom prst="rect">
            <a:avLst/>
          </a:prstGeom>
          <a:solidFill>
            <a:srgbClr val="FFFFFF"/>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3D7A3A"/>
                </a:solidFill>
                <a:latin typeface="Open Sans"/>
              </a:rPr>
              <a:t>c3p1</a:t>
            </a:r>
          </a:p>
        </p:txBody>
      </p:sp>
      <p:sp>
        <p:nvSpPr>
          <p:cNvPr id="18" name="Rectangle 17"/>
          <p:cNvSpPr/>
          <p:nvPr/>
        </p:nvSpPr>
        <p:spPr>
          <a:xfrm>
            <a:off x="4681728" y="1280160"/>
            <a:ext cx="283464" cy="329184"/>
          </a:xfrm>
          <a:prstGeom prst="rect">
            <a:avLst/>
          </a:prstGeom>
          <a:solidFill>
            <a:srgbClr val="FFFFFF"/>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3D7A3A"/>
                </a:solidFill>
                <a:latin typeface="Open Sans"/>
              </a:rPr>
              <a:t>c3p2</a:t>
            </a:r>
          </a:p>
        </p:txBody>
      </p:sp>
      <p:sp>
        <p:nvSpPr>
          <p:cNvPr id="19" name="Rectangle 18"/>
          <p:cNvSpPr/>
          <p:nvPr/>
        </p:nvSpPr>
        <p:spPr>
          <a:xfrm>
            <a:off x="4983480" y="1280160"/>
            <a:ext cx="283464" cy="329184"/>
          </a:xfrm>
          <a:prstGeom prst="rect">
            <a:avLst/>
          </a:prstGeom>
          <a:solidFill>
            <a:srgbClr val="FFFFFF"/>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3D7A3A"/>
                </a:solidFill>
                <a:latin typeface="Open Sans"/>
              </a:rPr>
              <a:t>c3p3</a:t>
            </a:r>
          </a:p>
        </p:txBody>
      </p:sp>
      <p:sp>
        <p:nvSpPr>
          <p:cNvPr id="20" name="TextBox 19"/>
          <p:cNvSpPr txBox="1"/>
          <p:nvPr/>
        </p:nvSpPr>
        <p:spPr>
          <a:xfrm>
            <a:off x="457200" y="1645920"/>
            <a:ext cx="5120640" cy="274320"/>
          </a:xfrm>
          <a:prstGeom prst="rect">
            <a:avLst/>
          </a:prstGeom>
          <a:noFill/>
        </p:spPr>
        <p:txBody>
          <a:bodyPr wrap="square" lIns="0" rIns="0" tIns="0" bIns="0" anchor="t">
            <a:spAutoFit/>
          </a:bodyPr>
          <a:lstStyle/>
          <a:p>
            <a:pPr algn="l"/>
            <a:r>
              <a:rPr sz="1000" b="0" i="0">
                <a:solidFill>
                  <a:srgbClr val="BB0027"/>
                </a:solidFill>
                <a:latin typeface="Open Sans"/>
              </a:rPr>
              <a:t>pixel p0's channels are H×W floats apart: 8 loads to fill one register</a:t>
            </a:r>
          </a:p>
        </p:txBody>
      </p:sp>
      <p:sp>
        <p:nvSpPr>
          <p:cNvPr id="21" name="TextBox 20"/>
          <p:cNvSpPr txBox="1"/>
          <p:nvPr/>
        </p:nvSpPr>
        <p:spPr>
          <a:xfrm>
            <a:off x="457200" y="2011680"/>
            <a:ext cx="5120640" cy="274320"/>
          </a:xfrm>
          <a:prstGeom prst="rect">
            <a:avLst/>
          </a:prstGeom>
          <a:noFill/>
        </p:spPr>
        <p:txBody>
          <a:bodyPr wrap="square" lIns="0" rIns="0" tIns="0" bIns="0" anchor="t">
            <a:spAutoFit/>
          </a:bodyPr>
          <a:lstStyle/>
          <a:p>
            <a:pPr algn="l"/>
            <a:r>
              <a:rPr sz="1150" b="1" i="0">
                <a:solidFill>
                  <a:srgbClr val="1B2630"/>
                </a:solidFill>
                <a:latin typeface="Open Sans"/>
              </a:rPr>
              <a:t>NCHW8c: </a:t>
            </a:r>
            <a:r>
              <a:rPr sz="1150" b="0" i="0">
                <a:solidFill>
                  <a:srgbClr val="5A6875"/>
                </a:solidFill>
                <a:latin typeface="Open Sans"/>
              </a:rPr>
              <a:t>[N][C/8][H+2][W+2][8], 8 channels of a pixel together</a:t>
            </a:r>
          </a:p>
        </p:txBody>
      </p:sp>
      <p:sp>
        <p:nvSpPr>
          <p:cNvPr id="22" name="Rectangle 21"/>
          <p:cNvSpPr/>
          <p:nvPr/>
        </p:nvSpPr>
        <p:spPr>
          <a:xfrm>
            <a:off x="457200" y="2331720"/>
            <a:ext cx="283464" cy="329184"/>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0C6A87"/>
                </a:solidFill>
                <a:latin typeface="Open Sans"/>
              </a:rPr>
              <a:t>p0c0</a:t>
            </a:r>
          </a:p>
        </p:txBody>
      </p:sp>
      <p:sp>
        <p:nvSpPr>
          <p:cNvPr id="23" name="Rectangle 22"/>
          <p:cNvSpPr/>
          <p:nvPr/>
        </p:nvSpPr>
        <p:spPr>
          <a:xfrm>
            <a:off x="758952" y="2331720"/>
            <a:ext cx="283464" cy="329184"/>
          </a:xfrm>
          <a:prstGeom prst="rect">
            <a:avLst/>
          </a:prstGeom>
          <a:solidFill>
            <a:srgbClr val="F5E6C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B7731A"/>
                </a:solidFill>
                <a:latin typeface="Open Sans"/>
              </a:rPr>
              <a:t>p0c1</a:t>
            </a:r>
          </a:p>
        </p:txBody>
      </p:sp>
      <p:sp>
        <p:nvSpPr>
          <p:cNvPr id="24" name="Rectangle 23"/>
          <p:cNvSpPr/>
          <p:nvPr/>
        </p:nvSpPr>
        <p:spPr>
          <a:xfrm>
            <a:off x="1060704" y="2331720"/>
            <a:ext cx="283464" cy="329184"/>
          </a:xfrm>
          <a:prstGeom prst="rect">
            <a:avLst/>
          </a:prstGeom>
          <a:solidFill>
            <a:srgbClr val="E4E0F0"/>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5B4B8A"/>
                </a:solidFill>
                <a:latin typeface="Open Sans"/>
              </a:rPr>
              <a:t>p0c2</a:t>
            </a:r>
          </a:p>
        </p:txBody>
      </p:sp>
      <p:sp>
        <p:nvSpPr>
          <p:cNvPr id="25" name="Rectangle 24"/>
          <p:cNvSpPr/>
          <p:nvPr/>
        </p:nvSpPr>
        <p:spPr>
          <a:xfrm>
            <a:off x="1362456" y="2331720"/>
            <a:ext cx="283464" cy="329184"/>
          </a:xfrm>
          <a:prstGeom prst="rect">
            <a:avLst/>
          </a:prstGeom>
          <a:solidFill>
            <a:srgbClr val="DFEEDC"/>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3D7A3A"/>
                </a:solidFill>
                <a:latin typeface="Open Sans"/>
              </a:rPr>
              <a:t>p0c3</a:t>
            </a:r>
          </a:p>
        </p:txBody>
      </p:sp>
      <p:sp>
        <p:nvSpPr>
          <p:cNvPr id="26" name="Rectangle 25"/>
          <p:cNvSpPr/>
          <p:nvPr/>
        </p:nvSpPr>
        <p:spPr>
          <a:xfrm>
            <a:off x="1664208" y="2331720"/>
            <a:ext cx="283464" cy="329184"/>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0C6A87"/>
                </a:solidFill>
                <a:latin typeface="Open Sans"/>
              </a:rPr>
              <a:t>p0c4</a:t>
            </a:r>
          </a:p>
        </p:txBody>
      </p:sp>
      <p:sp>
        <p:nvSpPr>
          <p:cNvPr id="27" name="Rectangle 26"/>
          <p:cNvSpPr/>
          <p:nvPr/>
        </p:nvSpPr>
        <p:spPr>
          <a:xfrm>
            <a:off x="1965960" y="2331720"/>
            <a:ext cx="283464" cy="329184"/>
          </a:xfrm>
          <a:prstGeom prst="rect">
            <a:avLst/>
          </a:prstGeom>
          <a:solidFill>
            <a:srgbClr val="F5E6C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B7731A"/>
                </a:solidFill>
                <a:latin typeface="Open Sans"/>
              </a:rPr>
              <a:t>p0c5</a:t>
            </a:r>
          </a:p>
        </p:txBody>
      </p:sp>
      <p:sp>
        <p:nvSpPr>
          <p:cNvPr id="28" name="Rectangle 27"/>
          <p:cNvSpPr/>
          <p:nvPr/>
        </p:nvSpPr>
        <p:spPr>
          <a:xfrm>
            <a:off x="2267712" y="2331720"/>
            <a:ext cx="283464" cy="329184"/>
          </a:xfrm>
          <a:prstGeom prst="rect">
            <a:avLst/>
          </a:prstGeom>
          <a:solidFill>
            <a:srgbClr val="E4E0F0"/>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5B4B8A"/>
                </a:solidFill>
                <a:latin typeface="Open Sans"/>
              </a:rPr>
              <a:t>p0c6</a:t>
            </a:r>
          </a:p>
        </p:txBody>
      </p:sp>
      <p:sp>
        <p:nvSpPr>
          <p:cNvPr id="29" name="Rectangle 28"/>
          <p:cNvSpPr/>
          <p:nvPr/>
        </p:nvSpPr>
        <p:spPr>
          <a:xfrm>
            <a:off x="2569464" y="2331720"/>
            <a:ext cx="283464" cy="329184"/>
          </a:xfrm>
          <a:prstGeom prst="rect">
            <a:avLst/>
          </a:prstGeom>
          <a:solidFill>
            <a:srgbClr val="DFEEDC"/>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3D7A3A"/>
                </a:solidFill>
                <a:latin typeface="Open Sans"/>
              </a:rPr>
              <a:t>p0c7</a:t>
            </a:r>
          </a:p>
        </p:txBody>
      </p:sp>
      <p:sp>
        <p:nvSpPr>
          <p:cNvPr id="30" name="Rectangle 29"/>
          <p:cNvSpPr/>
          <p:nvPr/>
        </p:nvSpPr>
        <p:spPr>
          <a:xfrm>
            <a:off x="2871216" y="2331720"/>
            <a:ext cx="283464" cy="329184"/>
          </a:xfrm>
          <a:prstGeom prst="rect">
            <a:avLst/>
          </a:prstGeom>
          <a:solidFill>
            <a:srgbClr val="FFFFFF"/>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0C6A87"/>
                </a:solidFill>
                <a:latin typeface="Open Sans"/>
              </a:rPr>
              <a:t>p1c0</a:t>
            </a:r>
          </a:p>
        </p:txBody>
      </p:sp>
      <p:sp>
        <p:nvSpPr>
          <p:cNvPr id="31" name="Rectangle 30"/>
          <p:cNvSpPr/>
          <p:nvPr/>
        </p:nvSpPr>
        <p:spPr>
          <a:xfrm>
            <a:off x="3172968" y="2331720"/>
            <a:ext cx="283464" cy="329184"/>
          </a:xfrm>
          <a:prstGeom prst="rect">
            <a:avLst/>
          </a:prstGeom>
          <a:solidFill>
            <a:srgbClr val="FFFFF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B7731A"/>
                </a:solidFill>
                <a:latin typeface="Open Sans"/>
              </a:rPr>
              <a:t>p1c1</a:t>
            </a:r>
          </a:p>
        </p:txBody>
      </p:sp>
      <p:sp>
        <p:nvSpPr>
          <p:cNvPr id="32" name="Rectangle 31"/>
          <p:cNvSpPr/>
          <p:nvPr/>
        </p:nvSpPr>
        <p:spPr>
          <a:xfrm>
            <a:off x="3474720" y="2331720"/>
            <a:ext cx="283464" cy="329184"/>
          </a:xfrm>
          <a:prstGeom prst="rect">
            <a:avLst/>
          </a:prstGeom>
          <a:solidFill>
            <a:srgbClr val="FFFFFF"/>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5B4B8A"/>
                </a:solidFill>
                <a:latin typeface="Open Sans"/>
              </a:rPr>
              <a:t>p1c2</a:t>
            </a:r>
          </a:p>
        </p:txBody>
      </p:sp>
      <p:sp>
        <p:nvSpPr>
          <p:cNvPr id="33" name="Rectangle 32"/>
          <p:cNvSpPr/>
          <p:nvPr/>
        </p:nvSpPr>
        <p:spPr>
          <a:xfrm>
            <a:off x="3776472" y="2331720"/>
            <a:ext cx="283464" cy="329184"/>
          </a:xfrm>
          <a:prstGeom prst="rect">
            <a:avLst/>
          </a:prstGeom>
          <a:solidFill>
            <a:srgbClr val="FFFFFF"/>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3D7A3A"/>
                </a:solidFill>
                <a:latin typeface="Open Sans"/>
              </a:rPr>
              <a:t>p1c3</a:t>
            </a:r>
          </a:p>
        </p:txBody>
      </p:sp>
      <p:sp>
        <p:nvSpPr>
          <p:cNvPr id="34" name="Rectangle 33"/>
          <p:cNvSpPr/>
          <p:nvPr/>
        </p:nvSpPr>
        <p:spPr>
          <a:xfrm>
            <a:off x="4078224" y="2331720"/>
            <a:ext cx="283464" cy="329184"/>
          </a:xfrm>
          <a:prstGeom prst="rect">
            <a:avLst/>
          </a:prstGeom>
          <a:solidFill>
            <a:srgbClr val="FFFFFF"/>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0C6A87"/>
                </a:solidFill>
                <a:latin typeface="Open Sans"/>
              </a:rPr>
              <a:t>p1c4</a:t>
            </a:r>
          </a:p>
        </p:txBody>
      </p:sp>
      <p:sp>
        <p:nvSpPr>
          <p:cNvPr id="35" name="Rectangle 34"/>
          <p:cNvSpPr/>
          <p:nvPr/>
        </p:nvSpPr>
        <p:spPr>
          <a:xfrm>
            <a:off x="4379976" y="2331720"/>
            <a:ext cx="283464" cy="329184"/>
          </a:xfrm>
          <a:prstGeom prst="rect">
            <a:avLst/>
          </a:prstGeom>
          <a:solidFill>
            <a:srgbClr val="FFFFFF"/>
          </a:solidFill>
          <a:ln w="952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B7731A"/>
                </a:solidFill>
                <a:latin typeface="Open Sans"/>
              </a:rPr>
              <a:t>p1c5</a:t>
            </a:r>
          </a:p>
        </p:txBody>
      </p:sp>
      <p:sp>
        <p:nvSpPr>
          <p:cNvPr id="36" name="Rectangle 35"/>
          <p:cNvSpPr/>
          <p:nvPr/>
        </p:nvSpPr>
        <p:spPr>
          <a:xfrm>
            <a:off x="4681728" y="2331720"/>
            <a:ext cx="283464" cy="329184"/>
          </a:xfrm>
          <a:prstGeom prst="rect">
            <a:avLst/>
          </a:prstGeom>
          <a:solidFill>
            <a:srgbClr val="FFFFFF"/>
          </a:solidFill>
          <a:ln w="95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5B4B8A"/>
                </a:solidFill>
                <a:latin typeface="Open Sans"/>
              </a:rPr>
              <a:t>p1c6</a:t>
            </a:r>
          </a:p>
        </p:txBody>
      </p:sp>
      <p:sp>
        <p:nvSpPr>
          <p:cNvPr id="37" name="Rectangle 36"/>
          <p:cNvSpPr/>
          <p:nvPr/>
        </p:nvSpPr>
        <p:spPr>
          <a:xfrm>
            <a:off x="4983480" y="2331720"/>
            <a:ext cx="283464" cy="329184"/>
          </a:xfrm>
          <a:prstGeom prst="rect">
            <a:avLst/>
          </a:prstGeom>
          <a:solidFill>
            <a:srgbClr val="FFFFFF"/>
          </a:solidFill>
          <a:ln w="9525">
            <a:solidFill>
              <a:srgbClr val="3D7A3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a:solidFill>
                  <a:srgbClr val="3D7A3A"/>
                </a:solidFill>
                <a:latin typeface="Open Sans"/>
              </a:rPr>
              <a:t>p1c7</a:t>
            </a:r>
          </a:p>
        </p:txBody>
      </p:sp>
      <p:sp>
        <p:nvSpPr>
          <p:cNvPr id="38" name="Rectangle 37"/>
          <p:cNvSpPr/>
          <p:nvPr/>
        </p:nvSpPr>
        <p:spPr>
          <a:xfrm>
            <a:off x="438912" y="2304288"/>
            <a:ext cx="2414016" cy="384048"/>
          </a:xfrm>
          <a:prstGeom prst="rect">
            <a:avLst/>
          </a:prstGeom>
          <a:noFill/>
          <a:ln w="25400">
            <a:solidFill>
              <a:srgbClr val="BB00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2697480"/>
            <a:ext cx="5120640" cy="274320"/>
          </a:xfrm>
          <a:prstGeom prst="rect">
            <a:avLst/>
          </a:prstGeom>
          <a:noFill/>
        </p:spPr>
        <p:txBody>
          <a:bodyPr wrap="square" lIns="0" rIns="0" tIns="0" bIns="0" anchor="t">
            <a:spAutoFit/>
          </a:bodyPr>
          <a:lstStyle/>
          <a:p>
            <a:pPr algn="l"/>
            <a:r>
              <a:rPr sz="1000" b="0" i="0">
                <a:solidFill>
                  <a:srgbClr val="BB0027"/>
                </a:solidFill>
                <a:latin typeface="Open Sans"/>
              </a:rPr>
              <a:t>8 contiguous floats = 32 bytes = one _mm256_load_ps = one YMM register</a:t>
            </a:r>
          </a:p>
        </p:txBody>
      </p:sp>
      <p:sp>
        <p:nvSpPr>
          <p:cNvPr id="40" name="w-card"/>
          <p:cNvSpPr/>
          <p:nvPr/>
        </p:nvSpPr>
        <p:spPr>
          <a:xfrm>
            <a:off x="457200" y="3108960"/>
            <a:ext cx="4846320" cy="1051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3172968"/>
            <a:ext cx="4663440" cy="256032"/>
          </a:xfrm>
          <a:prstGeom prst="rect">
            <a:avLst/>
          </a:prstGeom>
          <a:noFill/>
        </p:spPr>
        <p:txBody>
          <a:bodyPr wrap="square" lIns="0" rIns="0" tIns="0" bIns="0" anchor="t">
            <a:spAutoFit/>
          </a:bodyPr>
          <a:lstStyle/>
          <a:p>
            <a:pPr algn="l"/>
            <a:r>
              <a:rPr sz="1150" b="1" i="0">
                <a:solidFill>
                  <a:srgbClr val="1B2630"/>
                </a:solidFill>
                <a:latin typeface="Open Sans"/>
              </a:rPr>
              <a:t>Weights, packed once offline: [K/8][C/8][3][3][8 in][8 out]</a:t>
            </a:r>
          </a:p>
        </p:txBody>
      </p:sp>
      <p:sp>
        <p:nvSpPr>
          <p:cNvPr id="42" name="TextBox 41"/>
          <p:cNvSpPr txBox="1"/>
          <p:nvPr/>
        </p:nvSpPr>
        <p:spPr>
          <a:xfrm>
            <a:off x="566928" y="3447288"/>
            <a:ext cx="4663440" cy="685800"/>
          </a:xfrm>
          <a:prstGeom prst="rect">
            <a:avLst/>
          </a:prstGeom>
          <a:noFill/>
        </p:spPr>
        <p:txBody>
          <a:bodyPr wrap="square" lIns="0" rIns="0" tIns="0" bIns="0" anchor="t">
            <a:spAutoFit/>
          </a:bodyPr>
          <a:lstStyle/>
          <a:p>
            <a:pPr algn="l"/>
            <a:r>
              <a:rPr sz="950" b="0" i="0">
                <a:solidFill>
                  <a:srgbClr val="5A6875"/>
                </a:solidFill>
                <a:latin typeface="Open Sans"/>
              </a:rPr>
              <a:t>For one input channel and one tap, the 8 output-channel weights are contiguous: one aligned load is w0 or w1. The loop walks the array front to back. BatchNorm is already folded into weights and bias.</a:t>
            </a:r>
          </a:p>
        </p:txBody>
      </p:sp>
      <p:sp>
        <p:nvSpPr>
          <p:cNvPr id="43" name="TextBox 42"/>
          <p:cNvSpPr txBox="1"/>
          <p:nvPr/>
        </p:nvSpPr>
        <p:spPr>
          <a:xfrm>
            <a:off x="5623560" y="960120"/>
            <a:ext cx="3108960" cy="274320"/>
          </a:xfrm>
          <a:prstGeom prst="rect">
            <a:avLst/>
          </a:prstGeom>
          <a:noFill/>
        </p:spPr>
        <p:txBody>
          <a:bodyPr wrap="square" lIns="0" rIns="0" tIns="0" bIns="0" anchor="t">
            <a:spAutoFit/>
          </a:bodyPr>
          <a:lstStyle/>
          <a:p>
            <a:pPr algn="l"/>
            <a:r>
              <a:rPr sz="1150" b="1" i="0">
                <a:solidFill>
                  <a:srgbClr val="1B2630"/>
                </a:solidFill>
                <a:latin typeface="Open Sans"/>
              </a:rPr>
              <a:t>Zero halo: </a:t>
            </a:r>
            <a:r>
              <a:rPr sz="1150" b="0" i="0">
                <a:solidFill>
                  <a:srgbClr val="5A6875"/>
                </a:solidFill>
                <a:latin typeface="Open Sans"/>
              </a:rPr>
              <a:t>padding stored</a:t>
            </a:r>
          </a:p>
        </p:txBody>
      </p:sp>
      <p:sp>
        <p:nvSpPr>
          <p:cNvPr id="44" name="Rectangle 43"/>
          <p:cNvSpPr/>
          <p:nvPr/>
        </p:nvSpPr>
        <p:spPr>
          <a:xfrm>
            <a:off x="5715000" y="1280160"/>
            <a:ext cx="301751" cy="301751"/>
          </a:xfrm>
          <a:prstGeom prst="rect">
            <a:avLst/>
          </a:prstGeom>
          <a:solidFill>
            <a:srgbClr val="E6EBEE"/>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0</a:t>
            </a:r>
          </a:p>
        </p:txBody>
      </p:sp>
      <p:sp>
        <p:nvSpPr>
          <p:cNvPr id="45" name="Rectangle 44"/>
          <p:cNvSpPr/>
          <p:nvPr/>
        </p:nvSpPr>
        <p:spPr>
          <a:xfrm>
            <a:off x="6044184" y="1280160"/>
            <a:ext cx="301751" cy="301751"/>
          </a:xfrm>
          <a:prstGeom prst="rect">
            <a:avLst/>
          </a:prstGeom>
          <a:solidFill>
            <a:srgbClr val="E6EBEE"/>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0</a:t>
            </a:r>
          </a:p>
        </p:txBody>
      </p:sp>
      <p:sp>
        <p:nvSpPr>
          <p:cNvPr id="46" name="Rectangle 45"/>
          <p:cNvSpPr/>
          <p:nvPr/>
        </p:nvSpPr>
        <p:spPr>
          <a:xfrm>
            <a:off x="6373368" y="1280160"/>
            <a:ext cx="301751" cy="301751"/>
          </a:xfrm>
          <a:prstGeom prst="rect">
            <a:avLst/>
          </a:prstGeom>
          <a:solidFill>
            <a:srgbClr val="E6EBEE"/>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0</a:t>
            </a:r>
          </a:p>
        </p:txBody>
      </p:sp>
      <p:sp>
        <p:nvSpPr>
          <p:cNvPr id="47" name="Rectangle 46"/>
          <p:cNvSpPr/>
          <p:nvPr/>
        </p:nvSpPr>
        <p:spPr>
          <a:xfrm>
            <a:off x="6702552" y="1280160"/>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48" name="Rectangle 47"/>
          <p:cNvSpPr/>
          <p:nvPr/>
        </p:nvSpPr>
        <p:spPr>
          <a:xfrm>
            <a:off x="7031736" y="1280160"/>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49" name="Rectangle 48"/>
          <p:cNvSpPr/>
          <p:nvPr/>
        </p:nvSpPr>
        <p:spPr>
          <a:xfrm>
            <a:off x="7360920" y="1280160"/>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50" name="Rectangle 49"/>
          <p:cNvSpPr/>
          <p:nvPr/>
        </p:nvSpPr>
        <p:spPr>
          <a:xfrm>
            <a:off x="7690104" y="1280160"/>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51" name="Rectangle 50"/>
          <p:cNvSpPr/>
          <p:nvPr/>
        </p:nvSpPr>
        <p:spPr>
          <a:xfrm>
            <a:off x="8019288" y="1280160"/>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52" name="Rectangle 51"/>
          <p:cNvSpPr/>
          <p:nvPr/>
        </p:nvSpPr>
        <p:spPr>
          <a:xfrm>
            <a:off x="5715000" y="1609343"/>
            <a:ext cx="301751" cy="301751"/>
          </a:xfrm>
          <a:prstGeom prst="rect">
            <a:avLst/>
          </a:prstGeom>
          <a:solidFill>
            <a:srgbClr val="E6EBEE"/>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0</a:t>
            </a:r>
          </a:p>
        </p:txBody>
      </p:sp>
      <p:sp>
        <p:nvSpPr>
          <p:cNvPr id="53" name="Rectangle 52"/>
          <p:cNvSpPr/>
          <p:nvPr/>
        </p:nvSpPr>
        <p:spPr>
          <a:xfrm>
            <a:off x="6044184" y="1609343"/>
            <a:ext cx="301751" cy="301751"/>
          </a:xfrm>
          <a:prstGeom prst="rect">
            <a:avLst/>
          </a:prstGeom>
          <a:solidFill>
            <a:srgbClr val="D7EAF0"/>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
            </a:r>
          </a:p>
        </p:txBody>
      </p:sp>
      <p:sp>
        <p:nvSpPr>
          <p:cNvPr id="54" name="Rectangle 53"/>
          <p:cNvSpPr/>
          <p:nvPr/>
        </p:nvSpPr>
        <p:spPr>
          <a:xfrm>
            <a:off x="6373368" y="1609343"/>
            <a:ext cx="301751" cy="301751"/>
          </a:xfrm>
          <a:prstGeom prst="rect">
            <a:avLst/>
          </a:prstGeom>
          <a:solidFill>
            <a:srgbClr val="D7EAF0"/>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
            </a:r>
          </a:p>
        </p:txBody>
      </p:sp>
      <p:sp>
        <p:nvSpPr>
          <p:cNvPr id="55" name="Rectangle 54"/>
          <p:cNvSpPr/>
          <p:nvPr/>
        </p:nvSpPr>
        <p:spPr>
          <a:xfrm>
            <a:off x="6702552" y="1609343"/>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56" name="Rectangle 55"/>
          <p:cNvSpPr/>
          <p:nvPr/>
        </p:nvSpPr>
        <p:spPr>
          <a:xfrm>
            <a:off x="7031736" y="1609343"/>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57" name="Rectangle 56"/>
          <p:cNvSpPr/>
          <p:nvPr/>
        </p:nvSpPr>
        <p:spPr>
          <a:xfrm>
            <a:off x="7360920" y="1609343"/>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58" name="Rectangle 57"/>
          <p:cNvSpPr/>
          <p:nvPr/>
        </p:nvSpPr>
        <p:spPr>
          <a:xfrm>
            <a:off x="7690104" y="1609343"/>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59" name="Rectangle 58"/>
          <p:cNvSpPr/>
          <p:nvPr/>
        </p:nvSpPr>
        <p:spPr>
          <a:xfrm>
            <a:off x="8019288" y="1609343"/>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60" name="Rectangle 59"/>
          <p:cNvSpPr/>
          <p:nvPr/>
        </p:nvSpPr>
        <p:spPr>
          <a:xfrm>
            <a:off x="5715000" y="1938528"/>
            <a:ext cx="301751" cy="301751"/>
          </a:xfrm>
          <a:prstGeom prst="rect">
            <a:avLst/>
          </a:prstGeom>
          <a:solidFill>
            <a:srgbClr val="E6EBEE"/>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0</a:t>
            </a:r>
          </a:p>
        </p:txBody>
      </p:sp>
      <p:sp>
        <p:nvSpPr>
          <p:cNvPr id="61" name="Rectangle 60"/>
          <p:cNvSpPr/>
          <p:nvPr/>
        </p:nvSpPr>
        <p:spPr>
          <a:xfrm>
            <a:off x="6044184" y="1938528"/>
            <a:ext cx="301751" cy="301751"/>
          </a:xfrm>
          <a:prstGeom prst="rect">
            <a:avLst/>
          </a:prstGeom>
          <a:solidFill>
            <a:srgbClr val="D7EAF0"/>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
            </a:r>
          </a:p>
        </p:txBody>
      </p:sp>
      <p:sp>
        <p:nvSpPr>
          <p:cNvPr id="62" name="Rectangle 61"/>
          <p:cNvSpPr/>
          <p:nvPr/>
        </p:nvSpPr>
        <p:spPr>
          <a:xfrm>
            <a:off x="6373368" y="1938528"/>
            <a:ext cx="301751" cy="301751"/>
          </a:xfrm>
          <a:prstGeom prst="rect">
            <a:avLst/>
          </a:prstGeom>
          <a:solidFill>
            <a:srgbClr val="D7EAF0"/>
          </a:solidFill>
          <a:ln w="25400">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B7731A"/>
                </a:solidFill>
                <a:latin typeface="Open Sans"/>
              </a:rPr>
              <a:t/>
            </a:r>
          </a:p>
        </p:txBody>
      </p:sp>
      <p:sp>
        <p:nvSpPr>
          <p:cNvPr id="63" name="Rectangle 62"/>
          <p:cNvSpPr/>
          <p:nvPr/>
        </p:nvSpPr>
        <p:spPr>
          <a:xfrm>
            <a:off x="6702552" y="1938528"/>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64" name="Rectangle 63"/>
          <p:cNvSpPr/>
          <p:nvPr/>
        </p:nvSpPr>
        <p:spPr>
          <a:xfrm>
            <a:off x="7031736" y="1938528"/>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65" name="Rectangle 64"/>
          <p:cNvSpPr/>
          <p:nvPr/>
        </p:nvSpPr>
        <p:spPr>
          <a:xfrm>
            <a:off x="7360920" y="1938528"/>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66" name="Rectangle 65"/>
          <p:cNvSpPr/>
          <p:nvPr/>
        </p:nvSpPr>
        <p:spPr>
          <a:xfrm>
            <a:off x="7690104" y="1938528"/>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67" name="Rectangle 66"/>
          <p:cNvSpPr/>
          <p:nvPr/>
        </p:nvSpPr>
        <p:spPr>
          <a:xfrm>
            <a:off x="8019288" y="1938528"/>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68" name="Rectangle 67"/>
          <p:cNvSpPr/>
          <p:nvPr/>
        </p:nvSpPr>
        <p:spPr>
          <a:xfrm>
            <a:off x="5715000" y="2267712"/>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69" name="Rectangle 68"/>
          <p:cNvSpPr/>
          <p:nvPr/>
        </p:nvSpPr>
        <p:spPr>
          <a:xfrm>
            <a:off x="6044184" y="2267712"/>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0" name="Rectangle 69"/>
          <p:cNvSpPr/>
          <p:nvPr/>
        </p:nvSpPr>
        <p:spPr>
          <a:xfrm>
            <a:off x="6373368" y="2267712"/>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1" name="Rectangle 70"/>
          <p:cNvSpPr/>
          <p:nvPr/>
        </p:nvSpPr>
        <p:spPr>
          <a:xfrm>
            <a:off x="6702552" y="2267712"/>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2" name="Rectangle 71"/>
          <p:cNvSpPr/>
          <p:nvPr/>
        </p:nvSpPr>
        <p:spPr>
          <a:xfrm>
            <a:off x="7031736" y="2267712"/>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3" name="Rectangle 72"/>
          <p:cNvSpPr/>
          <p:nvPr/>
        </p:nvSpPr>
        <p:spPr>
          <a:xfrm>
            <a:off x="7360920" y="2267712"/>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4" name="Rectangle 73"/>
          <p:cNvSpPr/>
          <p:nvPr/>
        </p:nvSpPr>
        <p:spPr>
          <a:xfrm>
            <a:off x="7690104" y="2267712"/>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5" name="Rectangle 74"/>
          <p:cNvSpPr/>
          <p:nvPr/>
        </p:nvSpPr>
        <p:spPr>
          <a:xfrm>
            <a:off x="8019288" y="2267712"/>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76" name="Rectangle 75"/>
          <p:cNvSpPr/>
          <p:nvPr/>
        </p:nvSpPr>
        <p:spPr>
          <a:xfrm>
            <a:off x="5715000" y="2596896"/>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77" name="Rectangle 76"/>
          <p:cNvSpPr/>
          <p:nvPr/>
        </p:nvSpPr>
        <p:spPr>
          <a:xfrm>
            <a:off x="6044184" y="2596896"/>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8" name="Rectangle 77"/>
          <p:cNvSpPr/>
          <p:nvPr/>
        </p:nvSpPr>
        <p:spPr>
          <a:xfrm>
            <a:off x="6373368" y="2596896"/>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79" name="Rectangle 78"/>
          <p:cNvSpPr/>
          <p:nvPr/>
        </p:nvSpPr>
        <p:spPr>
          <a:xfrm>
            <a:off x="6702552" y="2596896"/>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80" name="Rectangle 79"/>
          <p:cNvSpPr/>
          <p:nvPr/>
        </p:nvSpPr>
        <p:spPr>
          <a:xfrm>
            <a:off x="7031736" y="2596896"/>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81" name="Rectangle 80"/>
          <p:cNvSpPr/>
          <p:nvPr/>
        </p:nvSpPr>
        <p:spPr>
          <a:xfrm>
            <a:off x="7360920" y="2596896"/>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82" name="Rectangle 81"/>
          <p:cNvSpPr/>
          <p:nvPr/>
        </p:nvSpPr>
        <p:spPr>
          <a:xfrm>
            <a:off x="7690104" y="2596896"/>
            <a:ext cx="301751" cy="301751"/>
          </a:xfrm>
          <a:prstGeom prst="rect">
            <a:avLst/>
          </a:prstGeom>
          <a:solidFill>
            <a:srgbClr val="D7EAF0"/>
          </a:solidFill>
          <a:ln w="952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0C6A87"/>
                </a:solidFill>
                <a:latin typeface="Open Sans"/>
              </a:rPr>
              <a:t/>
            </a:r>
          </a:p>
        </p:txBody>
      </p:sp>
      <p:sp>
        <p:nvSpPr>
          <p:cNvPr id="83" name="Rectangle 82"/>
          <p:cNvSpPr/>
          <p:nvPr/>
        </p:nvSpPr>
        <p:spPr>
          <a:xfrm>
            <a:off x="8019288" y="2596896"/>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84" name="Rectangle 83"/>
          <p:cNvSpPr/>
          <p:nvPr/>
        </p:nvSpPr>
        <p:spPr>
          <a:xfrm>
            <a:off x="5715000"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85" name="Rectangle 84"/>
          <p:cNvSpPr/>
          <p:nvPr/>
        </p:nvSpPr>
        <p:spPr>
          <a:xfrm>
            <a:off x="6044184"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86" name="Rectangle 85"/>
          <p:cNvSpPr/>
          <p:nvPr/>
        </p:nvSpPr>
        <p:spPr>
          <a:xfrm>
            <a:off x="6373368"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87" name="Rectangle 86"/>
          <p:cNvSpPr/>
          <p:nvPr/>
        </p:nvSpPr>
        <p:spPr>
          <a:xfrm>
            <a:off x="6702552"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88" name="Rectangle 87"/>
          <p:cNvSpPr/>
          <p:nvPr/>
        </p:nvSpPr>
        <p:spPr>
          <a:xfrm>
            <a:off x="7031736"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89" name="Rectangle 88"/>
          <p:cNvSpPr/>
          <p:nvPr/>
        </p:nvSpPr>
        <p:spPr>
          <a:xfrm>
            <a:off x="7360920"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90" name="Rectangle 89"/>
          <p:cNvSpPr/>
          <p:nvPr/>
        </p:nvSpPr>
        <p:spPr>
          <a:xfrm>
            <a:off x="7690104"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91" name="Rectangle 90"/>
          <p:cNvSpPr/>
          <p:nvPr/>
        </p:nvSpPr>
        <p:spPr>
          <a:xfrm>
            <a:off x="8019288" y="2926079"/>
            <a:ext cx="301751" cy="301751"/>
          </a:xfrm>
          <a:prstGeom prst="rect">
            <a:avLst/>
          </a:prstGeom>
          <a:solidFill>
            <a:srgbClr val="E6EBEE"/>
          </a:solidFill>
          <a:ln w="9525">
            <a:solidFill>
              <a:srgbClr val="6B778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0">
                <a:solidFill>
                  <a:srgbClr val="6B7782"/>
                </a:solidFill>
                <a:latin typeface="Open Sans"/>
              </a:rPr>
              <a:t>0</a:t>
            </a:r>
          </a:p>
        </p:txBody>
      </p:sp>
      <p:sp>
        <p:nvSpPr>
          <p:cNvPr id="92" name="TextBox 91"/>
          <p:cNvSpPr txBox="1"/>
          <p:nvPr/>
        </p:nvSpPr>
        <p:spPr>
          <a:xfrm>
            <a:off x="5623560" y="3337560"/>
            <a:ext cx="3108960" cy="822960"/>
          </a:xfrm>
          <a:prstGeom prst="rect">
            <a:avLst/>
          </a:prstGeom>
          <a:noFill/>
        </p:spPr>
        <p:txBody>
          <a:bodyPr wrap="square" lIns="0" rIns="0" tIns="0" bIns="0" anchor="t">
            <a:spAutoFit/>
          </a:bodyPr>
          <a:lstStyle/>
          <a:p>
            <a:pPr algn="l"/>
            <a:r>
              <a:rPr sz="950" b="1" i="0">
                <a:solidFill>
                  <a:srgbClr val="6B7782"/>
                </a:solidFill>
                <a:latin typeface="Open Sans"/>
              </a:rPr>
              <a:t>grey: </a:t>
            </a:r>
            <a:r>
              <a:rPr sz="950" b="0" i="0">
                <a:solidFill>
                  <a:srgbClr val="5A6875"/>
                </a:solidFill>
                <a:latin typeface="Open Sans"/>
              </a:rPr>
              <a:t>stored zeros, 1 pixel wide</a:t>
            </a:r>
          </a:p>
          <a:p>
            <a:pPr algn="l">
              <a:spcBef>
                <a:spcPts val="600"/>
              </a:spcBef>
            </a:pPr>
            <a:r>
              <a:rPr sz="950" b="1" i="0">
                <a:solidFill>
                  <a:srgbClr val="B7731A"/>
                </a:solidFill>
                <a:latin typeface="Open Sans"/>
              </a:rPr>
              <a:t>amber: </a:t>
            </a:r>
            <a:r>
              <a:rPr sz="950" b="0" i="0">
                <a:solidFill>
                  <a:srgbClr val="5A6875"/>
                </a:solidFill>
                <a:latin typeface="Open Sans"/>
              </a:rPr>
              <a:t>a 3×3 window at the corner reads zeros, no if-statement</a:t>
            </a:r>
          </a:p>
          <a:p>
            <a:pPr algn="l">
              <a:spcBef>
                <a:spcPts val="600"/>
              </a:spcBef>
            </a:pPr>
            <a:r>
              <a:rPr sz="950" b="1" i="0">
                <a:solidFill>
                  <a:srgbClr val="0C6A87"/>
                </a:solidFill>
                <a:latin typeface="Open Sans"/>
              </a:rPr>
              <a:t>teal: </a:t>
            </a:r>
            <a:r>
              <a:rPr sz="950" b="0" i="0">
                <a:solidFill>
                  <a:srgbClr val="5A6875"/>
                </a:solidFill>
                <a:latin typeface="Open Sans"/>
              </a:rPr>
              <a:t>interior, the only part a kernel writes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layout: one load, no branches</a:t>
            </a:r>
          </a:p>
        </p:txBody>
      </p:sp>
      <p:sp>
        <p:nvSpPr>
          <p:cNvPr id="3" name="why-0"/>
          <p:cNvSpPr/>
          <p:nvPr/>
        </p:nvSpPr>
        <p:spPr>
          <a:xfrm>
            <a:off x="457200" y="1005840"/>
            <a:ext cx="2267712" cy="105156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69848"/>
            <a:ext cx="2103120" cy="256032"/>
          </a:xfrm>
          <a:prstGeom prst="rect">
            <a:avLst/>
          </a:prstGeom>
          <a:noFill/>
        </p:spPr>
        <p:txBody>
          <a:bodyPr wrap="square" lIns="0" rIns="0" tIns="0" bIns="0" anchor="t">
            <a:spAutoFit/>
          </a:bodyPr>
          <a:lstStyle/>
          <a:p>
            <a:pPr algn="l"/>
            <a:r>
              <a:rPr sz="1150" b="1" i="0">
                <a:solidFill>
                  <a:srgbClr val="BB0027"/>
                </a:solidFill>
                <a:latin typeface="Open Sans"/>
              </a:rPr>
              <a:t>One load per register</a:t>
            </a:r>
          </a:p>
        </p:txBody>
      </p:sp>
      <p:sp>
        <p:nvSpPr>
          <p:cNvPr id="5" name="TextBox 4"/>
          <p:cNvSpPr txBox="1"/>
          <p:nvPr/>
        </p:nvSpPr>
        <p:spPr>
          <a:xfrm>
            <a:off x="548640" y="1335024"/>
            <a:ext cx="2103120" cy="713232"/>
          </a:xfrm>
          <a:prstGeom prst="rect">
            <a:avLst/>
          </a:prstGeom>
          <a:noFill/>
        </p:spPr>
        <p:txBody>
          <a:bodyPr wrap="square" lIns="0" rIns="0" tIns="0" bIns="0" anchor="t">
            <a:spAutoFit/>
          </a:bodyPr>
          <a:lstStyle/>
          <a:p>
            <a:pPr algn="l"/>
            <a:r>
              <a:rPr sz="900" b="0" i="0">
                <a:solidFill>
                  <a:srgbClr val="5A6875"/>
                </a:solidFill>
                <a:latin typeface="Open Sans"/>
              </a:rPr>
              <a:t>8 channels contiguous: weights and outputs are single aligned 32 B loads/stores. NCHW: 8 loads per vector.</a:t>
            </a:r>
          </a:p>
        </p:txBody>
      </p:sp>
      <p:sp>
        <p:nvSpPr>
          <p:cNvPr id="6" name="why-1"/>
          <p:cNvSpPr/>
          <p:nvPr/>
        </p:nvSpPr>
        <p:spPr>
          <a:xfrm>
            <a:off x="2834640" y="1005840"/>
            <a:ext cx="2267712" cy="1051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0" y="1069848"/>
            <a:ext cx="2103120" cy="256032"/>
          </a:xfrm>
          <a:prstGeom prst="rect">
            <a:avLst/>
          </a:prstGeom>
          <a:noFill/>
        </p:spPr>
        <p:txBody>
          <a:bodyPr wrap="square" lIns="0" rIns="0" tIns="0" bIns="0" anchor="t">
            <a:spAutoFit/>
          </a:bodyPr>
          <a:lstStyle/>
          <a:p>
            <a:pPr algn="l"/>
            <a:r>
              <a:rPr sz="1150" b="1" i="0">
                <a:solidFill>
                  <a:srgbClr val="1B2630"/>
                </a:solidFill>
                <a:latin typeface="Open Sans"/>
              </a:rPr>
              <a:t>No branches</a:t>
            </a:r>
          </a:p>
        </p:txBody>
      </p:sp>
      <p:sp>
        <p:nvSpPr>
          <p:cNvPr id="8" name="TextBox 7"/>
          <p:cNvSpPr txBox="1"/>
          <p:nvPr/>
        </p:nvSpPr>
        <p:spPr>
          <a:xfrm>
            <a:off x="2926080" y="1335024"/>
            <a:ext cx="2103120" cy="713232"/>
          </a:xfrm>
          <a:prstGeom prst="rect">
            <a:avLst/>
          </a:prstGeom>
          <a:noFill/>
        </p:spPr>
        <p:txBody>
          <a:bodyPr wrap="square" lIns="0" rIns="0" tIns="0" bIns="0" anchor="t">
            <a:spAutoFit/>
          </a:bodyPr>
          <a:lstStyle/>
          <a:p>
            <a:pPr algn="l"/>
            <a:r>
              <a:rPr sz="900" b="0" i="0">
                <a:solidFill>
                  <a:srgbClr val="5A6875"/>
                </a:solidFill>
                <a:latin typeface="Open Sans"/>
              </a:rPr>
              <a:t>Padding is stored, so every call is identical, edges included. Cost: +2.5% memory at 160×160, +21% at 20×20.</a:t>
            </a:r>
          </a:p>
        </p:txBody>
      </p:sp>
      <p:sp>
        <p:nvSpPr>
          <p:cNvPr id="9" name="why-2"/>
          <p:cNvSpPr/>
          <p:nvPr/>
        </p:nvSpPr>
        <p:spPr>
          <a:xfrm>
            <a:off x="457200" y="2148840"/>
            <a:ext cx="2267712" cy="1051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12848"/>
            <a:ext cx="2103120" cy="256032"/>
          </a:xfrm>
          <a:prstGeom prst="rect">
            <a:avLst/>
          </a:prstGeom>
          <a:noFill/>
        </p:spPr>
        <p:txBody>
          <a:bodyPr wrap="square" lIns="0" rIns="0" tIns="0" bIns="0" anchor="t">
            <a:spAutoFit/>
          </a:bodyPr>
          <a:lstStyle/>
          <a:p>
            <a:pPr algn="l"/>
            <a:r>
              <a:rPr sz="1150" b="1" i="0">
                <a:solidFill>
                  <a:srgbClr val="1B2630"/>
                </a:solidFill>
                <a:latin typeface="Open Sans"/>
              </a:rPr>
              <a:t>One layout, 3 kernels</a:t>
            </a:r>
          </a:p>
        </p:txBody>
      </p:sp>
      <p:sp>
        <p:nvSpPr>
          <p:cNvPr id="11" name="TextBox 10"/>
          <p:cNvSpPr txBox="1"/>
          <p:nvPr/>
        </p:nvSpPr>
        <p:spPr>
          <a:xfrm>
            <a:off x="548640" y="2478024"/>
            <a:ext cx="2103120" cy="713232"/>
          </a:xfrm>
          <a:prstGeom prst="rect">
            <a:avLst/>
          </a:prstGeom>
          <a:noFill/>
        </p:spPr>
        <p:txBody>
          <a:bodyPr wrap="square" lIns="0" rIns="0" tIns="0" bIns="0" anchor="t">
            <a:spAutoFit/>
          </a:bodyPr>
          <a:lstStyle/>
          <a:p>
            <a:pPr algn="l"/>
            <a:r>
              <a:rPr sz="900" b="0" i="0">
                <a:solidFill>
                  <a:srgbClr val="5A6875"/>
                </a:solidFill>
                <a:latin typeface="Open Sans"/>
              </a:rPr>
              <a:t>Stride 1, stride 2 and 1×1 share it: no conversion between layers. Split = pointer offset, Concat = write into a slice.</a:t>
            </a:r>
          </a:p>
        </p:txBody>
      </p:sp>
      <p:sp>
        <p:nvSpPr>
          <p:cNvPr id="12" name="why-3"/>
          <p:cNvSpPr/>
          <p:nvPr/>
        </p:nvSpPr>
        <p:spPr>
          <a:xfrm>
            <a:off x="2834640" y="2148840"/>
            <a:ext cx="2267712" cy="1051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2212848"/>
            <a:ext cx="2103120" cy="256032"/>
          </a:xfrm>
          <a:prstGeom prst="rect">
            <a:avLst/>
          </a:prstGeom>
          <a:noFill/>
        </p:spPr>
        <p:txBody>
          <a:bodyPr wrap="square" lIns="0" rIns="0" tIns="0" bIns="0" anchor="t">
            <a:spAutoFit/>
          </a:bodyPr>
          <a:lstStyle/>
          <a:p>
            <a:pPr algn="l"/>
            <a:r>
              <a:rPr sz="1150" b="1" i="0">
                <a:solidFill>
                  <a:srgbClr val="1B2630"/>
                </a:solidFill>
                <a:latin typeface="Open Sans"/>
              </a:rPr>
              <a:t>Weights in loop order</a:t>
            </a:r>
          </a:p>
        </p:txBody>
      </p:sp>
      <p:sp>
        <p:nvSpPr>
          <p:cNvPr id="14" name="TextBox 13"/>
          <p:cNvSpPr txBox="1"/>
          <p:nvPr/>
        </p:nvSpPr>
        <p:spPr>
          <a:xfrm>
            <a:off x="2926080" y="2478024"/>
            <a:ext cx="2103120" cy="713232"/>
          </a:xfrm>
          <a:prstGeom prst="rect">
            <a:avLst/>
          </a:prstGeom>
          <a:noFill/>
        </p:spPr>
        <p:txBody>
          <a:bodyPr wrap="square" lIns="0" rIns="0" tIns="0" bIns="0" anchor="t">
            <a:spAutoFit/>
          </a:bodyPr>
          <a:lstStyle/>
          <a:p>
            <a:pPr algn="l"/>
            <a:r>
              <a:rPr sz="900" b="0" i="0">
                <a:solidFill>
                  <a:srgbClr val="5A6875"/>
                </a:solidFill>
                <a:latin typeface="Open Sans"/>
              </a:rPr>
              <a:t>Packed once offline; loads walk forward through memory, which the hardware prefetcher follows.</a:t>
            </a:r>
          </a:p>
        </p:txBody>
      </p:sp>
      <p:sp>
        <p:nvSpPr>
          <p:cNvPr id="15" name="TextBox 14"/>
          <p:cNvSpPr txBox="1"/>
          <p:nvPr/>
        </p:nvSpPr>
        <p:spPr>
          <a:xfrm>
            <a:off x="5349240" y="960120"/>
            <a:ext cx="3383280" cy="274320"/>
          </a:xfrm>
          <a:prstGeom prst="rect">
            <a:avLst/>
          </a:prstGeom>
          <a:noFill/>
        </p:spPr>
        <p:txBody>
          <a:bodyPr wrap="square" lIns="0" rIns="0" tIns="0" bIns="0" anchor="t">
            <a:spAutoFit/>
          </a:bodyPr>
          <a:lstStyle/>
          <a:p>
            <a:pPr algn="l"/>
            <a:r>
              <a:rPr sz="1150" b="1" i="0">
                <a:solidFill>
                  <a:srgbClr val="1B2630"/>
                </a:solidFill>
                <a:latin typeface="Open Sans"/>
              </a:rPr>
              <a:t>Weights one 2×5 tile reads: 576 · C bytes</a:t>
            </a:r>
          </a:p>
        </p:txBody>
      </p:sp>
      <p:graphicFrame>
        <p:nvGraphicFramePr>
          <p:cNvPr id="16" name="Table 15"/>
          <p:cNvGraphicFramePr>
            <a:graphicFrameLocks noGrp="1"/>
          </p:cNvGraphicFramePr>
          <p:nvPr/>
        </p:nvGraphicFramePr>
        <p:xfrm>
          <a:off x="5349240" y="1280160"/>
          <a:ext cx="3337560" cy="1737360"/>
        </p:xfrm>
        <a:graphic>
          <a:graphicData uri="http://schemas.openxmlformats.org/drawingml/2006/table">
            <a:tbl>
              <a:tblPr firstRow="1" bandRow="1">
                <a:tableStyleId>{5C22544A-7EE6-4342-B048-85BDC9FD1C3A}</a:tableStyleId>
              </a:tblPr>
              <a:tblGrid>
                <a:gridCol w="502920"/>
                <a:gridCol w="777240"/>
                <a:gridCol w="2057400"/>
              </a:tblGrid>
              <a:tr h="289560">
                <a:tc>
                  <a:txBody>
                    <a:bodyPr/>
                    <a:lstStyle/>
                    <a:p>
                      <a:r>
                        <a:rPr sz="1050" b="1">
                          <a:solidFill>
                            <a:srgbClr val="1B2630"/>
                          </a:solidFill>
                          <a:latin typeface="Open Sans"/>
                        </a:rPr>
                        <a:t>C</a:t>
                      </a:r>
                    </a:p>
                  </a:txBody>
                  <a:tcPr marL="54864" marR="54864">
                    <a:solidFill>
                      <a:srgbClr val="F1F3F5"/>
                    </a:solidFill>
                  </a:tcPr>
                </a:tc>
                <a:tc>
                  <a:txBody>
                    <a:bodyPr/>
                    <a:lstStyle/>
                    <a:p>
                      <a:r>
                        <a:rPr sz="1050" b="1">
                          <a:solidFill>
                            <a:srgbClr val="1B2630"/>
                          </a:solidFill>
                          <a:latin typeface="Open Sans"/>
                        </a:rPr>
                        <a:t>Weights</a:t>
                      </a:r>
                    </a:p>
                  </a:txBody>
                  <a:tcPr marL="54864" marR="54864">
                    <a:solidFill>
                      <a:srgbClr val="F1F3F5"/>
                    </a:solidFill>
                  </a:tcPr>
                </a:tc>
                <a:tc>
                  <a:txBody>
                    <a:bodyPr/>
                    <a:lstStyle/>
                    <a:p>
                      <a:r>
                        <a:rPr sz="1050" b="1">
                          <a:solidFill>
                            <a:srgbClr val="1B2630"/>
                          </a:solidFill>
                          <a:latin typeface="Open Sans"/>
                        </a:rPr>
                        <a:t>Fits in</a:t>
                      </a:r>
                    </a:p>
                  </a:txBody>
                  <a:tcPr marL="54864" marR="54864">
                    <a:solidFill>
                      <a:srgbClr val="F1F3F5"/>
                    </a:solidFill>
                  </a:tcPr>
                </a:tc>
              </a:tr>
              <a:tr h="289560">
                <a:tc>
                  <a:txBody>
                    <a:bodyPr/>
                    <a:lstStyle/>
                    <a:p>
                      <a:r>
                        <a:rPr sz="1050" b="0">
                          <a:solidFill>
                            <a:srgbClr val="1B2630"/>
                          </a:solidFill>
                          <a:latin typeface="Open Sans"/>
                        </a:rPr>
                        <a:t>16</a:t>
                      </a:r>
                    </a:p>
                  </a:txBody>
                  <a:tcPr marL="54864" marR="54864">
                    <a:solidFill>
                      <a:srgbClr val="FFFFFF"/>
                    </a:solidFill>
                  </a:tcPr>
                </a:tc>
                <a:tc>
                  <a:txBody>
                    <a:bodyPr/>
                    <a:lstStyle/>
                    <a:p>
                      <a:r>
                        <a:rPr sz="1050" b="0">
                          <a:solidFill>
                            <a:srgbClr val="1B2630"/>
                          </a:solidFill>
                          <a:latin typeface="Open Sans"/>
                        </a:rPr>
                        <a:t>9 KB</a:t>
                      </a:r>
                    </a:p>
                  </a:txBody>
                  <a:tcPr marL="54864" marR="54864">
                    <a:solidFill>
                      <a:srgbClr val="FFFFFF"/>
                    </a:solidFill>
                  </a:tcPr>
                </a:tc>
                <a:tc>
                  <a:txBody>
                    <a:bodyPr/>
                    <a:lstStyle/>
                    <a:p>
                      <a:r>
                        <a:rPr sz="1050" b="0">
                          <a:solidFill>
                            <a:srgbClr val="1B2630"/>
                          </a:solidFill>
                          <a:latin typeface="Open Sans"/>
                        </a:rPr>
                        <a:t>L1 (32 KB)</a:t>
                      </a:r>
                    </a:p>
                  </a:txBody>
                  <a:tcPr marL="54864" marR="54864">
                    <a:solidFill>
                      <a:srgbClr val="FFFFFF"/>
                    </a:solidFill>
                  </a:tcPr>
                </a:tc>
              </a:tr>
              <a:tr h="289560">
                <a:tc>
                  <a:txBody>
                    <a:bodyPr/>
                    <a:lstStyle/>
                    <a:p>
                      <a:r>
                        <a:rPr sz="1050" b="0">
                          <a:solidFill>
                            <a:srgbClr val="1B2630"/>
                          </a:solidFill>
                          <a:latin typeface="Open Sans"/>
                        </a:rPr>
                        <a:t>32</a:t>
                      </a:r>
                    </a:p>
                  </a:txBody>
                  <a:tcPr marL="54864" marR="54864">
                    <a:solidFill>
                      <a:srgbClr val="FFFFFF"/>
                    </a:solidFill>
                  </a:tcPr>
                </a:tc>
                <a:tc>
                  <a:txBody>
                    <a:bodyPr/>
                    <a:lstStyle/>
                    <a:p>
                      <a:r>
                        <a:rPr sz="1050" b="0">
                          <a:solidFill>
                            <a:srgbClr val="1B2630"/>
                          </a:solidFill>
                          <a:latin typeface="Open Sans"/>
                        </a:rPr>
                        <a:t>18 KB</a:t>
                      </a:r>
                    </a:p>
                  </a:txBody>
                  <a:tcPr marL="54864" marR="54864">
                    <a:solidFill>
                      <a:srgbClr val="FFFFFF"/>
                    </a:solidFill>
                  </a:tcPr>
                </a:tc>
                <a:tc>
                  <a:txBody>
                    <a:bodyPr/>
                    <a:lstStyle/>
                    <a:p>
                      <a:r>
                        <a:rPr sz="1050" b="0">
                          <a:solidFill>
                            <a:srgbClr val="1B2630"/>
                          </a:solidFill>
                          <a:latin typeface="Open Sans"/>
                        </a:rPr>
                        <a:t>L1</a:t>
                      </a:r>
                    </a:p>
                  </a:txBody>
                  <a:tcPr marL="54864" marR="54864">
                    <a:solidFill>
                      <a:srgbClr val="FFFFFF"/>
                    </a:solidFill>
                  </a:tcPr>
                </a:tc>
              </a:tr>
              <a:tr h="289560">
                <a:tc>
                  <a:txBody>
                    <a:bodyPr/>
                    <a:lstStyle/>
                    <a:p>
                      <a:r>
                        <a:rPr sz="1050" b="0">
                          <a:solidFill>
                            <a:srgbClr val="1B2630"/>
                          </a:solidFill>
                          <a:latin typeface="Open Sans"/>
                        </a:rPr>
                        <a:t>64</a:t>
                      </a:r>
                    </a:p>
                  </a:txBody>
                  <a:tcPr marL="54864" marR="54864">
                    <a:solidFill>
                      <a:srgbClr val="FFFFFF"/>
                    </a:solidFill>
                  </a:tcPr>
                </a:tc>
                <a:tc>
                  <a:txBody>
                    <a:bodyPr/>
                    <a:lstStyle/>
                    <a:p>
                      <a:r>
                        <a:rPr sz="1050" b="0">
                          <a:solidFill>
                            <a:srgbClr val="1B2630"/>
                          </a:solidFill>
                          <a:latin typeface="Open Sans"/>
                        </a:rPr>
                        <a:t>37 KB</a:t>
                      </a:r>
                    </a:p>
                  </a:txBody>
                  <a:tcPr marL="54864" marR="54864">
                    <a:solidFill>
                      <a:srgbClr val="FFFFFF"/>
                    </a:solidFill>
                  </a:tcPr>
                </a:tc>
                <a:tc>
                  <a:txBody>
                    <a:bodyPr/>
                    <a:lstStyle/>
                    <a:p>
                      <a:r>
                        <a:rPr sz="1050" b="0">
                          <a:solidFill>
                            <a:srgbClr val="1B2630"/>
                          </a:solidFill>
                          <a:latin typeface="Open Sans"/>
                        </a:rPr>
                        <a:t>L2 (256 KB)</a:t>
                      </a:r>
                    </a:p>
                  </a:txBody>
                  <a:tcPr marL="54864" marR="54864">
                    <a:solidFill>
                      <a:srgbClr val="FFFFFF"/>
                    </a:solidFill>
                  </a:tcPr>
                </a:tc>
              </a:tr>
              <a:tr h="289560">
                <a:tc>
                  <a:txBody>
                    <a:bodyPr/>
                    <a:lstStyle/>
                    <a:p>
                      <a:r>
                        <a:rPr sz="1050" b="0">
                          <a:solidFill>
                            <a:srgbClr val="1B2630"/>
                          </a:solidFill>
                          <a:latin typeface="Open Sans"/>
                        </a:rPr>
                        <a:t>128</a:t>
                      </a:r>
                    </a:p>
                  </a:txBody>
                  <a:tcPr marL="54864" marR="54864">
                    <a:solidFill>
                      <a:srgbClr val="FFFFFF"/>
                    </a:solidFill>
                  </a:tcPr>
                </a:tc>
                <a:tc>
                  <a:txBody>
                    <a:bodyPr/>
                    <a:lstStyle/>
                    <a:p>
                      <a:r>
                        <a:rPr sz="1050" b="0">
                          <a:solidFill>
                            <a:srgbClr val="1B2630"/>
                          </a:solidFill>
                          <a:latin typeface="Open Sans"/>
                        </a:rPr>
                        <a:t>74 KB</a:t>
                      </a:r>
                    </a:p>
                  </a:txBody>
                  <a:tcPr marL="54864" marR="54864">
                    <a:solidFill>
                      <a:srgbClr val="FFFFFF"/>
                    </a:solidFill>
                  </a:tcPr>
                </a:tc>
                <a:tc>
                  <a:txBody>
                    <a:bodyPr/>
                    <a:lstStyle/>
                    <a:p>
                      <a:r>
                        <a:rPr sz="1050" b="0">
                          <a:solidFill>
                            <a:srgbClr val="1B2630"/>
                          </a:solidFill>
                          <a:latin typeface="Open Sans"/>
                        </a:rPr>
                        <a:t>L2</a:t>
                      </a:r>
                    </a:p>
                  </a:txBody>
                  <a:tcPr marL="54864" marR="54864">
                    <a:solidFill>
                      <a:srgbClr val="FFFFFF"/>
                    </a:solidFill>
                  </a:tcPr>
                </a:tc>
              </a:tr>
              <a:tr h="289560">
                <a:tc>
                  <a:txBody>
                    <a:bodyPr/>
                    <a:lstStyle/>
                    <a:p>
                      <a:r>
                        <a:rPr sz="1050" b="0">
                          <a:solidFill>
                            <a:srgbClr val="1B2630"/>
                          </a:solidFill>
                          <a:latin typeface="Open Sans"/>
                        </a:rPr>
                        <a:t>256</a:t>
                      </a:r>
                    </a:p>
                  </a:txBody>
                  <a:tcPr marL="54864" marR="54864">
                    <a:solidFill>
                      <a:srgbClr val="F8E5E9"/>
                    </a:solidFill>
                  </a:tcPr>
                </a:tc>
                <a:tc>
                  <a:txBody>
                    <a:bodyPr/>
                    <a:lstStyle/>
                    <a:p>
                      <a:r>
                        <a:rPr sz="1050" b="0">
                          <a:solidFill>
                            <a:srgbClr val="1B2630"/>
                          </a:solidFill>
                          <a:latin typeface="Open Sans"/>
                        </a:rPr>
                        <a:t>147 KB</a:t>
                      </a:r>
                    </a:p>
                  </a:txBody>
                  <a:tcPr marL="54864" marR="54864">
                    <a:solidFill>
                      <a:srgbClr val="F8E5E9"/>
                    </a:solidFill>
                  </a:tcPr>
                </a:tc>
                <a:tc>
                  <a:txBody>
                    <a:bodyPr/>
                    <a:lstStyle/>
                    <a:p>
                      <a:r>
                        <a:rPr sz="1050" b="0">
                          <a:solidFill>
                            <a:srgbClr val="1B2630"/>
                          </a:solidFill>
                          <a:latin typeface="Open Sans"/>
                        </a:rPr>
                        <a:t>L2, but + 400 KB input &gt; L2</a:t>
                      </a:r>
                    </a:p>
                  </a:txBody>
                  <a:tcPr marL="54864" marR="54864">
                    <a:solidFill>
                      <a:srgbClr val="F8E5E9"/>
                    </a:solidFill>
                  </a:tcPr>
                </a:tc>
              </a:tr>
            </a:tbl>
          </a:graphicData>
        </a:graphic>
      </p:graphicFrame>
      <p:sp>
        <p:nvSpPr>
          <p:cNvPr id="17" name="TextBox 16"/>
          <p:cNvSpPr txBox="1"/>
          <p:nvPr/>
        </p:nvSpPr>
        <p:spPr>
          <a:xfrm>
            <a:off x="5349240" y="3154680"/>
            <a:ext cx="3337560" cy="1005840"/>
          </a:xfrm>
          <a:prstGeom prst="rect">
            <a:avLst/>
          </a:prstGeom>
          <a:noFill/>
        </p:spPr>
        <p:txBody>
          <a:bodyPr wrap="square" lIns="0" rIns="0" tIns="0" bIns="0" anchor="t">
            <a:spAutoFit/>
          </a:bodyPr>
          <a:lstStyle/>
          <a:p>
            <a:pPr algn="l"/>
            <a:r>
              <a:rPr sz="1000" b="1" i="0">
                <a:solidFill>
                  <a:srgbClr val="1B2630"/>
                </a:solidFill>
                <a:latin typeface="Open Sans"/>
              </a:rPr>
              <a:t>Reused across the whole output plane, </a:t>
            </a:r>
            <a:r>
              <a:rPr sz="1000" b="0" i="0">
                <a:solidFill>
                  <a:srgbClr val="5A6875"/>
                </a:solidFill>
                <a:latin typeface="Open Sans"/>
              </a:rPr>
              <a:t>so L2-resident layers still reach 73–80% of peak.</a:t>
            </a:r>
          </a:p>
          <a:p>
            <a:pPr algn="l">
              <a:spcBef>
                <a:spcPts val="600"/>
              </a:spcBef>
            </a:pPr>
            <a:r>
              <a:rPr sz="1000" b="1" i="0">
                <a:solidFill>
                  <a:srgbClr val="1B2630"/>
                </a:solidFill>
                <a:latin typeface="Open Sans"/>
              </a:rPr>
              <a:t>C = 256 head layers: 67–71%. </a:t>
            </a:r>
            <a:r>
              <a:rPr sz="1000" b="0" i="0">
                <a:solidFill>
                  <a:srgbClr val="5A6875"/>
                </a:solidFill>
                <a:latin typeface="Open Sans"/>
              </a:rPr>
              <a:t>Next: input-channel blocking.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numbers are measured</a:t>
            </a:r>
          </a:p>
        </p:txBody>
      </p:sp>
      <p:sp>
        <p:nvSpPr>
          <p:cNvPr id="3" name="assume-0"/>
          <p:cNvSpPr/>
          <p:nvPr/>
        </p:nvSpPr>
        <p:spPr>
          <a:xfrm>
            <a:off x="45720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Machine and code</a:t>
            </a:r>
          </a:p>
        </p:txBody>
      </p:sp>
      <p:sp>
        <p:nvSpPr>
          <p:cNvPr id="5" name="TextBox 4"/>
          <p:cNvSpPr txBox="1"/>
          <p:nvPr/>
        </p:nvSpPr>
        <p:spPr>
          <a:xfrm>
            <a:off x="56692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ece028, Xeon E5-2640 v4, 1 core (taskset); C++ with AVX2 intrinsics only, GCC 8.5 -O3</a:t>
            </a:r>
          </a:p>
        </p:txBody>
      </p:sp>
      <p:sp>
        <p:nvSpPr>
          <p:cNvPr id="6" name="assume-1"/>
          <p:cNvSpPr/>
          <p:nvPr/>
        </p:nvSpPr>
        <p:spPr>
          <a:xfrm>
            <a:off x="461772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2744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Peak</a:t>
            </a:r>
          </a:p>
        </p:txBody>
      </p:sp>
      <p:sp>
        <p:nvSpPr>
          <p:cNvPr id="8" name="TextBox 7"/>
          <p:cNvSpPr txBox="1"/>
          <p:nvPr/>
        </p:nvSpPr>
        <p:spPr>
          <a:xfrm>
            <a:off x="472744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2 FMA units × 8 FP32 lanes × 2 FLOPs = 32 FLOPs/cycle per core (AVX2, no AVX-512)</a:t>
            </a:r>
          </a:p>
        </p:txBody>
      </p:sp>
      <p:sp>
        <p:nvSpPr>
          <p:cNvPr id="9" name="assume-2"/>
          <p:cNvSpPr/>
          <p:nvPr/>
        </p:nvSpPr>
        <p:spPr>
          <a:xfrm>
            <a:off x="45720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74519"/>
            <a:ext cx="3749039" cy="228600"/>
          </a:xfrm>
          <a:prstGeom prst="rect">
            <a:avLst/>
          </a:prstGeom>
          <a:noFill/>
        </p:spPr>
        <p:txBody>
          <a:bodyPr wrap="square" lIns="0" rIns="0" tIns="0" bIns="0" anchor="t">
            <a:spAutoFit/>
          </a:bodyPr>
          <a:lstStyle/>
          <a:p>
            <a:pPr algn="l"/>
            <a:r>
              <a:rPr sz="1150" b="1" i="0">
                <a:solidFill>
                  <a:srgbClr val="BB0027"/>
                </a:solidFill>
                <a:latin typeface="Open Sans"/>
              </a:rPr>
              <a:t>Cycles</a:t>
            </a:r>
          </a:p>
        </p:txBody>
      </p:sp>
      <p:sp>
        <p:nvSpPr>
          <p:cNvPr id="11" name="TextBox 10"/>
          <p:cNvSpPr txBox="1"/>
          <p:nvPr/>
        </p:nvSpPr>
        <p:spPr>
          <a:xfrm>
            <a:off x="56692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rdtsc ticks (fixed 2.4 GHz base) × 3.4 / 2.4 = cycles at max turbo, as in A2: can only understate</a:t>
            </a:r>
          </a:p>
        </p:txBody>
      </p:sp>
      <p:sp>
        <p:nvSpPr>
          <p:cNvPr id="12" name="assume-3"/>
          <p:cNvSpPr/>
          <p:nvPr/>
        </p:nvSpPr>
        <p:spPr>
          <a:xfrm>
            <a:off x="461772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1874519"/>
            <a:ext cx="3749039" cy="228600"/>
          </a:xfrm>
          <a:prstGeom prst="rect">
            <a:avLst/>
          </a:prstGeom>
          <a:noFill/>
        </p:spPr>
        <p:txBody>
          <a:bodyPr wrap="square" lIns="0" rIns="0" tIns="0" bIns="0" anchor="t">
            <a:spAutoFit/>
          </a:bodyPr>
          <a:lstStyle/>
          <a:p>
            <a:pPr algn="l"/>
            <a:r>
              <a:rPr sz="1150" b="1" i="0">
                <a:solidFill>
                  <a:srgbClr val="1B2630"/>
                </a:solidFill>
                <a:latin typeface="Open Sans"/>
              </a:rPr>
              <a:t>FLOPs</a:t>
            </a:r>
          </a:p>
        </p:txBody>
      </p:sp>
      <p:sp>
        <p:nvSpPr>
          <p:cNvPr id="14" name="TextBox 13"/>
          <p:cNvSpPr txBox="1"/>
          <p:nvPr/>
        </p:nvSpPr>
        <p:spPr>
          <a:xfrm>
            <a:off x="472744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2 × outputs × C × 9: only the convolution's multiply-adds; bias and SiLU count as zero</a:t>
            </a:r>
          </a:p>
        </p:txBody>
      </p:sp>
      <p:sp>
        <p:nvSpPr>
          <p:cNvPr id="15" name="assume-4"/>
          <p:cNvSpPr/>
          <p:nvPr/>
        </p:nvSpPr>
        <p:spPr>
          <a:xfrm>
            <a:off x="45720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Microkernel alone</a:t>
            </a:r>
          </a:p>
        </p:txBody>
      </p:sp>
      <p:sp>
        <p:nvSpPr>
          <p:cNvPr id="17" name="TextBox 16"/>
          <p:cNvSpPr txBox="1"/>
          <p:nvPr/>
        </p:nvSpPr>
        <p:spPr>
          <a:xfrm>
            <a:off x="56692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one tile of data reused (stays in L1/L2), 2 s warm-up, best of 3 runs, SiLU off</a:t>
            </a:r>
          </a:p>
        </p:txBody>
      </p:sp>
      <p:sp>
        <p:nvSpPr>
          <p:cNvPr id="18" name="assume-5"/>
          <p:cNvSpPr/>
          <p:nvPr/>
        </p:nvSpPr>
        <p:spPr>
          <a:xfrm>
            <a:off x="461772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Full layers</a:t>
            </a:r>
          </a:p>
        </p:txBody>
      </p:sp>
      <p:sp>
        <p:nvSpPr>
          <p:cNvPr id="20" name="TextBox 19"/>
          <p:cNvSpPr txBox="1"/>
          <p:nvPr/>
        </p:nvSpPr>
        <p:spPr>
          <a:xfrm>
            <a:off x="472744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all 32 real YOLOv8n layers, batch 1, 640 × 640 image, FP32, SiLU on</a:t>
            </a:r>
          </a:p>
        </p:txBody>
      </p:sp>
      <p:sp>
        <p:nvSpPr>
          <p:cNvPr id="21" name="assume-6"/>
          <p:cNvSpPr/>
          <p:nvPr/>
        </p:nvSpPr>
        <p:spPr>
          <a:xfrm>
            <a:off x="45720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Correct</a:t>
            </a:r>
          </a:p>
        </p:txBody>
      </p:sp>
      <p:sp>
        <p:nvSpPr>
          <p:cNvPr id="23" name="TextBox 22"/>
          <p:cNvSpPr txBox="1"/>
          <p:nvPr/>
        </p:nvSpPr>
        <p:spPr>
          <a:xfrm>
            <a:off x="56692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every result checked: max relative error ≤ 1e-4 vs a scalar reference / OpenCV's real outputs</a:t>
            </a:r>
          </a:p>
        </p:txBody>
      </p:sp>
      <p:sp>
        <p:nvSpPr>
          <p:cNvPr id="24" name="assume-7"/>
          <p:cNvSpPr/>
          <p:nvPr/>
        </p:nvSpPr>
        <p:spPr>
          <a:xfrm>
            <a:off x="461772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Baseline</a:t>
            </a:r>
          </a:p>
        </p:txBody>
      </p:sp>
      <p:sp>
        <p:nvSpPr>
          <p:cNvPr id="26" name="TextBox 25"/>
          <p:cNvSpPr txBox="1"/>
          <p:nvPr/>
        </p:nvSpPr>
        <p:spPr>
          <a:xfrm>
            <a:off x="472744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OpenCV DNN on the same ONNX model, 1 thread, its own per-layer timer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steps: ops → accumulators → tile → benchmark</a:t>
            </a:r>
          </a:p>
        </p:txBody>
      </p:sp>
      <p:sp>
        <p:nvSpPr>
          <p:cNvPr id="3" name="Oval 2"/>
          <p:cNvSpPr/>
          <p:nvPr/>
        </p:nvSpPr>
        <p:spPr>
          <a:xfrm>
            <a:off x="457200" y="106984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6984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1</a:t>
            </a:r>
          </a:p>
        </p:txBody>
      </p:sp>
      <p:sp>
        <p:nvSpPr>
          <p:cNvPr id="5" name="TextBox 4"/>
          <p:cNvSpPr txBox="1"/>
          <p:nvPr/>
        </p:nvSpPr>
        <p:spPr>
          <a:xfrm>
            <a:off x="914400" y="1033271"/>
            <a:ext cx="3291840" cy="256032"/>
          </a:xfrm>
          <a:prstGeom prst="rect">
            <a:avLst/>
          </a:prstGeom>
          <a:noFill/>
        </p:spPr>
        <p:txBody>
          <a:bodyPr wrap="square" lIns="0" rIns="0" tIns="0" bIns="0" anchor="t">
            <a:spAutoFit/>
          </a:bodyPr>
          <a:lstStyle/>
          <a:p>
            <a:pPr algn="l"/>
            <a:r>
              <a:rPr sz="1300" b="1" i="0">
                <a:solidFill>
                  <a:srgbClr val="1B2630"/>
                </a:solidFill>
                <a:latin typeface="Open Sans"/>
              </a:rPr>
              <a:t>Independent ops</a:t>
            </a:r>
          </a:p>
        </p:txBody>
      </p:sp>
      <p:sp>
        <p:nvSpPr>
          <p:cNvPr id="6" name="TextBox 5"/>
          <p:cNvSpPr txBox="1"/>
          <p:nvPr/>
        </p:nvSpPr>
        <p:spPr>
          <a:xfrm>
            <a:off x="914400" y="1298448"/>
            <a:ext cx="3291840" cy="475488"/>
          </a:xfrm>
          <a:prstGeom prst="rect">
            <a:avLst/>
          </a:prstGeom>
          <a:noFill/>
        </p:spPr>
        <p:txBody>
          <a:bodyPr wrap="square" lIns="0" rIns="0" tIns="0" bIns="0" anchor="t">
            <a:spAutoFit/>
          </a:bodyPr>
          <a:lstStyle/>
          <a:p>
            <a:pPr algn="l"/>
            <a:r>
              <a:rPr sz="1050" b="0" i="0">
                <a:solidFill>
                  <a:srgbClr val="5A6875"/>
                </a:solidFill>
                <a:latin typeface="Open Sans"/>
              </a:rPr>
              <a:t>Each output is a dot product of length C × 9: 102,400 in a 40×40, 64-ch layer.</a:t>
            </a:r>
          </a:p>
        </p:txBody>
      </p:sp>
      <p:sp>
        <p:nvSpPr>
          <p:cNvPr id="7" name="Oval 6"/>
          <p:cNvSpPr/>
          <p:nvPr/>
        </p:nvSpPr>
        <p:spPr>
          <a:xfrm>
            <a:off x="457200" y="184708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2</a:t>
            </a:r>
          </a:p>
        </p:txBody>
      </p:sp>
      <p:sp>
        <p:nvSpPr>
          <p:cNvPr id="9" name="TextBox 8"/>
          <p:cNvSpPr txBox="1"/>
          <p:nvPr/>
        </p:nvSpPr>
        <p:spPr>
          <a:xfrm>
            <a:off x="914400" y="1810512"/>
            <a:ext cx="3291840" cy="256032"/>
          </a:xfrm>
          <a:prstGeom prst="rect">
            <a:avLst/>
          </a:prstGeom>
          <a:noFill/>
        </p:spPr>
        <p:txBody>
          <a:bodyPr wrap="square" lIns="0" rIns="0" tIns="0" bIns="0" anchor="t">
            <a:spAutoFit/>
          </a:bodyPr>
          <a:lstStyle/>
          <a:p>
            <a:pPr algn="l"/>
            <a:r>
              <a:rPr sz="1300" b="1" i="0">
                <a:solidFill>
                  <a:srgbClr val="1B2630"/>
                </a:solidFill>
                <a:latin typeface="Open Sans"/>
              </a:rPr>
              <a:t>Outputs in flight</a:t>
            </a:r>
          </a:p>
        </p:txBody>
      </p:sp>
      <p:sp>
        <p:nvSpPr>
          <p:cNvPr id="10" name="TextBox 9"/>
          <p:cNvSpPr txBox="1"/>
          <p:nvPr/>
        </p:nvSpPr>
        <p:spPr>
          <a:xfrm>
            <a:off x="914400" y="2075688"/>
            <a:ext cx="3291840" cy="475488"/>
          </a:xfrm>
          <a:prstGeom prst="rect">
            <a:avLst/>
          </a:prstGeom>
          <a:noFill/>
        </p:spPr>
        <p:txBody>
          <a:bodyPr wrap="square" lIns="0" rIns="0" tIns="0" bIns="0" anchor="t">
            <a:spAutoFit/>
          </a:bodyPr>
          <a:lstStyle/>
          <a:p>
            <a:pPr algn="l"/>
            <a:r>
              <a:rPr sz="1050" b="0" i="0">
                <a:solidFill>
                  <a:srgbClr val="5A6875"/>
                </a:solidFill>
                <a:latin typeface="Open Sans"/>
              </a:rPr>
              <a:t>5 × 2 FMA/cycle = 10 accumulators = 80 outputs; 1 accumulator = 10% of peak.</a:t>
            </a:r>
          </a:p>
        </p:txBody>
      </p:sp>
      <p:sp>
        <p:nvSpPr>
          <p:cNvPr id="11" name="Oval 10"/>
          <p:cNvSpPr/>
          <p:nvPr/>
        </p:nvSpPr>
        <p:spPr>
          <a:xfrm>
            <a:off x="457200" y="2624327"/>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24327"/>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3</a:t>
            </a:r>
          </a:p>
        </p:txBody>
      </p:sp>
      <p:sp>
        <p:nvSpPr>
          <p:cNvPr id="13" name="TextBox 12"/>
          <p:cNvSpPr txBox="1"/>
          <p:nvPr/>
        </p:nvSpPr>
        <p:spPr>
          <a:xfrm>
            <a:off x="914400" y="2587751"/>
            <a:ext cx="3291840" cy="256032"/>
          </a:xfrm>
          <a:prstGeom prst="rect">
            <a:avLst/>
          </a:prstGeom>
          <a:noFill/>
        </p:spPr>
        <p:txBody>
          <a:bodyPr wrap="square" lIns="0" rIns="0" tIns="0" bIns="0" anchor="t">
            <a:spAutoFit/>
          </a:bodyPr>
          <a:lstStyle/>
          <a:p>
            <a:pPr algn="l"/>
            <a:r>
              <a:rPr sz="1300" b="1" i="0">
                <a:solidFill>
                  <a:srgbClr val="1B2630"/>
                </a:solidFill>
                <a:latin typeface="Open Sans"/>
              </a:rPr>
              <a:t>Kernel size</a:t>
            </a:r>
          </a:p>
        </p:txBody>
      </p:sp>
      <p:sp>
        <p:nvSpPr>
          <p:cNvPr id="14" name="TextBox 13"/>
          <p:cNvSpPr txBox="1"/>
          <p:nvPr/>
        </p:nvSpPr>
        <p:spPr>
          <a:xfrm>
            <a:off x="914400" y="2852927"/>
            <a:ext cx="3291840" cy="475488"/>
          </a:xfrm>
          <a:prstGeom prst="rect">
            <a:avLst/>
          </a:prstGeom>
          <a:noFill/>
        </p:spPr>
        <p:txBody>
          <a:bodyPr wrap="square" lIns="0" rIns="0" tIns="0" bIns="0" anchor="t">
            <a:spAutoFit/>
          </a:bodyPr>
          <a:lstStyle/>
          <a:p>
            <a:pPr algn="l"/>
            <a:r>
              <a:rPr sz="1050" b="0" i="0">
                <a:solidFill>
                  <a:srgbClr val="5A6875"/>
                </a:solidFill>
                <a:latin typeface="Open Sans"/>
              </a:rPr>
              <a:t>2×5 tile: 10 acc + 2 weights + 1 broadcast = 13 regs; 7 loads per 10 FMAs.</a:t>
            </a:r>
          </a:p>
        </p:txBody>
      </p:sp>
      <p:sp>
        <p:nvSpPr>
          <p:cNvPr id="15" name="Oval 14"/>
          <p:cNvSpPr/>
          <p:nvPr/>
        </p:nvSpPr>
        <p:spPr>
          <a:xfrm>
            <a:off x="457200" y="340156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40156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4</a:t>
            </a:r>
          </a:p>
        </p:txBody>
      </p:sp>
      <p:sp>
        <p:nvSpPr>
          <p:cNvPr id="17" name="TextBox 16"/>
          <p:cNvSpPr txBox="1"/>
          <p:nvPr/>
        </p:nvSpPr>
        <p:spPr>
          <a:xfrm>
            <a:off x="914400" y="3364991"/>
            <a:ext cx="3291840" cy="256032"/>
          </a:xfrm>
          <a:prstGeom prst="rect">
            <a:avLst/>
          </a:prstGeom>
          <a:noFill/>
        </p:spPr>
        <p:txBody>
          <a:bodyPr wrap="square" lIns="0" rIns="0" tIns="0" bIns="0" anchor="t">
            <a:spAutoFit/>
          </a:bodyPr>
          <a:lstStyle/>
          <a:p>
            <a:pPr algn="l"/>
            <a:r>
              <a:rPr sz="1300" b="1" i="0">
                <a:solidFill>
                  <a:srgbClr val="1B2630"/>
                </a:solidFill>
                <a:latin typeface="Open Sans"/>
              </a:rPr>
              <a:t>Benchmark like A2</a:t>
            </a:r>
          </a:p>
        </p:txBody>
      </p:sp>
      <p:sp>
        <p:nvSpPr>
          <p:cNvPr id="18" name="TextBox 17"/>
          <p:cNvSpPr txBox="1"/>
          <p:nvPr/>
        </p:nvSpPr>
        <p:spPr>
          <a:xfrm>
            <a:off x="914400" y="3630168"/>
            <a:ext cx="3291840" cy="475488"/>
          </a:xfrm>
          <a:prstGeom prst="rect">
            <a:avLst/>
          </a:prstGeom>
          <a:noFill/>
        </p:spPr>
        <p:txBody>
          <a:bodyPr wrap="square" lIns="0" rIns="0" tIns="0" bIns="0" anchor="t">
            <a:spAutoFit/>
          </a:bodyPr>
          <a:lstStyle/>
          <a:p>
            <a:pPr algn="l"/>
            <a:r>
              <a:rPr sz="1050" b="0" i="0">
                <a:solidFill>
                  <a:srgbClr val="5A6875"/>
                </a:solidFill>
                <a:latin typeface="Open Sans"/>
              </a:rPr>
              <a:t>Kernel alone, k = 72 to 4608, 3 runs, 2 s warm-up, cycles at 3.4 GHz, checked.</a:t>
            </a:r>
          </a:p>
        </p:txBody>
      </p:sp>
      <p:graphicFrame>
        <p:nvGraphicFramePr>
          <p:cNvPr id="19" name="Chart 18"/>
          <p:cNvGraphicFramePr>
            <a:graphicFrameLocks noGrp="1"/>
          </p:cNvGraphicFramePr>
          <p:nvPr/>
        </p:nvGraphicFramePr>
        <p:xfrm>
          <a:off x="4389120" y="960120"/>
          <a:ext cx="429768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math, 50% to 86%: the tile and GCC's registers</a:t>
            </a:r>
          </a:p>
        </p:txBody>
      </p:sp>
      <p:pic>
        <p:nvPicPr>
          <p:cNvPr id="3" name="Picture 2" descr="ukr_design_space_intrinsics.png"/>
          <p:cNvPicPr>
            <a:picLocks noChangeAspect="1"/>
          </p:cNvPicPr>
          <p:nvPr/>
        </p:nvPicPr>
        <p:blipFill>
          <a:blip r:embed="rId3"/>
          <a:stretch>
            <a:fillRect/>
          </a:stretch>
        </p:blipFill>
        <p:spPr>
          <a:xfrm>
            <a:off x="457200" y="1005840"/>
            <a:ext cx="5883088" cy="3200400"/>
          </a:xfrm>
          <a:prstGeom prst="rect">
            <a:avLst/>
          </a:prstGeom>
        </p:spPr>
      </p:pic>
      <p:sp>
        <p:nvSpPr>
          <p:cNvPr id="4" name="ds-card-0"/>
          <p:cNvSpPr/>
          <p:nvPr/>
        </p:nvSpPr>
        <p:spPr>
          <a:xfrm>
            <a:off x="6446520" y="1005840"/>
            <a:ext cx="2240280" cy="96012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56248" y="1078992"/>
            <a:ext cx="2011680" cy="256032"/>
          </a:xfrm>
          <a:prstGeom prst="rect">
            <a:avLst/>
          </a:prstGeom>
          <a:noFill/>
        </p:spPr>
        <p:txBody>
          <a:bodyPr wrap="square" lIns="0" rIns="0" tIns="0" bIns="0" anchor="t">
            <a:spAutoFit/>
          </a:bodyPr>
          <a:lstStyle/>
          <a:p>
            <a:pPr algn="l"/>
            <a:r>
              <a:rPr sz="1200" b="1" i="0">
                <a:solidFill>
                  <a:srgbClr val="BB0027"/>
                </a:solidFill>
                <a:latin typeface="Open Sans"/>
              </a:rPr>
              <a:t>Best: 2×5</a:t>
            </a:r>
          </a:p>
        </p:txBody>
      </p:sp>
      <p:sp>
        <p:nvSpPr>
          <p:cNvPr id="6" name="TextBox 5"/>
          <p:cNvSpPr txBox="1"/>
          <p:nvPr/>
        </p:nvSpPr>
        <p:spPr>
          <a:xfrm>
            <a:off x="6556248" y="1353312"/>
            <a:ext cx="2011680" cy="594360"/>
          </a:xfrm>
          <a:prstGeom prst="rect">
            <a:avLst/>
          </a:prstGeom>
          <a:noFill/>
        </p:spPr>
        <p:txBody>
          <a:bodyPr wrap="square" lIns="0" rIns="0" tIns="0" bIns="0" anchor="t">
            <a:spAutoFit/>
          </a:bodyPr>
          <a:lstStyle/>
          <a:p>
            <a:pPr algn="l"/>
            <a:r>
              <a:rPr sz="1000" b="0" i="0">
                <a:solidFill>
                  <a:srgbClr val="5A6875"/>
                </a:solidFill>
                <a:latin typeface="Open Sans"/>
              </a:rPr>
              <a:t>13 registers, 85% alone, 77% in all 32 layers</a:t>
            </a:r>
          </a:p>
        </p:txBody>
      </p:sp>
      <p:sp>
        <p:nvSpPr>
          <p:cNvPr id="7" name="ds-card-1"/>
          <p:cNvSpPr/>
          <p:nvPr/>
        </p:nvSpPr>
        <p:spPr>
          <a:xfrm>
            <a:off x="6446520" y="2084832"/>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6248" y="2157984"/>
            <a:ext cx="2011680" cy="256032"/>
          </a:xfrm>
          <a:prstGeom prst="rect">
            <a:avLst/>
          </a:prstGeom>
          <a:noFill/>
        </p:spPr>
        <p:txBody>
          <a:bodyPr wrap="square" lIns="0" rIns="0" tIns="0" bIns="0" anchor="t">
            <a:spAutoFit/>
          </a:bodyPr>
          <a:lstStyle/>
          <a:p>
            <a:pPr algn="l"/>
            <a:r>
              <a:rPr sz="1200" b="1" i="0">
                <a:solidFill>
                  <a:srgbClr val="1B2630"/>
                </a:solidFill>
                <a:latin typeface="Open Sans"/>
              </a:rPr>
              <a:t>GCC's registers</a:t>
            </a:r>
          </a:p>
        </p:txBody>
      </p:sp>
      <p:sp>
        <p:nvSpPr>
          <p:cNvPr id="9" name="TextBox 8"/>
          <p:cNvSpPr txBox="1"/>
          <p:nvPr/>
        </p:nvSpPr>
        <p:spPr>
          <a:xfrm>
            <a:off x="6556248" y="2432304"/>
            <a:ext cx="2011680" cy="594360"/>
          </a:xfrm>
          <a:prstGeom prst="rect">
            <a:avLst/>
          </a:prstGeom>
          <a:noFill/>
        </p:spPr>
        <p:txBody>
          <a:bodyPr wrap="square" lIns="0" rIns="0" tIns="0" bIns="0" anchor="t">
            <a:spAutoFit/>
          </a:bodyPr>
          <a:lstStyle/>
          <a:p>
            <a:pPr algn="l"/>
            <a:r>
              <a:rPr sz="1000" b="0" i="0">
                <a:solidFill>
                  <a:srgbClr val="5A6875"/>
                </a:solidFill>
                <a:latin typeface="Open Sans"/>
              </a:rPr>
              <a:t>clean at 13, 11 copies per tap at 15 (2×6), spills at 16 (4×3: 49%)</a:t>
            </a:r>
          </a:p>
        </p:txBody>
      </p:sp>
      <p:sp>
        <p:nvSpPr>
          <p:cNvPr id="10" name="ds-card-2"/>
          <p:cNvSpPr/>
          <p:nvPr/>
        </p:nvSpPr>
        <p:spPr>
          <a:xfrm>
            <a:off x="6446520" y="3163824"/>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3236976"/>
            <a:ext cx="2011680" cy="256032"/>
          </a:xfrm>
          <a:prstGeom prst="rect">
            <a:avLst/>
          </a:prstGeom>
          <a:noFill/>
        </p:spPr>
        <p:txBody>
          <a:bodyPr wrap="square" lIns="0" rIns="0" tIns="0" bIns="0" anchor="t">
            <a:spAutoFit/>
          </a:bodyPr>
          <a:lstStyle/>
          <a:p>
            <a:pPr algn="l"/>
            <a:r>
              <a:rPr sz="1200" b="1" i="0">
                <a:solidFill>
                  <a:srgbClr val="1B2630"/>
                </a:solidFill>
                <a:latin typeface="Open Sans"/>
              </a:rPr>
              <a:t>Unroll, pipeline</a:t>
            </a:r>
          </a:p>
        </p:txBody>
      </p:sp>
      <p:sp>
        <p:nvSpPr>
          <p:cNvPr id="12" name="TextBox 11"/>
          <p:cNvSpPr txBox="1"/>
          <p:nvPr/>
        </p:nvSpPr>
        <p:spPr>
          <a:xfrm>
            <a:off x="6556248" y="3511296"/>
            <a:ext cx="2011680" cy="594360"/>
          </a:xfrm>
          <a:prstGeom prst="rect">
            <a:avLst/>
          </a:prstGeom>
          <a:noFill/>
        </p:spPr>
        <p:txBody>
          <a:bodyPr wrap="square" lIns="0" rIns="0" tIns="0" bIns="0" anchor="t">
            <a:spAutoFit/>
          </a:bodyPr>
          <a:lstStyle/>
          <a:p>
            <a:pPr algn="l"/>
            <a:r>
              <a:rPr sz="1000" b="0" i="0">
                <a:solidFill>
                  <a:srgbClr val="5A6875"/>
                </a:solidFill>
                <a:latin typeface="Open Sans"/>
              </a:rPr>
              <a:t>lost: uop cache overflow, spills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Benchmarked like Assignment 2: FLOPs/cycle vs k</a:t>
            </a:r>
          </a:p>
        </p:txBody>
      </p:sp>
      <p:pic>
        <p:nvPicPr>
          <p:cNvPr id="3" name="Picture 2" descr="ukr_sweep_nosilu_34_intrinsics.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457200" y="3931920"/>
            <a:ext cx="5486400" cy="274320"/>
          </a:xfrm>
          <a:prstGeom prst="rect">
            <a:avLst/>
          </a:prstGeom>
          <a:noFill/>
        </p:spPr>
        <p:txBody>
          <a:bodyPr wrap="square" lIns="0" rIns="0" tIns="0" bIns="0" anchor="t">
            <a:spAutoFit/>
          </a:bodyPr>
          <a:lstStyle/>
          <a:p>
            <a:pPr algn="l"/>
            <a:r>
              <a:rPr sz="1000" b="0" i="0">
                <a:solidFill>
                  <a:srgbClr val="5A6875"/>
                </a:solidFill>
                <a:latin typeface="Open Sans"/>
              </a:rPr>
              <a:t>SiLU off, cycles = time × 3.4 GHz, as in A2. 3 runs, every point checked (576 pass).</a:t>
            </a:r>
          </a:p>
        </p:txBody>
      </p:sp>
      <p:sp>
        <p:nvSpPr>
          <p:cNvPr id="5" name="TextBox 4"/>
          <p:cNvSpPr txBox="1"/>
          <p:nvPr/>
        </p:nvSpPr>
        <p:spPr>
          <a:xfrm>
            <a:off x="6172200" y="960120"/>
            <a:ext cx="2514600" cy="548640"/>
          </a:xfrm>
          <a:prstGeom prst="rect">
            <a:avLst/>
          </a:prstGeom>
          <a:noFill/>
        </p:spPr>
        <p:txBody>
          <a:bodyPr wrap="square" lIns="0" rIns="0" tIns="0" bIns="0" anchor="t">
            <a:spAutoFit/>
          </a:bodyPr>
          <a:lstStyle/>
          <a:p>
            <a:pPr algn="l"/>
            <a:r>
              <a:rPr sz="3000" b="1" i="0">
                <a:solidFill>
                  <a:srgbClr val="BB0027"/>
                </a:solidFill>
                <a:latin typeface="Open Sans"/>
              </a:rPr>
              <a:t>83–89%</a:t>
            </a:r>
          </a:p>
        </p:txBody>
      </p:sp>
      <p:sp>
        <p:nvSpPr>
          <p:cNvPr id="6" name="TextBox 5"/>
          <p:cNvSpPr txBox="1"/>
          <p:nvPr/>
        </p:nvSpPr>
        <p:spPr>
          <a:xfrm>
            <a:off x="6172200" y="1527048"/>
            <a:ext cx="2514600" cy="548640"/>
          </a:xfrm>
          <a:prstGeom prst="rect">
            <a:avLst/>
          </a:prstGeom>
          <a:noFill/>
        </p:spPr>
        <p:txBody>
          <a:bodyPr wrap="square" lIns="0" rIns="0" tIns="0" bIns="0" anchor="t">
            <a:spAutoFit/>
          </a:bodyPr>
          <a:lstStyle/>
          <a:p>
            <a:pPr algn="l"/>
            <a:r>
              <a:rPr sz="1200" b="0" i="0">
                <a:solidFill>
                  <a:srgbClr val="5A6875"/>
                </a:solidFill>
                <a:latin typeface="Open Sans"/>
              </a:rPr>
              <a:t>2×5 (v2's tile): 27–28.5 FLOPs/cycle, ~93 GFLOP/s on one core</a:t>
            </a:r>
          </a:p>
        </p:txBody>
      </p:sp>
      <p:sp>
        <p:nvSpPr>
          <p:cNvPr id="7" name="TextBox 6"/>
          <p:cNvSpPr txBox="1"/>
          <p:nvPr/>
        </p:nvSpPr>
        <p:spPr>
          <a:xfrm>
            <a:off x="6172200" y="2011680"/>
            <a:ext cx="2514600" cy="548640"/>
          </a:xfrm>
          <a:prstGeom prst="rect">
            <a:avLst/>
          </a:prstGeom>
          <a:noFill/>
        </p:spPr>
        <p:txBody>
          <a:bodyPr wrap="square" lIns="0" rIns="0" tIns="0" bIns="0" anchor="t">
            <a:spAutoFit/>
          </a:bodyPr>
          <a:lstStyle/>
          <a:p>
            <a:pPr algn="l"/>
            <a:r>
              <a:rPr sz="3000" b="1" i="0">
                <a:solidFill>
                  <a:srgbClr val="6B7782"/>
                </a:solidFill>
                <a:latin typeface="Open Sans"/>
              </a:rPr>
              <a:t>80–83%</a:t>
            </a:r>
          </a:p>
        </p:txBody>
      </p:sp>
      <p:sp>
        <p:nvSpPr>
          <p:cNvPr id="8" name="TextBox 7"/>
          <p:cNvSpPr txBox="1"/>
          <p:nvPr/>
        </p:nvSpPr>
        <p:spPr>
          <a:xfrm>
            <a:off x="6172200" y="2578608"/>
            <a:ext cx="2514600" cy="548640"/>
          </a:xfrm>
          <a:prstGeom prst="rect">
            <a:avLst/>
          </a:prstGeom>
          <a:noFill/>
        </p:spPr>
        <p:txBody>
          <a:bodyPr wrap="square" lIns="0" rIns="0" tIns="0" bIns="0" anchor="t">
            <a:spAutoFit/>
          </a:bodyPr>
          <a:lstStyle/>
          <a:p>
            <a:pPr algn="l"/>
            <a:r>
              <a:rPr sz="1200" b="0" i="0">
                <a:solidFill>
                  <a:srgbClr val="5A6875"/>
                </a:solidFill>
                <a:latin typeface="Open Sans"/>
              </a:rPr>
              <a:t>2×6: GCC adds register copies at 15 live registers</a:t>
            </a:r>
          </a:p>
        </p:txBody>
      </p:sp>
      <p:sp>
        <p:nvSpPr>
          <p:cNvPr id="9" name="TextBox 8"/>
          <p:cNvSpPr txBox="1"/>
          <p:nvPr/>
        </p:nvSpPr>
        <p:spPr>
          <a:xfrm>
            <a:off x="6172200" y="3063240"/>
            <a:ext cx="2514600" cy="548640"/>
          </a:xfrm>
          <a:prstGeom prst="rect">
            <a:avLst/>
          </a:prstGeom>
          <a:noFill/>
        </p:spPr>
        <p:txBody>
          <a:bodyPr wrap="square" lIns="0" rIns="0" tIns="0" bIns="0" anchor="t">
            <a:spAutoFit/>
          </a:bodyPr>
          <a:lstStyle/>
          <a:p>
            <a:pPr algn="l"/>
            <a:r>
              <a:rPr sz="3000" b="1" i="0">
                <a:solidFill>
                  <a:srgbClr val="B7731A"/>
                </a:solidFill>
                <a:latin typeface="Open Sans"/>
              </a:rPr>
              <a:t>k ≈ 500</a:t>
            </a:r>
          </a:p>
        </p:txBody>
      </p:sp>
      <p:sp>
        <p:nvSpPr>
          <p:cNvPr id="10" name="TextBox 9"/>
          <p:cNvSpPr txBox="1"/>
          <p:nvPr/>
        </p:nvSpPr>
        <p:spPr>
          <a:xfrm>
            <a:off x="6172200" y="3630168"/>
            <a:ext cx="2514600" cy="548640"/>
          </a:xfrm>
          <a:prstGeom prst="rect">
            <a:avLst/>
          </a:prstGeom>
          <a:noFill/>
        </p:spPr>
        <p:txBody>
          <a:bodyPr wrap="square" lIns="0" rIns="0" tIns="0" bIns="0" anchor="t">
            <a:spAutoFit/>
          </a:bodyPr>
          <a:lstStyle/>
          <a:p>
            <a:pPr algn="l"/>
            <a:r>
              <a:rPr sz="1200" b="0" i="0">
                <a:solidFill>
                  <a:srgbClr val="5A6875"/>
                </a:solidFill>
                <a:latin typeface="Open Sans"/>
              </a:rPr>
              <a:t>L1 dip: 2×5 weights pass 32 KB, like k ≈ 315 in A2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accumulators lost to 10: GCC's register copies</a:t>
            </a:r>
          </a:p>
        </p:txBody>
      </p:sp>
      <p:graphicFrame>
        <p:nvGraphicFramePr>
          <p:cNvPr id="3" name="Chart 2"/>
          <p:cNvGraphicFramePr>
            <a:graphicFrameLocks noGrp="1"/>
          </p:cNvGraphicFramePr>
          <p:nvPr/>
        </p:nvGraphicFramePr>
        <p:xfrm>
          <a:off x="457200" y="1005840"/>
          <a:ext cx="4023360" cy="3200400"/>
        </p:xfrm>
        <a:graphic>
          <a:graphicData uri="http://schemas.openxmlformats.org/drawingml/2006/chart">
            <c:chart xmlns:c="http://schemas.openxmlformats.org/drawingml/2006/chart" r:id="rId3"/>
          </a:graphicData>
        </a:graphic>
      </p:graphicFrame>
      <p:graphicFrame>
        <p:nvGraphicFramePr>
          <p:cNvPr id="4" name="Table 3"/>
          <p:cNvGraphicFramePr>
            <a:graphicFrameLocks noGrp="1"/>
          </p:cNvGraphicFramePr>
          <p:nvPr/>
        </p:nvGraphicFramePr>
        <p:xfrm>
          <a:off x="4754880" y="1051560"/>
          <a:ext cx="3931920" cy="1645920"/>
        </p:xfrm>
        <a:graphic>
          <a:graphicData uri="http://schemas.openxmlformats.org/drawingml/2006/table">
            <a:tbl>
              <a:tblPr firstRow="1" bandRow="1">
                <a:tableStyleId>{5C22544A-7EE6-4342-B048-85BDC9FD1C3A}</a:tableStyleId>
              </a:tblPr>
              <a:tblGrid>
                <a:gridCol w="2286000"/>
                <a:gridCol w="822960"/>
                <a:gridCol w="822960"/>
              </a:tblGrid>
              <a:tr h="329184">
                <a:tc>
                  <a:txBody>
                    <a:bodyPr/>
                    <a:lstStyle/>
                    <a:p/>
                  </a:txBody>
                  <a:tcPr>
                    <a:solidFill>
                      <a:srgbClr val="F1F3F5"/>
                    </a:solidFill>
                  </a:tcPr>
                </a:tc>
                <a:tc>
                  <a:txBody>
                    <a:bodyPr/>
                    <a:lstStyle/>
                    <a:p>
                      <a:r>
                        <a:rPr sz="1100" b="1">
                          <a:solidFill>
                            <a:srgbClr val="1B2630"/>
                          </a:solidFill>
                          <a:latin typeface="Open Sans"/>
                        </a:rPr>
                        <a:t>2×5</a:t>
                      </a:r>
                    </a:p>
                  </a:txBody>
                  <a:tcPr>
                    <a:solidFill>
                      <a:srgbClr val="F1F3F5"/>
                    </a:solidFill>
                  </a:tcPr>
                </a:tc>
                <a:tc>
                  <a:txBody>
                    <a:bodyPr/>
                    <a:lstStyle/>
                    <a:p>
                      <a:r>
                        <a:rPr sz="1100" b="1">
                          <a:solidFill>
                            <a:srgbClr val="1B2630"/>
                          </a:solidFill>
                          <a:latin typeface="Open Sans"/>
                        </a:rPr>
                        <a:t>2×6</a:t>
                      </a:r>
                    </a:p>
                  </a:txBody>
                  <a:tcPr>
                    <a:solidFill>
                      <a:srgbClr val="F1F3F5"/>
                    </a:solidFill>
                  </a:tcPr>
                </a:tc>
              </a:tr>
              <a:tr h="329184">
                <a:tc>
                  <a:txBody>
                    <a:bodyPr/>
                    <a:lstStyle/>
                    <a:p>
                      <a:r>
                        <a:rPr sz="1100" b="0">
                          <a:solidFill>
                            <a:srgbClr val="1B2630"/>
                          </a:solidFill>
                          <a:latin typeface="Open Sans"/>
                        </a:rPr>
                        <a:t>Accumulators</a:t>
                      </a:r>
                    </a:p>
                  </a:txBody>
                  <a:tcPr>
                    <a:solidFill>
                      <a:srgbClr val="FFFFFF"/>
                    </a:solidFill>
                  </a:tcPr>
                </a:tc>
                <a:tc>
                  <a:txBody>
                    <a:bodyPr/>
                    <a:lstStyle/>
                    <a:p>
                      <a:r>
                        <a:rPr sz="1100" b="0">
                          <a:solidFill>
                            <a:srgbClr val="1B2630"/>
                          </a:solidFill>
                          <a:latin typeface="Open Sans"/>
                        </a:rPr>
                        <a:t>10</a:t>
                      </a:r>
                    </a:p>
                  </a:txBody>
                  <a:tcPr>
                    <a:solidFill>
                      <a:srgbClr val="FFFFFF"/>
                    </a:solidFill>
                  </a:tcPr>
                </a:tc>
                <a:tc>
                  <a:txBody>
                    <a:bodyPr/>
                    <a:lstStyle/>
                    <a:p>
                      <a:r>
                        <a:rPr sz="1100" b="0">
                          <a:solidFill>
                            <a:srgbClr val="1B2630"/>
                          </a:solidFill>
                          <a:latin typeface="Open Sans"/>
                        </a:rPr>
                        <a:t>12</a:t>
                      </a:r>
                    </a:p>
                  </a:txBody>
                  <a:tcPr>
                    <a:solidFill>
                      <a:srgbClr val="FFFFFF"/>
                    </a:solidFill>
                  </a:tcPr>
                </a:tc>
              </a:tr>
              <a:tr h="329184">
                <a:tc>
                  <a:txBody>
                    <a:bodyPr/>
                    <a:lstStyle/>
                    <a:p>
                      <a:r>
                        <a:rPr sz="1100" b="0">
                          <a:solidFill>
                            <a:srgbClr val="1B2630"/>
                          </a:solidFill>
                          <a:latin typeface="Open Sans"/>
                        </a:rPr>
                        <a:t>Registers used (of 16)</a:t>
                      </a:r>
                    </a:p>
                  </a:txBody>
                  <a:tcPr>
                    <a:solidFill>
                      <a:srgbClr val="FFFFFF"/>
                    </a:solidFill>
                  </a:tcPr>
                </a:tc>
                <a:tc>
                  <a:txBody>
                    <a:bodyPr/>
                    <a:lstStyle/>
                    <a:p>
                      <a:r>
                        <a:rPr sz="1100" b="0">
                          <a:solidFill>
                            <a:srgbClr val="1B2630"/>
                          </a:solidFill>
                          <a:latin typeface="Open Sans"/>
                        </a:rPr>
                        <a:t>13</a:t>
                      </a:r>
                    </a:p>
                  </a:txBody>
                  <a:tcPr>
                    <a:solidFill>
                      <a:srgbClr val="FFFFFF"/>
                    </a:solidFill>
                  </a:tcPr>
                </a:tc>
                <a:tc>
                  <a:txBody>
                    <a:bodyPr/>
                    <a:lstStyle/>
                    <a:p>
                      <a:r>
                        <a:rPr sz="1100" b="0">
                          <a:solidFill>
                            <a:srgbClr val="1B2630"/>
                          </a:solidFill>
                          <a:latin typeface="Open Sans"/>
                        </a:rPr>
                        <a:t>15</a:t>
                      </a:r>
                    </a:p>
                  </a:txBody>
                  <a:tcPr>
                    <a:solidFill>
                      <a:srgbClr val="FFFFFF"/>
                    </a:solidFill>
                  </a:tcPr>
                </a:tc>
              </a:tr>
              <a:tr h="329184">
                <a:tc>
                  <a:txBody>
                    <a:bodyPr/>
                    <a:lstStyle/>
                    <a:p>
                      <a:r>
                        <a:rPr sz="1100" b="0">
                          <a:solidFill>
                            <a:srgbClr val="1B2630"/>
                          </a:solidFill>
                          <a:latin typeface="Open Sans"/>
                        </a:rPr>
                        <a:t>Register copies per tap (GCC)</a:t>
                      </a:r>
                    </a:p>
                  </a:txBody>
                  <a:tcPr>
                    <a:solidFill>
                      <a:srgbClr val="F8E5E9"/>
                    </a:solidFill>
                  </a:tcPr>
                </a:tc>
                <a:tc>
                  <a:txBody>
                    <a:bodyPr/>
                    <a:lstStyle/>
                    <a:p>
                      <a:r>
                        <a:rPr sz="1100" b="0">
                          <a:solidFill>
                            <a:srgbClr val="1B2630"/>
                          </a:solidFill>
                          <a:latin typeface="Open Sans"/>
                        </a:rPr>
                        <a:t>2</a:t>
                      </a:r>
                    </a:p>
                  </a:txBody>
                  <a:tcPr>
                    <a:solidFill>
                      <a:srgbClr val="F8E5E9"/>
                    </a:solidFill>
                  </a:tcPr>
                </a:tc>
                <a:tc>
                  <a:txBody>
                    <a:bodyPr/>
                    <a:lstStyle/>
                    <a:p>
                      <a:r>
                        <a:rPr sz="1100" b="0">
                          <a:solidFill>
                            <a:srgbClr val="1B2630"/>
                          </a:solidFill>
                          <a:latin typeface="Open Sans"/>
                        </a:rPr>
                        <a:t>11</a:t>
                      </a:r>
                    </a:p>
                  </a:txBody>
                  <a:tcPr>
                    <a:solidFill>
                      <a:srgbClr val="F8E5E9"/>
                    </a:solidFill>
                  </a:tcPr>
                </a:tc>
              </a:tr>
              <a:tr h="329184">
                <a:tc>
                  <a:txBody>
                    <a:bodyPr/>
                    <a:lstStyle/>
                    <a:p>
                      <a:r>
                        <a:rPr sz="1100" b="0">
                          <a:solidFill>
                            <a:srgbClr val="1B2630"/>
                          </a:solidFill>
                          <a:latin typeface="Open Sans"/>
                        </a:rPr>
                        <a:t>Spills</a:t>
                      </a:r>
                    </a:p>
                  </a:txBody>
                  <a:tcPr>
                    <a:solidFill>
                      <a:srgbClr val="FFFFFF"/>
                    </a:solidFill>
                  </a:tcPr>
                </a:tc>
                <a:tc>
                  <a:txBody>
                    <a:bodyPr/>
                    <a:lstStyle/>
                    <a:p>
                      <a:r>
                        <a:rPr sz="1100" b="0">
                          <a:solidFill>
                            <a:srgbClr val="1B2630"/>
                          </a:solidFill>
                          <a:latin typeface="Open Sans"/>
                        </a:rPr>
                        <a:t>0</a:t>
                      </a:r>
                    </a:p>
                  </a:txBody>
                  <a:tcPr>
                    <a:solidFill>
                      <a:srgbClr val="FFFFFF"/>
                    </a:solidFill>
                  </a:tcPr>
                </a:tc>
                <a:tc>
                  <a:txBody>
                    <a:bodyPr/>
                    <a:lstStyle/>
                    <a:p>
                      <a:r>
                        <a:rPr sz="1100" b="0">
                          <a:solidFill>
                            <a:srgbClr val="1B2630"/>
                          </a:solidFill>
                          <a:latin typeface="Open Sans"/>
                        </a:rPr>
                        <a:t>0</a:t>
                      </a:r>
                    </a:p>
                  </a:txBody>
                  <a:tcPr>
                    <a:solidFill>
                      <a:srgbClr val="FFFFFF"/>
                    </a:solidFill>
                  </a:tcPr>
                </a:tc>
              </a:tr>
            </a:tbl>
          </a:graphicData>
        </a:graphic>
      </p:graphicFrame>
      <p:sp>
        <p:nvSpPr>
          <p:cNvPr id="5" name="TextBox 4"/>
          <p:cNvSpPr txBox="1"/>
          <p:nvPr/>
        </p:nvSpPr>
        <p:spPr>
          <a:xfrm>
            <a:off x="4754880" y="2834640"/>
            <a:ext cx="3931920" cy="731520"/>
          </a:xfrm>
          <a:prstGeom prst="rect">
            <a:avLst/>
          </a:prstGeom>
          <a:noFill/>
        </p:spPr>
        <p:txBody>
          <a:bodyPr wrap="square" lIns="0" rIns="0" tIns="0" bIns="0" anchor="t">
            <a:spAutoFit/>
          </a:bodyPr>
          <a:lstStyle/>
          <a:p>
            <a:pPr algn="l"/>
            <a:r>
              <a:rPr sz="1150" b="1" i="0">
                <a:solidFill>
                  <a:srgbClr val="1B2630"/>
                </a:solidFill>
                <a:latin typeface="Open Sans"/>
              </a:rPr>
              <a:t>Expected: </a:t>
            </a:r>
            <a:r>
              <a:rPr sz="1150" b="0" i="0">
                <a:solidFill>
                  <a:srgbClr val="5A6875"/>
                </a:solidFill>
                <a:latin typeface="Open Sans"/>
              </a:rPr>
              <a:t>12 chains ≥ 10 chains, so 2×6 at least as fast.</a:t>
            </a:r>
          </a:p>
          <a:p>
            <a:pPr algn="l">
              <a:spcBef>
                <a:spcPts val="600"/>
              </a:spcBef>
            </a:pPr>
            <a:r>
              <a:rPr sz="1150" b="1" i="0">
                <a:solidFill>
                  <a:srgbClr val="1B2630"/>
                </a:solidFill>
                <a:latin typeface="Open Sans"/>
              </a:rPr>
              <a:t>Measured: </a:t>
            </a:r>
            <a:r>
              <a:rPr sz="1150" b="0" i="0">
                <a:solidFill>
                  <a:srgbClr val="5A6875"/>
                </a:solidFill>
                <a:latin typeface="Open Sans"/>
              </a:rPr>
              <a:t>GCC's extra copies take issue slots from the FMAs; 2×6 loses alone and in layers.</a:t>
            </a:r>
          </a:p>
        </p:txBody>
      </p:sp>
      <p:sp>
        <p:nvSpPr>
          <p:cNvPr id="6" name="TextBox 5"/>
          <p:cNvSpPr txBox="1"/>
          <p:nvPr/>
        </p:nvSpPr>
        <p:spPr>
          <a:xfrm>
            <a:off x="4754880" y="3703320"/>
            <a:ext cx="3931920" cy="457200"/>
          </a:xfrm>
          <a:prstGeom prst="rect">
            <a:avLst/>
          </a:prstGeom>
          <a:noFill/>
        </p:spPr>
        <p:txBody>
          <a:bodyPr wrap="square" lIns="0" rIns="0" tIns="0" bIns="0" anchor="t">
            <a:spAutoFit/>
          </a:bodyPr>
          <a:lstStyle/>
          <a:p>
            <a:pPr algn="l"/>
            <a:r>
              <a:rPr sz="1300" b="1" i="1">
                <a:solidFill>
                  <a:srgbClr val="BB0027"/>
                </a:solidFill>
                <a:latin typeface="Open Sans"/>
              </a:rPr>
              <a:t>With intrinsics, pick the tile that leaves the compiler room.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1.24× faster than OpenCV on all 32 layers</a:t>
            </a:r>
          </a:p>
        </p:txBody>
      </p:sp>
      <p:graphicFrame>
        <p:nvGraphicFramePr>
          <p:cNvPr id="3" name="Chart 2"/>
          <p:cNvGraphicFramePr>
            <a:graphicFrameLocks noGrp="1"/>
          </p:cNvGraphicFramePr>
          <p:nvPr/>
        </p:nvGraphicFramePr>
        <p:xfrm>
          <a:off x="457200" y="1005840"/>
          <a:ext cx="5120640" cy="3108960"/>
        </p:xfrm>
        <a:graphic>
          <a:graphicData uri="http://schemas.openxmlformats.org/drawingml/2006/chart">
            <c:chart xmlns:c="http://schemas.openxmlformats.org/drawingml/2006/chart" r:id="rId3"/>
          </a:graphicData>
        </a:graphic>
      </p:graphicFrame>
      <p:sp>
        <p:nvSpPr>
          <p:cNvPr id="4" name="TextBox 3"/>
          <p:cNvSpPr txBox="1"/>
          <p:nvPr/>
        </p:nvSpPr>
        <p:spPr>
          <a:xfrm>
            <a:off x="5943600" y="1005840"/>
            <a:ext cx="2743200" cy="548640"/>
          </a:xfrm>
          <a:prstGeom prst="rect">
            <a:avLst/>
          </a:prstGeom>
          <a:noFill/>
        </p:spPr>
        <p:txBody>
          <a:bodyPr wrap="square" lIns="0" rIns="0" tIns="0" bIns="0" anchor="t">
            <a:spAutoFit/>
          </a:bodyPr>
          <a:lstStyle/>
          <a:p>
            <a:pPr algn="l"/>
            <a:r>
              <a:rPr sz="3000" b="1" i="0">
                <a:solidFill>
                  <a:srgbClr val="BB0027"/>
                </a:solidFill>
                <a:latin typeface="Open Sans"/>
              </a:rPr>
              <a:t>1.24×</a:t>
            </a:r>
          </a:p>
        </p:txBody>
      </p:sp>
      <p:sp>
        <p:nvSpPr>
          <p:cNvPr id="5" name="TextBox 4"/>
          <p:cNvSpPr txBox="1"/>
          <p:nvPr/>
        </p:nvSpPr>
        <p:spPr>
          <a:xfrm>
            <a:off x="5943600" y="1572768"/>
            <a:ext cx="2743200" cy="548640"/>
          </a:xfrm>
          <a:prstGeom prst="rect">
            <a:avLst/>
          </a:prstGeom>
          <a:noFill/>
        </p:spPr>
        <p:txBody>
          <a:bodyPr wrap="square" lIns="0" rIns="0" tIns="0" bIns="0" anchor="t">
            <a:spAutoFit/>
          </a:bodyPr>
          <a:lstStyle/>
          <a:p>
            <a:pPr algn="l"/>
            <a:r>
              <a:rPr sz="1200" b="0" i="0">
                <a:solidFill>
                  <a:srgbClr val="5A6875"/>
                </a:solidFill>
                <a:latin typeface="Open Sans"/>
              </a:rPr>
              <a:t>v2 vs OpenCV DNN, all 32 layers, 1 core</a:t>
            </a:r>
          </a:p>
        </p:txBody>
      </p:sp>
      <p:sp>
        <p:nvSpPr>
          <p:cNvPr id="6" name="TextBox 5"/>
          <p:cNvSpPr txBox="1"/>
          <p:nvPr/>
        </p:nvSpPr>
        <p:spPr>
          <a:xfrm>
            <a:off x="5943600" y="2057400"/>
            <a:ext cx="2743200" cy="548640"/>
          </a:xfrm>
          <a:prstGeom prst="rect">
            <a:avLst/>
          </a:prstGeom>
          <a:noFill/>
        </p:spPr>
        <p:txBody>
          <a:bodyPr wrap="square" lIns="0" rIns="0" tIns="0" bIns="0" anchor="t">
            <a:spAutoFit/>
          </a:bodyPr>
          <a:lstStyle/>
          <a:p>
            <a:pPr algn="l"/>
            <a:r>
              <a:rPr sz="3000" b="1" i="0">
                <a:solidFill>
                  <a:srgbClr val="6B7782"/>
                </a:solidFill>
                <a:latin typeface="Open Sans"/>
              </a:rPr>
              <a:t>77% vs 62%</a:t>
            </a:r>
          </a:p>
        </p:txBody>
      </p:sp>
      <p:sp>
        <p:nvSpPr>
          <p:cNvPr id="7" name="TextBox 6"/>
          <p:cNvSpPr txBox="1"/>
          <p:nvPr/>
        </p:nvSpPr>
        <p:spPr>
          <a:xfrm>
            <a:off x="5943600" y="2624328"/>
            <a:ext cx="2743200" cy="548640"/>
          </a:xfrm>
          <a:prstGeom prst="rect">
            <a:avLst/>
          </a:prstGeom>
          <a:noFill/>
        </p:spPr>
        <p:txBody>
          <a:bodyPr wrap="square" lIns="0" rIns="0" tIns="0" bIns="0" anchor="t">
            <a:spAutoFit/>
          </a:bodyPr>
          <a:lstStyle/>
          <a:p>
            <a:pPr algn="l"/>
            <a:r>
              <a:rPr sz="1200" b="0" i="0">
                <a:solidFill>
                  <a:srgbClr val="5A6875"/>
                </a:solidFill>
                <a:latin typeface="Open Sans"/>
              </a:rPr>
              <a:t>of peak: v2 vs OpenCV DNN</a:t>
            </a:r>
          </a:p>
        </p:txBody>
      </p:sp>
      <p:sp>
        <p:nvSpPr>
          <p:cNvPr id="8" name="TextBox 7"/>
          <p:cNvSpPr txBox="1"/>
          <p:nvPr/>
        </p:nvSpPr>
        <p:spPr>
          <a:xfrm>
            <a:off x="5943600" y="3154680"/>
            <a:ext cx="2743200" cy="1005840"/>
          </a:xfrm>
          <a:prstGeom prst="rect">
            <a:avLst/>
          </a:prstGeom>
          <a:noFill/>
        </p:spPr>
        <p:txBody>
          <a:bodyPr wrap="square" lIns="0" rIns="0" tIns="0" bIns="0" anchor="t">
            <a:spAutoFit/>
          </a:bodyPr>
          <a:lstStyle/>
          <a:p>
            <a:pPr algn="l"/>
            <a:r>
              <a:rPr sz="1150" b="0" i="1">
                <a:solidFill>
                  <a:srgbClr val="5A6875"/>
                </a:solidFill>
                <a:latin typeface="Open Sans"/>
              </a:rPr>
              <a:t>Next: cache blocking for C ≥ 128, then threads on 20 cores (v3: 13.5× on 20 cores).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same sweep with SiLU on</a:t>
            </a:r>
          </a:p>
        </p:txBody>
      </p:sp>
      <p:pic>
        <p:nvPicPr>
          <p:cNvPr id="3" name="Picture 2" descr="ukr_sweep_silu_34_intrinsics.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6172200" y="1005840"/>
            <a:ext cx="2514600" cy="3017520"/>
          </a:xfrm>
          <a:prstGeom prst="rect">
            <a:avLst/>
          </a:prstGeom>
          <a:noFill/>
        </p:spPr>
        <p:txBody>
          <a:bodyPr wrap="square" lIns="0" rIns="0" tIns="0" bIns="0" anchor="t">
            <a:spAutoFit/>
          </a:bodyPr>
          <a:lstStyle/>
          <a:p>
            <a:pPr algn="l"/>
            <a:r>
              <a:rPr sz="1150" b="1" i="0">
                <a:solidFill>
                  <a:srgbClr val="1B2630"/>
                </a:solidFill>
                <a:latin typeface="Open Sans"/>
              </a:rPr>
              <a:t>SiLU on: </a:t>
            </a:r>
            <a:r>
              <a:rPr sz="1150" b="0" i="0">
                <a:solidFill>
                  <a:srgbClr val="5A6875"/>
                </a:solidFill>
                <a:latin typeface="Open Sans"/>
              </a:rPr>
              <a:t>2×5 81.4% mean (C = 32–256), 2×6 about 3 points lower.</a:t>
            </a:r>
          </a:p>
          <a:p>
            <a:pPr algn="l">
              <a:spcBef>
                <a:spcPts val="600"/>
              </a:spcBef>
            </a:pPr>
            <a:r>
              <a:rPr sz="1150" b="1" i="0">
                <a:solidFill>
                  <a:srgbClr val="1B2630"/>
                </a:solidFill>
                <a:latin typeface="Open Sans"/>
              </a:rPr>
              <a:t>Cost: </a:t>
            </a:r>
            <a:r>
              <a:rPr sz="1150" b="0" i="0">
                <a:solidFill>
                  <a:srgbClr val="5A6875"/>
                </a:solidFill>
                <a:latin typeface="Open Sans"/>
              </a:rPr>
              <a:t>a fixed 160–290 cycles per call, 20% of the call at C = 16, about 4.5% at C = 64, nothing measurable from C = 128.</a:t>
            </a:r>
          </a:p>
        </p:txBody>
      </p:sp>
    </p:spTree>
  </p:cSld>
  <p:clrMapOvr>
    <a:masterClrMapping/>
  </p:clrMapOvr>
</p:sld>
</file>

<file path=ppt/theme/theme1.xml><?xml version="1.0" encoding="utf-8"?>
<a:theme xmlns:a="http://schemas.openxmlformats.org/drawingml/2006/main" xmlns:r="http://schemas.openxmlformats.org/officeDocument/2006/relationships" name="CMU PPT Theme">
  <a:themeElements>
    <a:clrScheme name="Custom 1">
      <a:dk1>
        <a:srgbClr val="000000"/>
      </a:dk1>
      <a:lt1>
        <a:srgbClr val="FFFFFF"/>
      </a:lt1>
      <a:dk2>
        <a:srgbClr val="75787B"/>
      </a:dk2>
      <a:lt2>
        <a:srgbClr val="C8C9C7"/>
      </a:lt2>
      <a:accent1>
        <a:srgbClr val="BB0000"/>
      </a:accent1>
      <a:accent2>
        <a:srgbClr val="75787B"/>
      </a:accent2>
      <a:accent3>
        <a:srgbClr val="00833C"/>
      </a:accent3>
      <a:accent4>
        <a:srgbClr val="F2A900"/>
      </a:accent4>
      <a:accent5>
        <a:srgbClr val="002C71"/>
      </a:accent5>
      <a:accent6>
        <a:srgbClr val="C8C9C7"/>
      </a:accent6>
      <a:hlink>
        <a:srgbClr val="BB0000"/>
      </a:hlink>
      <a:folHlink>
        <a:srgbClr val="82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