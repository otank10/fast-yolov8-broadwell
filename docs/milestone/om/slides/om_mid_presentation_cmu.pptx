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7"/>
    <p:sldId id="257" r:id="rId6"/>
    <p:sldId id="258" r:id="rId20"/>
    <p:sldId id="259" r:id="rId21"/>
    <p:sldId id="260" r:id="rId22"/>
    <p:sldId id="261" r:id="rId23"/>
    <p:sldId id="262" r:id="rId24"/>
    <p:sldId id="263" r:id="rId25"/>
    <p:sldId id="264" r:id="rId26"/>
    <p:sldId id="265" r:id="rId27"/>
    <p:sldId id="266" r:id="rId28"/>
    <p:sldId id="267" r:id="rId29"/>
  </p:sldIdLst>
  <p:sldSz cy="5143500" cx="9144000"/>
  <p:notesSz cx="6858000" cy="9144000"/>
  <p:embeddedFontLst>
    <p:embeddedFont>
      <p:font typeface="Helvetica Neue Light"/>
      <p:regular r:id="rId8"/>
      <p:bold r:id="rId9"/>
      <p:italic r:id="rId10"/>
      <p:boldItalic r:id="rId11"/>
    </p:embeddedFont>
    <p:embeddedFont>
      <p:font typeface="Open Sans Light"/>
      <p:regular r:id="rId12"/>
      <p:bold r:id="rId13"/>
      <p:italic r:id="rId14"/>
      <p:boldItalic r:id="rId15"/>
    </p:embeddedFont>
    <p:embeddedFont>
      <p:font typeface="Open Sans"/>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font" Target="fonts/HelveticaNeueLight-regular.fntdata"/><Relationship Id="rId9" Type="http://schemas.openxmlformats.org/officeDocument/2006/relationships/font" Target="fonts/HelveticaNeueLight-bold.fntdata"/><Relationship Id="rId10" Type="http://schemas.openxmlformats.org/officeDocument/2006/relationships/font" Target="fonts/HelveticaNeueLight-italic.fntdata"/><Relationship Id="rId11" Type="http://schemas.openxmlformats.org/officeDocument/2006/relationships/font" Target="fonts/HelveticaNeueLight-boldItalic.fntdata"/><Relationship Id="rId12" Type="http://schemas.openxmlformats.org/officeDocument/2006/relationships/font" Target="fonts/OpenSansLight-regular.fntdata"/><Relationship Id="rId13" Type="http://schemas.openxmlformats.org/officeDocument/2006/relationships/font" Target="fonts/OpenSansLight-bold.fntdata"/><Relationship Id="rId14" Type="http://schemas.openxmlformats.org/officeDocument/2006/relationships/font" Target="fonts/OpenSansLight-italic.fntdata"/><Relationship Id="rId15" Type="http://schemas.openxmlformats.org/officeDocument/2006/relationships/font" Target="fonts/OpenSansLight-boldItalic.fntdata"/><Relationship Id="rId16" Type="http://schemas.openxmlformats.org/officeDocument/2006/relationships/font" Target="fonts/OpenSans-regular.fntdata"/><Relationship Id="rId17" Type="http://schemas.openxmlformats.org/officeDocument/2006/relationships/font" Target="fonts/OpenSans-bold.fntdata"/><Relationship Id="rId18" Type="http://schemas.openxmlformats.org/officeDocument/2006/relationships/font" Target="fonts/OpenSans-italic.fntdata"/><Relationship Id="rId19" Type="http://schemas.openxmlformats.org/officeDocument/2006/relationships/font" Target="fonts/OpenSans-boldItalic.fntdata"/><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1B2630"/>
                </a:solidFill>
                <a:latin typeface="Open Sans"/>
              </a:rPr>
              <a:t>Microkernel alone vs accumulators (C = 64, SiLU off)</a:t>
            </a:r>
          </a:p>
        </c:rich>
      </c:tx>
      <c:layout/>
      <c:overlay val="0"/>
    </c:title>
    <c:autoTitleDeleted val="0"/>
    <c:plotArea>
      <c:barChart>
        <c:barDir val="col"/>
        <c:grouping val="clustered"/>
        <c:ser>
          <c:idx val="0"/>
          <c:order val="0"/>
          <c:tx>
            <c:strRef>
              <c:f>Sheet1!$B$1</c:f>
              <c:strCache>
                <c:ptCount val="1"/>
                <c:pt idx="0">
                  <c:v>% of peak</c:v>
                </c:pt>
              </c:strCache>
            </c:strRef>
          </c:tx>
          <c:spPr>
            <a:solidFill>
              <a:srgbClr val="0C6A87"/>
            </a:solidFill>
          </c:spPr>
          <c:cat>
            <c:strRef>
              <c:f>Sheet1!$A$2:$A$7</c:f>
              <c:strCache>
                <c:ptCount val="6"/>
                <c:pt idx="0">
                  <c:v>1×1 (1)</c:v>
                </c:pt>
                <c:pt idx="1">
                  <c:v>2×2 (4)</c:v>
                </c:pt>
                <c:pt idx="2">
                  <c:v>1×5 (5)</c:v>
                </c:pt>
                <c:pt idx="3">
                  <c:v>2×4 (8)</c:v>
                </c:pt>
                <c:pt idx="4">
                  <c:v>1×10 (10)</c:v>
                </c:pt>
                <c:pt idx="5">
                  <c:v>2×5 (10)</c:v>
                </c:pt>
              </c:strCache>
            </c:strRef>
          </c:cat>
          <c:val>
            <c:numRef>
              <c:f>Sheet1!$B$2:$B$7</c:f>
              <c:numCache>
                <c:formatCode>General</c:formatCode>
                <c:ptCount val="6"/>
                <c:pt idx="0">
                  <c:v>9.9</c:v>
                </c:pt>
                <c:pt idx="1">
                  <c:v>39.3</c:v>
                </c:pt>
                <c:pt idx="2">
                  <c:v>49.6</c:v>
                </c:pt>
                <c:pt idx="3">
                  <c:v>72.4</c:v>
                </c:pt>
                <c:pt idx="4">
                  <c:v>85.8</c:v>
                </c:pt>
                <c:pt idx="5">
                  <c:v>85.3</c:v>
                </c:pt>
              </c:numCache>
            </c:numRef>
          </c:val>
        </c:ser>
        <c:dLbls>
          <c:numFmt formatCode="0&quot;%&quot;" sourceLinked="0"/>
          <c:txPr>
            <a:bodyPr/>
            <a:lstStyle/>
            <a:p>
              <a:pPr>
                <a:defRPr sz="1100">
                  <a:solidFill>
                    <a:srgbClr val="1B2630"/>
                  </a:solidFill>
                  <a:latin typeface="Open Sans"/>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noFill/>
          </a:ln>
        </c:spPr>
        <c:txPr>
          <a:bodyPr/>
          <a:lstStyle/>
          <a:p>
            <a:pPr>
              <a:defRPr sz="1000">
                <a:solidFill>
                  <a:srgbClr val="5A6875"/>
                </a:solidFill>
                <a:latin typeface="Open Sans"/>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DDE3E7"/>
              </a:solidFill>
            </a:ln>
          </c:spPr>
        </c:majorGridlines>
        <c:numFmt formatCode="0&quot;%&quot;" sourceLinked="0"/>
        <c:majorTickMark val="out"/>
        <c:minorTickMark val="none"/>
        <c:tickLblPos val="nextTo"/>
        <c:spPr>
          <a:ln>
            <a:noFill/>
          </a:ln>
        </c:spPr>
        <c:txPr>
          <a:bodyPr/>
          <a:lstStyle/>
          <a:p>
            <a:pPr>
              <a:defRPr sz="1000">
                <a:solidFill>
                  <a:srgbClr val="5A6875"/>
                </a:solidFill>
                <a:latin typeface="Open Sans"/>
              </a:defRPr>
            </a:pPr>
          </a:p>
        </c:txPr>
        <c:crossAx val="-2068027336"/>
        <c:crosses val="autoZero"/>
        <c:majorUnit val="25.0"/>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1B2630"/>
                </a:solidFill>
                <a:latin typeface="Open Sans"/>
              </a:rPr>
              <a:t>% of peak: alone (C = 64) vs in layers</a:t>
            </a:r>
          </a:p>
        </c:rich>
      </c:tx>
      <c:layout/>
      <c:overlay val="0"/>
    </c:title>
    <c:autoTitleDeleted val="0"/>
    <c:plotArea>
      <c:barChart>
        <c:barDir val="col"/>
        <c:grouping val="clustered"/>
        <c:ser>
          <c:idx val="0"/>
          <c:order val="0"/>
          <c:tx>
            <c:strRef>
              <c:f>Sheet1!$B$1</c:f>
              <c:strCache>
                <c:ptCount val="1"/>
                <c:pt idx="0">
                  <c:v>alone</c:v>
                </c:pt>
              </c:strCache>
            </c:strRef>
          </c:tx>
          <c:spPr>
            <a:solidFill>
              <a:srgbClr val="0C6A87"/>
            </a:solidFill>
          </c:spPr>
          <c:cat>
            <c:strRef>
              <c:f>Sheet1!$A$2:$A$3</c:f>
              <c:strCache>
                <c:ptCount val="2"/>
                <c:pt idx="0">
                  <c:v>1×10 (10 acc)</c:v>
                </c:pt>
                <c:pt idx="1">
                  <c:v>2×5 (10 acc)</c:v>
                </c:pt>
              </c:strCache>
            </c:strRef>
          </c:cat>
          <c:val>
            <c:numRef>
              <c:f>Sheet1!$B$2:$B$3</c:f>
              <c:numCache>
                <c:formatCode>General</c:formatCode>
                <c:ptCount val="2"/>
                <c:pt idx="0">
                  <c:v>85.8</c:v>
                </c:pt>
                <c:pt idx="1">
                  <c:v>85.3</c:v>
                </c:pt>
              </c:numCache>
            </c:numRef>
          </c:val>
        </c:ser>
        <c:ser>
          <c:idx val="1"/>
          <c:order val="1"/>
          <c:tx>
            <c:strRef>
              <c:f>Sheet1!$C$1</c:f>
              <c:strCache>
                <c:ptCount val="1"/>
                <c:pt idx="0">
                  <c:v>in layers</c:v>
                </c:pt>
              </c:strCache>
            </c:strRef>
          </c:tx>
          <c:spPr>
            <a:solidFill>
              <a:srgbClr val="6B7782"/>
            </a:solidFill>
          </c:spPr>
          <c:cat>
            <c:strRef>
              <c:f>Sheet1!$A$2:$A$3</c:f>
              <c:strCache>
                <c:ptCount val="2"/>
                <c:pt idx="0">
                  <c:v>1×10 (10 acc)</c:v>
                </c:pt>
                <c:pt idx="1">
                  <c:v>2×5 (10 acc)</c:v>
                </c:pt>
              </c:strCache>
            </c:strRef>
          </c:cat>
          <c:val>
            <c:numRef>
              <c:f>Sheet1!$C$2:$C$3</c:f>
              <c:numCache>
                <c:formatCode>General</c:formatCode>
                <c:ptCount val="2"/>
                <c:pt idx="0">
                  <c:v>67.0</c:v>
                </c:pt>
                <c:pt idx="1">
                  <c:v>76.8</c:v>
                </c:pt>
              </c:numCache>
            </c:numRef>
          </c:val>
        </c:ser>
        <c:dLbls>
          <c:numFmt formatCode="0.0&quot;%&quot;" sourceLinked="0"/>
          <c:txPr>
            <a:bodyPr/>
            <a:lstStyle/>
            <a:p>
              <a:pPr>
                <a:defRPr sz="1100">
                  <a:solidFill>
                    <a:srgbClr val="1B2630"/>
                  </a:solidFill>
                  <a:latin typeface="Open Sans"/>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noFill/>
          </a:ln>
        </c:spPr>
        <c:txPr>
          <a:bodyPr/>
          <a:lstStyle/>
          <a:p>
            <a:pPr>
              <a:defRPr sz="1000">
                <a:solidFill>
                  <a:srgbClr val="5A6875"/>
                </a:solidFill>
                <a:latin typeface="Open Sans"/>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DDE3E7"/>
              </a:solidFill>
            </a:ln>
          </c:spPr>
        </c:majorGridlines>
        <c:numFmt formatCode="0&quot;%&quot;" sourceLinked="0"/>
        <c:majorTickMark val="out"/>
        <c:minorTickMark val="none"/>
        <c:tickLblPos val="nextTo"/>
        <c:spPr>
          <a:ln>
            <a:noFill/>
          </a:ln>
        </c:spPr>
        <c:txPr>
          <a:bodyPr/>
          <a:lstStyle/>
          <a:p>
            <a:pPr>
              <a:defRPr sz="1000">
                <a:solidFill>
                  <a:srgbClr val="5A6875"/>
                </a:solidFill>
                <a:latin typeface="Open Sans"/>
              </a:defRPr>
            </a:pPr>
          </a:p>
        </c:txPr>
        <c:crossAx val="-2068027336"/>
        <c:crosses val="autoZero"/>
        <c:majorUnit val="25.0"/>
      </c:valAx>
    </c:plotArea>
    <c:legend>
      <c:legendPos val="b"/>
      <c:overlay val="0"/>
      <c:txPr>
        <a:bodyPr/>
        <a:lstStyle/>
        <a:p>
          <a:pPr>
            <a:defRPr sz="1000">
              <a:latin typeface="Open Sans"/>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1B2630"/>
                </a:solidFill>
                <a:latin typeface="Open Sans"/>
              </a:rPr>
              <a:t>All 32 layers, 1 core, SiLU on: ms (lower is better)</a:t>
            </a:r>
          </a:p>
        </c:rich>
      </c:tx>
      <c:layout/>
      <c:overlay val="0"/>
    </c:title>
    <c:autoTitleDeleted val="0"/>
    <c:plotArea>
      <c:barChart>
        <c:barDir val="bar"/>
        <c:grouping val="clustered"/>
        <c:ser>
          <c:idx val="0"/>
          <c:order val="0"/>
          <c:tx>
            <c:strRef>
              <c:f>Sheet1!$B$1</c:f>
              <c:strCache>
                <c:ptCount val="1"/>
                <c:pt idx="0">
                  <c:v>ms</c:v>
                </c:pt>
              </c:strCache>
            </c:strRef>
          </c:tx>
          <c:spPr>
            <a:solidFill>
              <a:srgbClr val="6B7782"/>
            </a:solidFill>
          </c:spPr>
          <c:cat>
            <c:strRef>
              <c:f>Sheet1!$A$2:$A$3</c:f>
              <c:strCache>
                <c:ptCount val="2"/>
                <c:pt idx="0">
                  <c:v>v2 (2×5, intrinsics)</c:v>
                </c:pt>
                <c:pt idx="1">
                  <c:v>OpenCV DNN</c:v>
                </c:pt>
              </c:strCache>
            </c:strRef>
          </c:cat>
          <c:val>
            <c:numRef>
              <c:f>Sheet1!$B$2:$B$3</c:f>
              <c:numCache>
                <c:formatCode>General</c:formatCode>
                <c:ptCount val="2"/>
                <c:pt idx="0">
                  <c:v>69.5</c:v>
                </c:pt>
                <c:pt idx="1">
                  <c:v>86.4</c:v>
                </c:pt>
              </c:numCache>
            </c:numRef>
          </c:val>
        </c:ser>
        <c:dLbls>
          <c:numFmt formatCode="0.0&quot; ms&quot;" sourceLinked="0"/>
          <c:txPr>
            <a:bodyPr/>
            <a:lstStyle/>
            <a:p>
              <a:pPr>
                <a:defRPr sz="1100">
                  <a:solidFill>
                    <a:srgbClr val="1B2630"/>
                  </a:solidFill>
                  <a:latin typeface="Open Sans"/>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000">
                <a:solidFill>
                  <a:srgbClr val="5A6875"/>
                </a:solidFill>
                <a:latin typeface="Open Sans"/>
              </a:defRPr>
            </a:pPr>
          </a:p>
        </c:txPr>
        <c:crossAx val="-2113994440"/>
        <c:crosses val="autoZero"/>
        <c:auto val="1"/>
        <c:lblAlgn val="ctr"/>
        <c:lblOffset val="100"/>
        <c:noMultiLvlLbl val="0"/>
      </c:catAx>
      <c:valAx>
        <c:axId val="-2113994440"/>
        <c:scaling>
          <c:max val="100.0"/>
          <c:min val="0.0"/>
        </c:scaling>
        <c:delete val="0"/>
        <c:axPos val="b"/>
        <c:majorGridlines>
          <c:spPr>
            <a:ln>
              <a:solidFill>
                <a:srgbClr val="DDE3E7"/>
              </a:solidFill>
            </a:ln>
          </c:spPr>
        </c:majorGridlines>
        <c:majorTickMark val="out"/>
        <c:minorTickMark val="none"/>
        <c:tickLblPos val="nextTo"/>
        <c:spPr>
          <a:ln>
            <a:noFill/>
          </a:ln>
        </c:spPr>
        <c:txPr>
          <a:bodyPr/>
          <a:lstStyle/>
          <a:p>
            <a:pPr>
              <a:defRPr sz="1000">
                <a:solidFill>
                  <a:srgbClr val="5A6875"/>
                </a:solidFill>
                <a:latin typeface="Open Sans"/>
              </a:defRPr>
            </a:pPr>
          </a:p>
        </c:txPr>
        <c:crossAx val="-2068027336"/>
        <c:crosses val="autoZero"/>
        <c:majorUnit val="25.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2pPr>
            <a:lvl3pPr lvl="2"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3pPr>
            <a:lvl4pPr lvl="3"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4pPr>
            <a:lvl5pPr lvl="4"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5pPr>
            <a:lvl6pPr lvl="5"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6pPr>
            <a:lvl7pPr lvl="6"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7pPr>
            <a:lvl8pPr lvl="7"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8pPr>
            <a:lvl9pPr lvl="8"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2pPr>
            <a:lvl3pPr lvl="2"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3pPr>
            <a:lvl4pPr lvl="3"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4pPr>
            <a:lvl5pPr lvl="4"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5pPr>
            <a:lvl6pPr lvl="5"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6pPr>
            <a:lvl7pPr lvl="6"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7pPr>
            <a:lvl8pPr lvl="7"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8pPr>
            <a:lvl9pPr lvl="8"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1pPr>
            <a:lvl2pPr indent="-228600" lvl="1" marL="9144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2pPr>
            <a:lvl3pPr indent="-228600" lvl="2" marL="13716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3pPr>
            <a:lvl4pPr indent="-228600" lvl="3" marL="18288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4pPr>
            <a:lvl5pPr indent="-228600" lvl="4" marL="2286000" marR="0" rtl="0" algn="l">
              <a:spcBef>
                <a:spcPts val="360"/>
              </a:spcBef>
              <a:spcAft>
                <a:spcPts val="0"/>
              </a:spcAft>
              <a:buSzPts val="1400"/>
              <a:buNone/>
              <a:defRPr b="0" i="0" sz="1200" u="none" cap="none" strike="noStrike">
                <a:solidFill>
                  <a:schemeClr val="dk1"/>
                </a:solidFill>
                <a:latin typeface="Open Sans"/>
                <a:ea typeface="Open Sans"/>
                <a:cs typeface="Open Sans"/>
                <a:sym typeface="Open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2pPr>
            <a:lvl3pPr lvl="2"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3pPr>
            <a:lvl4pPr lvl="3"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4pPr>
            <a:lvl5pPr lvl="4"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5pPr>
            <a:lvl6pPr lvl="5"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6pPr>
            <a:lvl7pPr lvl="6"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7pPr>
            <a:lvl8pPr lvl="7"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8pPr>
            <a:lvl9pPr lvl="8" marR="0" rtl="0" algn="l">
              <a:spcBef>
                <a:spcPts val="0"/>
              </a:spcBef>
              <a:spcAft>
                <a:spcPts val="0"/>
              </a:spcAft>
              <a:buSzPts val="1400"/>
              <a:buNone/>
              <a:defRPr b="0" i="0" sz="2400" u="none" cap="none" strike="noStrike">
                <a:solidFill>
                  <a:schemeClr val="dk1"/>
                </a:solidFill>
                <a:latin typeface="Helvetica Neue Light"/>
                <a:ea typeface="Helvetica Neue Light"/>
                <a:cs typeface="Helvetica Neue Light"/>
                <a:sym typeface="Helvetica Neue Light"/>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Open Sans"/>
                <a:ea typeface="Open Sans"/>
                <a:cs typeface="Open Sans"/>
                <a:sym typeface="Open Sans"/>
              </a:rPr>
              <a:t>‹#›</a:t>
            </a:fld>
            <a:endParaRPr b="0" i="0" sz="1200" u="none" cap="none" strike="noStrike">
              <a:solidFill>
                <a:schemeClr val="dk1"/>
              </a:solidFill>
              <a:latin typeface="Open Sans"/>
              <a:ea typeface="Open Sans"/>
              <a:cs typeface="Open Sans"/>
              <a:sym typeface="Open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My kernel is the 3x3 stride-1 convolution: 32 layers, the C2f bottlenecks and the Detect head, two thirds of YOLOv8n's work. The story: it is the Assignment 2 kernel, I followed the same four steps, and the measurements chose the tile. The 2x5 microkernel alone: 85% of the 32 FLOPs/cycle peak; inside all 32 real layers: 77%, 1.24 times faster than OpenCV. Intrinsics only, no assembly. All percentages assume the core runs at 3.4 GHz, as in Assignment 2.</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Same machine as Assignment 2 and the same kernel. In A2, m was 5 rows of A broadcast, n was 8 doubles = 2 vectors of B. Here m is 5 output pixels, n is 16 output channels = 2 vectors of 8 floats, and k is input channels times the 9 taps of the 3x3 filter. 10 accumulators, 13 registers, exactly the A2 budget. Peak is 32 FLOPs per cycle because floats give 8 lanes instead of 4. 10 accumulators is the minimum (5 x 2); the 2x6 tile uses 12, two chains of slack.</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call computes the teal strip: one output row, 5 pixels wide, 16 output channels deep, 80 numbers. Each cell is 8 channels of one pixel, exactly one YMM register, so the strip is 10 accumulators. It reads a 3 by 7 window of the input across all C channels and 16 filters of 3 by 3 by C. Each step multiplies 2 weight vectors by 5 broadcast inputs, 10 FMAs, repeated k = C x 9 times, then bias, SiLU, store.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Answering the handout questions directly. (a) One call computes 80 outputs: 5 pixels of one output row times 16 output channels. (b) It needs 13 YMM registers out of the 16 that AVX2 gives on Broadwell: 10 accumulators, 2 weight vectors, 1 broadcast input. 10 accumulators is the minimum to hide FMA latency: 5 cycles latency times 2 FMA units. (c) Outputs: the 10 accumulators stay in registers for the whole C x 9 reduction. Inputs: the 2 weight registers hold 8 output channels each for one input channel and tap; the broadcast register holds one input value copied to all 8 lanes. Temporaries: none inside the loop; 3 registers stay free. We write intrinsics, so GCC assigns the physical registers; we checked GCC's output for v2 and it keeps all 13 in registers with no spills.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 Reuse. Each weight register is loaded once and used by 5 FMAs, one per pixel. Each broadcast input is used by 2 FMAs, one per output block. The single x register is reused 5 times per step, once per pixel, because each broadcast is consumed right away. Each accumulator is reused C x 9 times and written to memory once. So one step is 7 loads for 10 FMAs, which the 2 load ports handle with room to spare. (e) The code: initialize the accumulators with the bias, so the add is free. Then loop over input-channel blocks, the 3 by 3 taps, and the 8 input channels of the block; load 2 weight vectors, then for each of the 5 pixels broadcast one input and issue 2 FMAs. After the loop, apply SiLU in registers and store. The zero halo means no edge branches. GCC fully unrolls the inner 8 channels and 5 pixels, so the loop body is 80 FMAs, 40 broadcasts and 16 loads.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are the assumptions behind every number in the talk. The important one: cycles are wall time times 3.4 GHz, the CPU's maximum turbo, exactly the Assignment 2 convention. The core can never run faster than that, so the percentages can only understate.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Step 1: every output is an independent dot product; the only chain is the reduction. Step 2: 5-cycle latency times 2 FMAs per cycle means 10 independent accumulators, 80 outputs in flight. The chart: 1 accumulator is 10%, each adds about 10 points. Step 3: 2x5 gives 10 accumulators in 13 registers, 7 loads per 10 FMAs, and 5 divides 160, 80, 40 and 20. Step 4: benchmark the kernel alone exactly like Assignment 2.</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kernel I built, all intrinsics, same arithmetic, same layout. Filled dots: the microkernel alone; hollow: all 32 layers. 2x5 is the best in the layers: 85% alone, 77% in all 32 layers. Bigger tiles lose because of how GCC allocates registers: at 15 live registers (2x6) it adds 11 register copies per tap, found by reading GCC's generated assembly; at 16 (4x3) it spills accumulators to memory and drops to 49%. Unrolling and software pipelining made it worse: full unrolling overflowed the uop cache and partial unrolling made GCC spill.</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Assignment 2 figure for my kernel: FLOPs per cycle against the reduction length k. Cycles are time times 3.4 GHz, the max turbo, exactly as in Assignment 2, so this can only understate. 2x5 holds 27 to 28.5 FLOPs per cycle, 83 to 89 percent of peak; 2x6 sits about 3 points lower, 80 to 83, because of GCC's register copies. The dip near k = 500 is the 2x5 weights leaving L1, like k = 315 in A2. Cross-checked: the hardware FP-instruction counter matches our FLOP count exactly.</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Two tiles with the same 10 accumulators: 1x10, one block of 8 channels times 10 pixels, and 2x5. Alone they tie: 85.8 and 85.3 percent. Inside real layers 2x5 wins by 10 points: 76.8 against 67.0. Alone, everything sits in L1, so 1x10's 11 loads per 10 FMAs still fit through the 2 load ports. In a layer the inputs and weights stream from L2, and because each 1x10 call covers only 8 output channels, the layer reads every input row twice as often as with 2x5. So loads become the limit. 2x5 needs only 7 loads per 10 FMAs, so it has room to spare. Lesson: pick the tile in the real layer, not only alone.</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Total time for all 32 stride-1 layers, one core, same model and image. OpenCV DNN takes 86.4 milliseconds. Our kernel, v2, the 2x5 tile written with intrinsics, takes 69.5: 1.24 times faster, at 77 percent of peak against OpenCV's 62. Next: cache blocking for the layers with 128 or more input channels, and threading across 20 cores.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With the fused SiLU on, the curves sit about 4 to 5 points lower: SiLU costs a fixed 160 to 290 cycles per call, a big share at small k and almost nothing from C = 128 up.</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20" name="Shape 20"/>
        <p:cNvGrpSpPr/>
        <p:nvPr/>
      </p:nvGrpSpPr>
      <p:grpSpPr>
        <a:xfrm>
          <a:off x="0" y="0"/>
          <a:ext cx="0" cy="0"/>
          <a:chOff x="0" y="0"/>
          <a:chExt cx="0" cy="0"/>
        </a:xfrm>
      </p:grpSpPr>
      <p:sp>
        <p:nvSpPr>
          <p:cNvPr id="21" name="Google Shape;21;p2"/>
          <p:cNvSpPr/>
          <p:nvPr/>
        </p:nvSpPr>
        <p:spPr>
          <a:xfrm>
            <a:off x="0" y="0"/>
            <a:ext cx="9144000" cy="5143500"/>
          </a:xfrm>
          <a:prstGeom prst="rect">
            <a:avLst/>
          </a:prstGeom>
          <a:solidFill>
            <a:srgbClr val="BB00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Open Sans"/>
              <a:ea typeface="Open Sans"/>
              <a:cs typeface="Open Sans"/>
              <a:sym typeface="Open Sans"/>
            </a:endParaRPr>
          </a:p>
        </p:txBody>
      </p:sp>
      <p:pic>
        <p:nvPicPr>
          <p:cNvPr id="22" name="Google Shape;22;p2"/>
          <p:cNvPicPr preferRelativeResize="0"/>
          <p:nvPr/>
        </p:nvPicPr>
        <p:blipFill rotWithShape="1">
          <a:blip r:embed="rId2">
            <a:alphaModFix/>
          </a:blip>
          <a:srcRect b="0" l="0" r="0" t="0"/>
          <a:stretch/>
        </p:blipFill>
        <p:spPr>
          <a:xfrm>
            <a:off x="2209800" y="895350"/>
            <a:ext cx="3429000" cy="306388"/>
          </a:xfrm>
          <a:prstGeom prst="rect">
            <a:avLst/>
          </a:prstGeom>
          <a:noFill/>
          <a:ln>
            <a:noFill/>
          </a:ln>
        </p:spPr>
      </p:pic>
      <p:pic>
        <p:nvPicPr>
          <p:cNvPr descr="_Plaid-Digital_FINAL-NEW.png" id="23" name="Google Shape;23;p2"/>
          <p:cNvPicPr preferRelativeResize="0"/>
          <p:nvPr/>
        </p:nvPicPr>
        <p:blipFill rotWithShape="1">
          <a:blip r:embed="rId3">
            <a:alphaModFix/>
          </a:blip>
          <a:srcRect b="1990" l="84737" r="4771" t="23988"/>
          <a:stretch/>
        </p:blipFill>
        <p:spPr>
          <a:xfrm>
            <a:off x="457200" y="0"/>
            <a:ext cx="790575" cy="5143500"/>
          </a:xfrm>
          <a:prstGeom prst="rect">
            <a:avLst/>
          </a:prstGeom>
          <a:noFill/>
          <a:ln>
            <a:noFill/>
          </a:ln>
        </p:spPr>
      </p:pic>
      <p:sp>
        <p:nvSpPr>
          <p:cNvPr id="24" name="Google Shape;24;p2"/>
          <p:cNvSpPr/>
          <p:nvPr/>
        </p:nvSpPr>
        <p:spPr>
          <a:xfrm>
            <a:off x="0" y="0"/>
            <a:ext cx="9144000" cy="5143500"/>
          </a:xfrm>
          <a:prstGeom prst="rect">
            <a:avLst/>
          </a:prstGeom>
          <a:solidFill>
            <a:srgbClr val="BB00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Open Sans"/>
              <a:ea typeface="Open Sans"/>
              <a:cs typeface="Open Sans"/>
              <a:sym typeface="Open Sans"/>
            </a:endParaRPr>
          </a:p>
        </p:txBody>
      </p:sp>
      <p:pic>
        <p:nvPicPr>
          <p:cNvPr id="25" name="Google Shape;25;p2"/>
          <p:cNvPicPr preferRelativeResize="0"/>
          <p:nvPr/>
        </p:nvPicPr>
        <p:blipFill rotWithShape="1">
          <a:blip r:embed="rId2">
            <a:alphaModFix/>
          </a:blip>
          <a:srcRect b="0" l="0" r="0" t="0"/>
          <a:stretch/>
        </p:blipFill>
        <p:spPr>
          <a:xfrm>
            <a:off x="2209800" y="895350"/>
            <a:ext cx="3429000" cy="306388"/>
          </a:xfrm>
          <a:prstGeom prst="rect">
            <a:avLst/>
          </a:prstGeom>
          <a:noFill/>
          <a:ln>
            <a:noFill/>
          </a:ln>
        </p:spPr>
      </p:pic>
      <p:pic>
        <p:nvPicPr>
          <p:cNvPr descr="_Plaid-Digital_FINAL-NEW.png" id="26" name="Google Shape;26;p2"/>
          <p:cNvPicPr preferRelativeResize="0"/>
          <p:nvPr/>
        </p:nvPicPr>
        <p:blipFill rotWithShape="1">
          <a:blip r:embed="rId3">
            <a:alphaModFix/>
          </a:blip>
          <a:srcRect b="1990" l="84737" r="4771" t="23988"/>
          <a:stretch/>
        </p:blipFill>
        <p:spPr>
          <a:xfrm>
            <a:off x="457200" y="0"/>
            <a:ext cx="790575" cy="51435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8" name="Shape 28"/>
        <p:cNvGrpSpPr/>
        <p:nvPr/>
      </p:nvGrpSpPr>
      <p:grpSpPr>
        <a:xfrm>
          <a:off x="0" y="0"/>
          <a:ext cx="0" cy="0"/>
          <a:chOff x="0" y="0"/>
          <a:chExt cx="0" cy="0"/>
        </a:xfrm>
      </p:grpSpPr>
      <p:sp>
        <p:nvSpPr>
          <p:cNvPr id="29" name="Google Shape;29;p4"/>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p:cSld name="1 Column">
    <p:spTree>
      <p:nvGrpSpPr>
        <p:cNvPr id="30" name="Shape 30"/>
        <p:cNvGrpSpPr/>
        <p:nvPr/>
      </p:nvGrpSpPr>
      <p:grpSpPr>
        <a:xfrm>
          <a:off x="0" y="0"/>
          <a:ext cx="0" cy="0"/>
          <a:chOff x="0" y="0"/>
          <a:chExt cx="0" cy="0"/>
        </a:xfrm>
      </p:grpSpPr>
      <p:sp>
        <p:nvSpPr>
          <p:cNvPr id="31" name="Google Shape;31;p5"/>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 type="body"/>
          </p:nvPr>
        </p:nvSpPr>
        <p:spPr>
          <a:xfrm>
            <a:off x="457200" y="1200150"/>
            <a:ext cx="82296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p:cSld name="2 Column">
    <p:spTree>
      <p:nvGrpSpPr>
        <p:cNvPr id="33" name="Shape 33"/>
        <p:cNvGrpSpPr/>
        <p:nvPr/>
      </p:nvGrpSpPr>
      <p:grpSpPr>
        <a:xfrm>
          <a:off x="0" y="0"/>
          <a:ext cx="0" cy="0"/>
          <a:chOff x="0" y="0"/>
          <a:chExt cx="0" cy="0"/>
        </a:xfrm>
      </p:grpSpPr>
      <p:sp>
        <p:nvSpPr>
          <p:cNvPr id="34" name="Google Shape;34;p6"/>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 type="body"/>
          </p:nvPr>
        </p:nvSpPr>
        <p:spPr>
          <a:xfrm>
            <a:off x="457200" y="1200150"/>
            <a:ext cx="39624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6"/>
          <p:cNvSpPr txBox="1"/>
          <p:nvPr>
            <p:ph idx="2" type="body"/>
          </p:nvPr>
        </p:nvSpPr>
        <p:spPr>
          <a:xfrm>
            <a:off x="4727448" y="1212300"/>
            <a:ext cx="3959352"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37" name="Shape 37"/>
        <p:cNvGrpSpPr/>
        <p:nvPr/>
      </p:nvGrpSpPr>
      <p:grpSpPr>
        <a:xfrm>
          <a:off x="0" y="0"/>
          <a:ext cx="0" cy="0"/>
          <a:chOff x="0" y="0"/>
          <a:chExt cx="0" cy="0"/>
        </a:xfrm>
      </p:grpSpPr>
      <p:sp>
        <p:nvSpPr>
          <p:cNvPr id="38" name="Google Shape;38;p7"/>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
          <p:cNvSpPr txBox="1"/>
          <p:nvPr>
            <p:ph idx="1" type="body"/>
          </p:nvPr>
        </p:nvSpPr>
        <p:spPr>
          <a:xfrm>
            <a:off x="457200" y="1200150"/>
            <a:ext cx="25908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7"/>
          <p:cNvSpPr txBox="1"/>
          <p:nvPr>
            <p:ph idx="2" type="body"/>
          </p:nvPr>
        </p:nvSpPr>
        <p:spPr>
          <a:xfrm>
            <a:off x="3276600" y="1200150"/>
            <a:ext cx="25908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7"/>
          <p:cNvSpPr txBox="1"/>
          <p:nvPr>
            <p:ph idx="3" type="body"/>
          </p:nvPr>
        </p:nvSpPr>
        <p:spPr>
          <a:xfrm>
            <a:off x="6096000" y="1200150"/>
            <a:ext cx="25908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
  <p:cSld name="4 Column">
    <p:spTree>
      <p:nvGrpSpPr>
        <p:cNvPr id="42" name="Shape 42"/>
        <p:cNvGrpSpPr/>
        <p:nvPr/>
      </p:nvGrpSpPr>
      <p:grpSpPr>
        <a:xfrm>
          <a:off x="0" y="0"/>
          <a:ext cx="0" cy="0"/>
          <a:chOff x="0" y="0"/>
          <a:chExt cx="0" cy="0"/>
        </a:xfrm>
      </p:grpSpPr>
      <p:sp>
        <p:nvSpPr>
          <p:cNvPr id="43" name="Google Shape;43;p8"/>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
          <p:cNvSpPr txBox="1"/>
          <p:nvPr>
            <p:ph idx="1" type="body"/>
          </p:nvPr>
        </p:nvSpPr>
        <p:spPr>
          <a:xfrm>
            <a:off x="4572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8"/>
          <p:cNvSpPr txBox="1"/>
          <p:nvPr>
            <p:ph idx="2" type="body"/>
          </p:nvPr>
        </p:nvSpPr>
        <p:spPr>
          <a:xfrm>
            <a:off x="25654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8"/>
          <p:cNvSpPr txBox="1"/>
          <p:nvPr>
            <p:ph idx="3" type="body"/>
          </p:nvPr>
        </p:nvSpPr>
        <p:spPr>
          <a:xfrm>
            <a:off x="46736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 name="Google Shape;47;p8"/>
          <p:cNvSpPr txBox="1"/>
          <p:nvPr>
            <p:ph idx="4" type="body"/>
          </p:nvPr>
        </p:nvSpPr>
        <p:spPr>
          <a:xfrm>
            <a:off x="6781800" y="1200150"/>
            <a:ext cx="1905000" cy="3429000"/>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SzPts val="1400"/>
              <a:buNone/>
              <a:defRPr/>
            </a:lvl1pPr>
            <a:lvl2pPr indent="-354330" lvl="1" marL="914400" algn="l">
              <a:spcBef>
                <a:spcPts val="600"/>
              </a:spcBef>
              <a:spcAft>
                <a:spcPts val="0"/>
              </a:spcAft>
              <a:buClr>
                <a:schemeClr val="dk1"/>
              </a:buClr>
              <a:buSzPts val="1980"/>
              <a:buChar char="•"/>
              <a:defRPr/>
            </a:lvl2pPr>
            <a:lvl3pPr indent="-354330" lvl="2" marL="1371600" algn="l">
              <a:spcBef>
                <a:spcPts val="600"/>
              </a:spcBef>
              <a:spcAft>
                <a:spcPts val="0"/>
              </a:spcAft>
              <a:buClr>
                <a:schemeClr val="dk1"/>
              </a:buClr>
              <a:buSzPts val="1980"/>
              <a:buChar char="–"/>
              <a:defRPr/>
            </a:lvl3pPr>
            <a:lvl4pPr indent="-354330" lvl="3" marL="1828800" algn="l">
              <a:spcBef>
                <a:spcPts val="600"/>
              </a:spcBef>
              <a:spcAft>
                <a:spcPts val="0"/>
              </a:spcAft>
              <a:buClr>
                <a:schemeClr val="dk1"/>
              </a:buClr>
              <a:buSzPts val="1980"/>
              <a:buChar char="•"/>
              <a:defRPr/>
            </a:lvl4pPr>
            <a:lvl5pPr indent="-354330" lvl="4" marL="2286000" algn="l">
              <a:spcBef>
                <a:spcPts val="600"/>
              </a:spcBef>
              <a:spcAft>
                <a:spcPts val="0"/>
              </a:spcAft>
              <a:buClr>
                <a:schemeClr val="dk1"/>
              </a:buClr>
              <a:buSzPts val="19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_Plaid-Digital_FINAL-NEW.png" id="10" name="Google Shape;10;p1"/>
          <p:cNvPicPr preferRelativeResize="0"/>
          <p:nvPr/>
        </p:nvPicPr>
        <p:blipFill rotWithShape="1">
          <a:blip r:embed="rId1">
            <a:alphaModFix/>
          </a:blip>
          <a:srcRect b="2893" l="59550" r="39888" t="20876"/>
          <a:stretch/>
        </p:blipFill>
        <p:spPr>
          <a:xfrm rot="5400000">
            <a:off x="3798887" y="1046163"/>
            <a:ext cx="60325" cy="7658100"/>
          </a:xfrm>
          <a:prstGeom prst="rect">
            <a:avLst/>
          </a:prstGeom>
          <a:noFill/>
          <a:ln>
            <a:noFill/>
          </a:ln>
        </p:spPr>
      </p:pic>
      <p:pic>
        <p:nvPicPr>
          <p:cNvPr descr="_Plaid-Digital_FINAL-NEW.png" id="11" name="Google Shape;11;p1"/>
          <p:cNvPicPr preferRelativeResize="0"/>
          <p:nvPr/>
        </p:nvPicPr>
        <p:blipFill rotWithShape="1">
          <a:blip r:embed="rId1">
            <a:alphaModFix/>
          </a:blip>
          <a:srcRect b="2893" l="59550" r="39888" t="20876"/>
          <a:stretch/>
        </p:blipFill>
        <p:spPr>
          <a:xfrm rot="5400000">
            <a:off x="3798887" y="1046163"/>
            <a:ext cx="60325" cy="7658100"/>
          </a:xfrm>
          <a:prstGeom prst="rect">
            <a:avLst/>
          </a:prstGeom>
          <a:noFill/>
          <a:ln>
            <a:noFill/>
          </a:ln>
        </p:spPr>
      </p:pic>
      <p:sp>
        <p:nvSpPr>
          <p:cNvPr id="12" name="Google Shape;12;p1"/>
          <p:cNvSpPr txBox="1"/>
          <p:nvPr>
            <p:ph type="title"/>
          </p:nvPr>
        </p:nvSpPr>
        <p:spPr>
          <a:xfrm>
            <a:off x="457200" y="361950"/>
            <a:ext cx="8229600" cy="609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1" i="0" sz="24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4200" u="none" cap="none" strike="noStrike">
                <a:solidFill>
                  <a:schemeClr val="dk2"/>
                </a:solidFill>
                <a:latin typeface="Times"/>
                <a:ea typeface="Times"/>
                <a:cs typeface="Times"/>
                <a:sym typeface="Times"/>
              </a:defRPr>
            </a:lvl6pPr>
            <a:lvl7pPr lvl="6" marR="0" rtl="0" algn="l">
              <a:spcBef>
                <a:spcPts val="0"/>
              </a:spcBef>
              <a:spcAft>
                <a:spcPts val="0"/>
              </a:spcAft>
              <a:buSzPts val="1400"/>
              <a:buNone/>
              <a:defRPr b="0" i="0" sz="4200" u="none" cap="none" strike="noStrike">
                <a:solidFill>
                  <a:schemeClr val="dk2"/>
                </a:solidFill>
                <a:latin typeface="Times"/>
                <a:ea typeface="Times"/>
                <a:cs typeface="Times"/>
                <a:sym typeface="Times"/>
              </a:defRPr>
            </a:lvl7pPr>
            <a:lvl8pPr lvl="7" marR="0" rtl="0" algn="l">
              <a:spcBef>
                <a:spcPts val="0"/>
              </a:spcBef>
              <a:spcAft>
                <a:spcPts val="0"/>
              </a:spcAft>
              <a:buSzPts val="1400"/>
              <a:buNone/>
              <a:defRPr b="0" i="0" sz="4200" u="none" cap="none" strike="noStrike">
                <a:solidFill>
                  <a:schemeClr val="dk2"/>
                </a:solidFill>
                <a:latin typeface="Times"/>
                <a:ea typeface="Times"/>
                <a:cs typeface="Times"/>
                <a:sym typeface="Times"/>
              </a:defRPr>
            </a:lvl8pPr>
            <a:lvl9pPr lvl="8" marR="0" rtl="0" algn="l">
              <a:spcBef>
                <a:spcPts val="0"/>
              </a:spcBef>
              <a:spcAft>
                <a:spcPts val="0"/>
              </a:spcAft>
              <a:buSzPts val="1400"/>
              <a:buNone/>
              <a:defRPr b="0" i="0" sz="4200" u="none" cap="none" strike="noStrike">
                <a:solidFill>
                  <a:schemeClr val="dk2"/>
                </a:solidFill>
                <a:latin typeface="Times"/>
                <a:ea typeface="Times"/>
                <a:cs typeface="Times"/>
                <a:sym typeface="Times"/>
              </a:defRPr>
            </a:lvl9pPr>
          </a:lstStyle>
          <a:p/>
        </p:txBody>
      </p:sp>
      <p:sp>
        <p:nvSpPr>
          <p:cNvPr id="13" name="Google Shape;13;p1"/>
          <p:cNvSpPr txBox="1"/>
          <p:nvPr>
            <p:ph idx="1" type="body"/>
          </p:nvPr>
        </p:nvSpPr>
        <p:spPr>
          <a:xfrm>
            <a:off x="457200" y="1200150"/>
            <a:ext cx="8229600" cy="3505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600"/>
              </a:spcBef>
              <a:spcAft>
                <a:spcPts val="0"/>
              </a:spcAft>
              <a:buSzPts val="1400"/>
              <a:buNone/>
              <a:defRPr b="0" i="0" sz="1400" u="none" cap="none" strike="noStrike">
                <a:solidFill>
                  <a:schemeClr val="dk1"/>
                </a:solidFill>
                <a:latin typeface="Open Sans"/>
                <a:ea typeface="Open Sans"/>
                <a:cs typeface="Open Sans"/>
                <a:sym typeface="Open Sans"/>
              </a:defRPr>
            </a:lvl1pPr>
            <a:lvl2pPr indent="-326390" lvl="1" marL="914400" marR="0" rtl="0" algn="l">
              <a:spcBef>
                <a:spcPts val="600"/>
              </a:spcBef>
              <a:spcAft>
                <a:spcPts val="0"/>
              </a:spcAft>
              <a:buClr>
                <a:schemeClr val="dk1"/>
              </a:buClr>
              <a:buSzPts val="1540"/>
              <a:buFont typeface="Arial"/>
              <a:buChar char="•"/>
              <a:defRPr b="0" i="0" sz="1400" u="none" cap="none" strike="noStrike">
                <a:solidFill>
                  <a:schemeClr val="dk1"/>
                </a:solidFill>
                <a:latin typeface="Open Sans"/>
                <a:ea typeface="Open Sans"/>
                <a:cs typeface="Open Sans"/>
                <a:sym typeface="Open Sans"/>
              </a:defRPr>
            </a:lvl2pPr>
            <a:lvl3pPr indent="-326390" lvl="2" marL="1371600" marR="0" rtl="0" algn="l">
              <a:spcBef>
                <a:spcPts val="600"/>
              </a:spcBef>
              <a:spcAft>
                <a:spcPts val="0"/>
              </a:spcAft>
              <a:buClr>
                <a:schemeClr val="dk1"/>
              </a:buClr>
              <a:buSzPts val="1540"/>
              <a:buFont typeface="Arial"/>
              <a:buChar char="–"/>
              <a:defRPr b="0" i="1" sz="1400" u="none" cap="none" strike="noStrike">
                <a:solidFill>
                  <a:schemeClr val="dk1"/>
                </a:solidFill>
                <a:latin typeface="Open Sans"/>
                <a:ea typeface="Open Sans"/>
                <a:cs typeface="Open Sans"/>
                <a:sym typeface="Open Sans"/>
              </a:defRPr>
            </a:lvl3pPr>
            <a:lvl4pPr indent="-326390" lvl="3" marL="1828800" marR="0" rtl="0" algn="l">
              <a:spcBef>
                <a:spcPts val="600"/>
              </a:spcBef>
              <a:spcAft>
                <a:spcPts val="0"/>
              </a:spcAft>
              <a:buClr>
                <a:schemeClr val="dk1"/>
              </a:buClr>
              <a:buSzPts val="1540"/>
              <a:buFont typeface="Arial"/>
              <a:buChar char="•"/>
              <a:defRPr b="0" i="0" sz="1400" u="none" cap="none" strike="noStrike">
                <a:solidFill>
                  <a:schemeClr val="dk1"/>
                </a:solidFill>
                <a:latin typeface="Open Sans"/>
                <a:ea typeface="Open Sans"/>
                <a:cs typeface="Open Sans"/>
                <a:sym typeface="Open Sans"/>
              </a:defRPr>
            </a:lvl4pPr>
            <a:lvl5pPr indent="-326390" lvl="4" marL="2286000" marR="0" rtl="0" algn="l">
              <a:spcBef>
                <a:spcPts val="600"/>
              </a:spcBef>
              <a:spcAft>
                <a:spcPts val="0"/>
              </a:spcAft>
              <a:buClr>
                <a:schemeClr val="dk1"/>
              </a:buClr>
              <a:buSzPts val="1540"/>
              <a:buFont typeface="Arial"/>
              <a:buChar char="–"/>
              <a:defRPr b="0" i="1" sz="1400" u="none" cap="none" strike="noStrike">
                <a:solidFill>
                  <a:schemeClr val="dk1"/>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id="14" name="Google Shape;14;p1"/>
          <p:cNvPicPr preferRelativeResize="0"/>
          <p:nvPr/>
        </p:nvPicPr>
        <p:blipFill rotWithShape="1">
          <a:blip r:embed="rId2">
            <a:alphaModFix/>
          </a:blip>
          <a:srcRect b="0" l="0" r="0" t="0"/>
          <a:stretch/>
        </p:blipFill>
        <p:spPr>
          <a:xfrm>
            <a:off x="7772400" y="4248150"/>
            <a:ext cx="1154590" cy="736392"/>
          </a:xfrm>
          <a:prstGeom prst="rect">
            <a:avLst/>
          </a:prstGeom>
          <a:noFill/>
          <a:ln>
            <a:noFill/>
          </a:ln>
        </p:spPr>
      </p:pic>
      <p:sp>
        <p:nvSpPr>
          <p:cNvPr id="15" name="Google Shape;15;p1"/>
          <p:cNvSpPr txBox="1"/>
          <p:nvPr>
            <p:ph idx="12" type="sldNum"/>
          </p:nvPr>
        </p:nvSpPr>
        <p:spPr>
          <a:xfrm>
            <a:off x="11073918" y="6400413"/>
            <a:ext cx="279883" cy="276999"/>
          </a:xfrm>
          <a:prstGeom prst="rect">
            <a:avLst/>
          </a:prstGeom>
          <a:noFill/>
          <a:ln>
            <a:noFill/>
          </a:ln>
        </p:spPr>
        <p:txBody>
          <a:bodyPr anchorCtr="0" anchor="ctr" bIns="45700" lIns="45700" spcFirstLastPara="1" rIns="45700" wrap="square" tIns="45700">
            <a:spAutoFit/>
          </a:bodyPr>
          <a:lstStyle>
            <a:lvl1pPr indent="0" lvl="0"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1pPr>
            <a:lvl2pPr indent="0" lvl="1"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2pPr>
            <a:lvl3pPr indent="0" lvl="2"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3pPr>
            <a:lvl4pPr indent="0" lvl="3"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4pPr>
            <a:lvl5pPr indent="0" lvl="4"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5pPr>
            <a:lvl6pPr indent="0" lvl="5"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6pPr>
            <a:lvl7pPr indent="0" lvl="6"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7pPr>
            <a:lvl8pPr indent="0" lvl="7"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8pPr>
            <a:lvl9pPr indent="0" lvl="8" marL="0" marR="0" rtl="0" algn="r">
              <a:spcBef>
                <a:spcPts val="0"/>
              </a:spcBef>
              <a:spcAft>
                <a:spcPts val="0"/>
              </a:spcAft>
              <a:buNone/>
              <a:defRPr b="0" i="0" sz="12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1"/>
          <p:cNvSpPr txBox="1"/>
          <p:nvPr/>
        </p:nvSpPr>
        <p:spPr>
          <a:xfrm>
            <a:off x="11226318" y="6552813"/>
            <a:ext cx="279883" cy="276999"/>
          </a:xfrm>
          <a:prstGeom prst="rect">
            <a:avLst/>
          </a:prstGeom>
          <a:noFill/>
          <a:ln>
            <a:noFill/>
          </a:ln>
        </p:spPr>
        <p:txBody>
          <a:bodyPr anchorCtr="0" anchor="ctr" bIns="45700" lIns="45700" spcFirstLastPara="1" rIns="45700" wrap="square" tIns="45700">
            <a:spAutoFit/>
          </a:bodyPr>
          <a:lstStyle/>
          <a:p>
            <a:pPr indent="0" lvl="0" marL="0" marR="0" rtl="0" algn="r">
              <a:spcBef>
                <a:spcPts val="0"/>
              </a:spcBef>
              <a:spcAft>
                <a:spcPts val="0"/>
              </a:spcAft>
              <a:buNone/>
            </a:pPr>
            <a:fld id="{00000000-1234-1234-1234-123412341234}" type="slidenum">
              <a:rPr b="0" i="0" lang="en-US" sz="1200" u="none" cap="none" strike="noStrike">
                <a:solidFill>
                  <a:srgbClr val="888888"/>
                </a:solidFill>
                <a:latin typeface="Open Sans Light"/>
                <a:ea typeface="Open Sans Light"/>
                <a:cs typeface="Open Sans Light"/>
                <a:sym typeface="Open Sans Light"/>
              </a:rPr>
              <a:t>‹#›</a:t>
            </a:fld>
            <a:endParaRPr b="0" i="0" sz="1200" u="none" cap="none" strike="noStrike">
              <a:solidFill>
                <a:srgbClr val="888888"/>
              </a:solidFill>
              <a:latin typeface="Open Sans Light"/>
              <a:ea typeface="Open Sans Light"/>
              <a:cs typeface="Open Sans Light"/>
              <a:sym typeface="Open Sans Light"/>
            </a:endParaRPr>
          </a:p>
        </p:txBody>
      </p:sp>
      <p:sp>
        <p:nvSpPr>
          <p:cNvPr id="17" name="Google Shape;17;p1"/>
          <p:cNvSpPr txBox="1"/>
          <p:nvPr/>
        </p:nvSpPr>
        <p:spPr>
          <a:xfrm>
            <a:off x="11378718" y="6705213"/>
            <a:ext cx="279883" cy="276999"/>
          </a:xfrm>
          <a:prstGeom prst="rect">
            <a:avLst/>
          </a:prstGeom>
          <a:noFill/>
          <a:ln>
            <a:noFill/>
          </a:ln>
        </p:spPr>
        <p:txBody>
          <a:bodyPr anchorCtr="0" anchor="ctr" bIns="45700" lIns="45700" spcFirstLastPara="1" rIns="45700" wrap="square" tIns="45700">
            <a:spAutoFit/>
          </a:bodyPr>
          <a:lstStyle/>
          <a:p>
            <a:pPr indent="0" lvl="0" marL="0" marR="0" rtl="0" algn="r">
              <a:spcBef>
                <a:spcPts val="0"/>
              </a:spcBef>
              <a:spcAft>
                <a:spcPts val="0"/>
              </a:spcAft>
              <a:buNone/>
            </a:pPr>
            <a:fld id="{00000000-1234-1234-1234-123412341234}" type="slidenum">
              <a:rPr b="0" i="0" lang="en-US" sz="1200" u="none" cap="none" strike="noStrike">
                <a:solidFill>
                  <a:srgbClr val="888888"/>
                </a:solidFill>
                <a:latin typeface="Open Sans Light"/>
                <a:ea typeface="Open Sans Light"/>
                <a:cs typeface="Open Sans Light"/>
                <a:sym typeface="Open Sans Light"/>
              </a:rPr>
              <a:t>‹#›</a:t>
            </a:fld>
            <a:endParaRPr b="0" i="0" sz="1200" u="none" cap="none" strike="noStrike">
              <a:solidFill>
                <a:srgbClr val="888888"/>
              </a:solidFill>
              <a:latin typeface="Open Sans Light"/>
              <a:ea typeface="Open Sans Light"/>
              <a:cs typeface="Open Sans Light"/>
              <a:sym typeface="Open Sans Light"/>
            </a:endParaRPr>
          </a:p>
        </p:txBody>
      </p:sp>
      <p:sp>
        <p:nvSpPr>
          <p:cNvPr id="18" name="Google Shape;18;p1"/>
          <p:cNvSpPr txBox="1"/>
          <p:nvPr/>
        </p:nvSpPr>
        <p:spPr>
          <a:xfrm>
            <a:off x="11531118" y="6857613"/>
            <a:ext cx="279883" cy="276999"/>
          </a:xfrm>
          <a:prstGeom prst="rect">
            <a:avLst/>
          </a:prstGeom>
          <a:noFill/>
          <a:ln>
            <a:noFill/>
          </a:ln>
        </p:spPr>
        <p:txBody>
          <a:bodyPr anchorCtr="0" anchor="ctr" bIns="45700" lIns="45700" spcFirstLastPara="1" rIns="45700" wrap="square" tIns="45700">
            <a:spAutoFit/>
          </a:bodyPr>
          <a:lstStyle/>
          <a:p>
            <a:pPr indent="0" lvl="0" marL="0" marR="0" rtl="0" algn="r">
              <a:spcBef>
                <a:spcPts val="0"/>
              </a:spcBef>
              <a:spcAft>
                <a:spcPts val="0"/>
              </a:spcAft>
              <a:buNone/>
            </a:pPr>
            <a:fld id="{00000000-1234-1234-1234-123412341234}" type="slidenum">
              <a:rPr b="0" i="0" lang="en-US" sz="1200" u="none" cap="none" strike="noStrike">
                <a:solidFill>
                  <a:srgbClr val="888888"/>
                </a:solidFill>
                <a:latin typeface="Open Sans Light"/>
                <a:ea typeface="Open Sans Light"/>
                <a:cs typeface="Open Sans Light"/>
                <a:sym typeface="Open Sans Light"/>
              </a:rPr>
              <a:t>‹#›</a:t>
            </a:fld>
            <a:endParaRPr b="0" i="0" sz="1200" u="none" cap="none" strike="noStrike">
              <a:solidFill>
                <a:srgbClr val="888888"/>
              </a:solidFill>
              <a:latin typeface="Open Sans Light"/>
              <a:ea typeface="Open Sans Light"/>
              <a:cs typeface="Open Sans Light"/>
              <a:sym typeface="Open Sans Light"/>
            </a:endParaRPr>
          </a:p>
        </p:txBody>
      </p:sp>
      <p:sp>
        <p:nvSpPr>
          <p:cNvPr id="19" name="Google Shape;19;p1"/>
          <p:cNvSpPr txBox="1"/>
          <p:nvPr/>
        </p:nvSpPr>
        <p:spPr>
          <a:xfrm>
            <a:off x="8534400" y="100340"/>
            <a:ext cx="506890" cy="2616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US" sz="1100" u="none" cap="none" strike="noStrike">
                <a:solidFill>
                  <a:srgbClr val="7F7F7F"/>
                </a:solidFill>
                <a:latin typeface="Helvetica Neue Light"/>
                <a:ea typeface="Helvetica Neue Light"/>
                <a:cs typeface="Helvetica Neue Light"/>
                <a:sym typeface="Helvetica Neue Light"/>
              </a:rPr>
              <a:t>‹#›</a:t>
            </a:fld>
            <a:endParaRPr b="0" i="0" sz="1100" u="none" cap="none" strike="noStrike">
              <a:solidFill>
                <a:srgbClr val="7F7F7F"/>
              </a:solidFill>
              <a:latin typeface="Helvetica Neue Light"/>
              <a:ea typeface="Helvetica Neue Light"/>
              <a:cs typeface="Helvetica Neue Light"/>
              <a:sym typeface="Helvetica Neue Light"/>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130552" y="1371600"/>
            <a:ext cx="6309360" cy="1188720"/>
          </a:xfrm>
          <a:prstGeom prst="rect">
            <a:avLst/>
          </a:prstGeom>
          <a:noFill/>
        </p:spPr>
        <p:txBody>
          <a:bodyPr wrap="square" lIns="0" rIns="0" tIns="0" bIns="0" anchor="b">
            <a:spAutoFit/>
          </a:bodyPr>
          <a:lstStyle/>
          <a:p>
            <a:pPr algn="l"/>
            <a:r>
              <a:rPr sz="3400" b="1" i="0">
                <a:solidFill>
                  <a:srgbClr val="FFFFFF"/>
                </a:solidFill>
                <a:latin typeface="Open Sans"/>
              </a:rPr>
              <a:t>The 3×3 stride-1 convolution kernel</a:t>
            </a:r>
          </a:p>
        </p:txBody>
      </p:sp>
      <p:sp>
        <p:nvSpPr>
          <p:cNvPr id="3" name="TextBox 2"/>
          <p:cNvSpPr txBox="1"/>
          <p:nvPr/>
        </p:nvSpPr>
        <p:spPr>
          <a:xfrm>
            <a:off x="2130552" y="2743200"/>
            <a:ext cx="6309360" cy="457200"/>
          </a:xfrm>
          <a:prstGeom prst="rect">
            <a:avLst/>
          </a:prstGeom>
          <a:noFill/>
        </p:spPr>
        <p:txBody>
          <a:bodyPr wrap="square" lIns="0" rIns="0" tIns="0" bIns="0" anchor="t">
            <a:spAutoFit/>
          </a:bodyPr>
          <a:lstStyle/>
          <a:p>
            <a:pPr algn="l"/>
            <a:r>
              <a:rPr sz="1500" b="1" i="0">
                <a:solidFill>
                  <a:srgbClr val="FFFFFF"/>
                </a:solidFill>
                <a:latin typeface="Open Sans"/>
              </a:rPr>
              <a:t>Om Tank</a:t>
            </a:r>
            <a:r>
              <a:rPr sz="1500" b="0" i="0">
                <a:solidFill>
                  <a:srgbClr val="FFFFFF"/>
                </a:solidFill>
                <a:latin typeface="Open Sans"/>
              </a:rPr>
              <a:t>  ·  YOLOv8n on one Broadwell core, built like the Assignment 2 kernel</a:t>
            </a:r>
          </a:p>
        </p:txBody>
      </p:sp>
      <p:sp>
        <p:nvSpPr>
          <p:cNvPr id="4" name="TextBox 3"/>
          <p:cNvSpPr txBox="1"/>
          <p:nvPr/>
        </p:nvSpPr>
        <p:spPr>
          <a:xfrm>
            <a:off x="2130552" y="3520440"/>
            <a:ext cx="1508760" cy="502920"/>
          </a:xfrm>
          <a:prstGeom prst="rect">
            <a:avLst/>
          </a:prstGeom>
          <a:noFill/>
        </p:spPr>
        <p:txBody>
          <a:bodyPr wrap="square" lIns="0" rIns="0" tIns="0" bIns="0" anchor="t">
            <a:spAutoFit/>
          </a:bodyPr>
          <a:lstStyle/>
          <a:p>
            <a:pPr algn="l"/>
            <a:r>
              <a:rPr sz="2600" b="1" i="0">
                <a:solidFill>
                  <a:srgbClr val="FFFFFF"/>
                </a:solidFill>
                <a:latin typeface="Open Sans"/>
              </a:rPr>
              <a:t>32</a:t>
            </a:r>
          </a:p>
        </p:txBody>
      </p:sp>
      <p:sp>
        <p:nvSpPr>
          <p:cNvPr id="5" name="TextBox 4"/>
          <p:cNvSpPr txBox="1"/>
          <p:nvPr/>
        </p:nvSpPr>
        <p:spPr>
          <a:xfrm>
            <a:off x="2130552" y="4023360"/>
            <a:ext cx="1508760" cy="365760"/>
          </a:xfrm>
          <a:prstGeom prst="rect">
            <a:avLst/>
          </a:prstGeom>
          <a:noFill/>
        </p:spPr>
        <p:txBody>
          <a:bodyPr wrap="square" lIns="0" rIns="0" tIns="0" bIns="0" anchor="t">
            <a:spAutoFit/>
          </a:bodyPr>
          <a:lstStyle/>
          <a:p>
            <a:pPr algn="l"/>
            <a:r>
              <a:rPr sz="1100" b="0" i="0">
                <a:solidFill>
                  <a:srgbClr val="FFFFFF"/>
                </a:solidFill>
                <a:latin typeface="Open Sans"/>
              </a:rPr>
              <a:t>layers</a:t>
            </a:r>
          </a:p>
        </p:txBody>
      </p:sp>
      <p:sp>
        <p:nvSpPr>
          <p:cNvPr id="6" name="TextBox 5"/>
          <p:cNvSpPr txBox="1"/>
          <p:nvPr/>
        </p:nvSpPr>
        <p:spPr>
          <a:xfrm>
            <a:off x="3730752" y="3520440"/>
            <a:ext cx="1508760" cy="502920"/>
          </a:xfrm>
          <a:prstGeom prst="rect">
            <a:avLst/>
          </a:prstGeom>
          <a:noFill/>
        </p:spPr>
        <p:txBody>
          <a:bodyPr wrap="square" lIns="0" rIns="0" tIns="0" bIns="0" anchor="t">
            <a:spAutoFit/>
          </a:bodyPr>
          <a:lstStyle/>
          <a:p>
            <a:pPr algn="l"/>
            <a:r>
              <a:rPr sz="2600" b="1" i="0">
                <a:solidFill>
                  <a:srgbClr val="FFFFFF"/>
                </a:solidFill>
                <a:latin typeface="Open Sans"/>
              </a:rPr>
              <a:t>66%</a:t>
            </a:r>
          </a:p>
        </p:txBody>
      </p:sp>
      <p:sp>
        <p:nvSpPr>
          <p:cNvPr id="7" name="TextBox 6"/>
          <p:cNvSpPr txBox="1"/>
          <p:nvPr/>
        </p:nvSpPr>
        <p:spPr>
          <a:xfrm>
            <a:off x="3730752" y="4023360"/>
            <a:ext cx="1508760" cy="365760"/>
          </a:xfrm>
          <a:prstGeom prst="rect">
            <a:avLst/>
          </a:prstGeom>
          <a:noFill/>
        </p:spPr>
        <p:txBody>
          <a:bodyPr wrap="square" lIns="0" rIns="0" tIns="0" bIns="0" anchor="t">
            <a:spAutoFit/>
          </a:bodyPr>
          <a:lstStyle/>
          <a:p>
            <a:pPr algn="l"/>
            <a:r>
              <a:rPr sz="1100" b="0" i="0">
                <a:solidFill>
                  <a:srgbClr val="FFFFFF"/>
                </a:solidFill>
                <a:latin typeface="Open Sans"/>
              </a:rPr>
              <a:t>of YOLOv8n's work</a:t>
            </a:r>
          </a:p>
        </p:txBody>
      </p:sp>
      <p:sp>
        <p:nvSpPr>
          <p:cNvPr id="8" name="TextBox 7"/>
          <p:cNvSpPr txBox="1"/>
          <p:nvPr/>
        </p:nvSpPr>
        <p:spPr>
          <a:xfrm>
            <a:off x="5330952" y="3520440"/>
            <a:ext cx="1508760" cy="502920"/>
          </a:xfrm>
          <a:prstGeom prst="rect">
            <a:avLst/>
          </a:prstGeom>
          <a:noFill/>
        </p:spPr>
        <p:txBody>
          <a:bodyPr wrap="square" lIns="0" rIns="0" tIns="0" bIns="0" anchor="t">
            <a:spAutoFit/>
          </a:bodyPr>
          <a:lstStyle/>
          <a:p>
            <a:pPr algn="l"/>
            <a:r>
              <a:rPr sz="2600" b="1" i="0">
                <a:solidFill>
                  <a:srgbClr val="FFFFFF"/>
                </a:solidFill>
                <a:latin typeface="Open Sans"/>
              </a:rPr>
              <a:t>85%</a:t>
            </a:r>
          </a:p>
        </p:txBody>
      </p:sp>
      <p:sp>
        <p:nvSpPr>
          <p:cNvPr id="9" name="TextBox 8"/>
          <p:cNvSpPr txBox="1"/>
          <p:nvPr/>
        </p:nvSpPr>
        <p:spPr>
          <a:xfrm>
            <a:off x="5330952" y="4023360"/>
            <a:ext cx="1508760" cy="365760"/>
          </a:xfrm>
          <a:prstGeom prst="rect">
            <a:avLst/>
          </a:prstGeom>
          <a:noFill/>
        </p:spPr>
        <p:txBody>
          <a:bodyPr wrap="square" lIns="0" rIns="0" tIns="0" bIns="0" anchor="t">
            <a:spAutoFit/>
          </a:bodyPr>
          <a:lstStyle/>
          <a:p>
            <a:pPr algn="l"/>
            <a:r>
              <a:rPr sz="1100" b="0" i="0">
                <a:solidFill>
                  <a:srgbClr val="FFFFFF"/>
                </a:solidFill>
                <a:latin typeface="Open Sans"/>
              </a:rPr>
              <a:t>of peak, kernel alone</a:t>
            </a:r>
          </a:p>
        </p:txBody>
      </p:sp>
      <p:sp>
        <p:nvSpPr>
          <p:cNvPr id="10" name="TextBox 9"/>
          <p:cNvSpPr txBox="1"/>
          <p:nvPr/>
        </p:nvSpPr>
        <p:spPr>
          <a:xfrm>
            <a:off x="6931152" y="3520440"/>
            <a:ext cx="1508760" cy="502920"/>
          </a:xfrm>
          <a:prstGeom prst="rect">
            <a:avLst/>
          </a:prstGeom>
          <a:noFill/>
        </p:spPr>
        <p:txBody>
          <a:bodyPr wrap="square" lIns="0" rIns="0" tIns="0" bIns="0" anchor="t">
            <a:spAutoFit/>
          </a:bodyPr>
          <a:lstStyle/>
          <a:p>
            <a:pPr algn="l"/>
            <a:r>
              <a:rPr sz="2600" b="1" i="0">
                <a:solidFill>
                  <a:srgbClr val="FFFFFF"/>
                </a:solidFill>
                <a:latin typeface="Open Sans"/>
              </a:rPr>
              <a:t>77%</a:t>
            </a:r>
          </a:p>
        </p:txBody>
      </p:sp>
      <p:sp>
        <p:nvSpPr>
          <p:cNvPr id="11" name="TextBox 10"/>
          <p:cNvSpPr txBox="1"/>
          <p:nvPr/>
        </p:nvSpPr>
        <p:spPr>
          <a:xfrm>
            <a:off x="6931152" y="4023360"/>
            <a:ext cx="1508760" cy="365760"/>
          </a:xfrm>
          <a:prstGeom prst="rect">
            <a:avLst/>
          </a:prstGeom>
          <a:noFill/>
        </p:spPr>
        <p:txBody>
          <a:bodyPr wrap="square" lIns="0" rIns="0" tIns="0" bIns="0" anchor="t">
            <a:spAutoFit/>
          </a:bodyPr>
          <a:lstStyle/>
          <a:p>
            <a:pPr algn="l"/>
            <a:r>
              <a:rPr sz="1100" b="0" i="0">
                <a:solidFill>
                  <a:srgbClr val="FFFFFF"/>
                </a:solidFill>
                <a:latin typeface="Open Sans"/>
              </a:rPr>
              <a:t>of peak, 32 layers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 is the Assignment 2 kernel, with floats</a:t>
            </a:r>
          </a:p>
        </p:txBody>
      </p:sp>
      <p:graphicFrame>
        <p:nvGraphicFramePr>
          <p:cNvPr id="3" name="Table 2"/>
          <p:cNvGraphicFramePr>
            <a:graphicFrameLocks noGrp="1"/>
          </p:cNvGraphicFramePr>
          <p:nvPr/>
        </p:nvGraphicFramePr>
        <p:xfrm>
          <a:off x="457200" y="1097280"/>
          <a:ext cx="4572000" cy="2377440"/>
        </p:xfrm>
        <a:graphic>
          <a:graphicData uri="http://schemas.openxmlformats.org/drawingml/2006/table">
            <a:tbl>
              <a:tblPr firstRow="1" bandRow="1">
                <a:tableStyleId>{5C22544A-7EE6-4342-B048-85BDC9FD1C3A}</a:tableStyleId>
              </a:tblPr>
              <a:tblGrid>
                <a:gridCol w="1325880"/>
                <a:gridCol w="1463040"/>
                <a:gridCol w="1783080"/>
              </a:tblGrid>
              <a:tr h="339634">
                <a:tc>
                  <a:txBody>
                    <a:bodyPr/>
                    <a:lstStyle/>
                    <a:p/>
                  </a:txBody>
                  <a:tcPr marL="54864" marR="54864">
                    <a:solidFill>
                      <a:srgbClr val="F1F3F5"/>
                    </a:solidFill>
                  </a:tcPr>
                </a:tc>
                <a:tc>
                  <a:txBody>
                    <a:bodyPr/>
                    <a:lstStyle/>
                    <a:p>
                      <a:r>
                        <a:rPr sz="1100" b="1">
                          <a:solidFill>
                            <a:srgbClr val="1B2630"/>
                          </a:solidFill>
                          <a:latin typeface="Open Sans"/>
                        </a:rPr>
                        <a:t>Assignment 2</a:t>
                      </a:r>
                    </a:p>
                  </a:txBody>
                  <a:tcPr marL="54864" marR="54864">
                    <a:solidFill>
                      <a:srgbClr val="F1F3F5"/>
                    </a:solidFill>
                  </a:tcPr>
                </a:tc>
                <a:tc>
                  <a:txBody>
                    <a:bodyPr/>
                    <a:lstStyle/>
                    <a:p>
                      <a:r>
                        <a:rPr sz="1100" b="1">
                          <a:solidFill>
                            <a:srgbClr val="1B2630"/>
                          </a:solidFill>
                          <a:latin typeface="Open Sans"/>
                        </a:rPr>
                        <a:t>Stride-1 microkernel</a:t>
                      </a:r>
                    </a:p>
                  </a:txBody>
                  <a:tcPr marL="54864" marR="54864">
                    <a:solidFill>
                      <a:srgbClr val="F1F3F5"/>
                    </a:solidFill>
                  </a:tcPr>
                </a:tc>
              </a:tr>
              <a:tr h="339634">
                <a:tc>
                  <a:txBody>
                    <a:bodyPr/>
                    <a:lstStyle/>
                    <a:p>
                      <a:r>
                        <a:rPr sz="1100" b="0">
                          <a:solidFill>
                            <a:srgbClr val="1B2630"/>
                          </a:solidFill>
                          <a:latin typeface="Open Sans"/>
                        </a:rPr>
                        <a:t>m (broadcast)</a:t>
                      </a:r>
                    </a:p>
                  </a:txBody>
                  <a:tcPr marL="54864" marR="54864">
                    <a:solidFill>
                      <a:srgbClr val="FFFFFF"/>
                    </a:solidFill>
                  </a:tcPr>
                </a:tc>
                <a:tc>
                  <a:txBody>
                    <a:bodyPr/>
                    <a:lstStyle/>
                    <a:p>
                      <a:r>
                        <a:rPr sz="1100" b="0">
                          <a:solidFill>
                            <a:srgbClr val="1B2630"/>
                          </a:solidFill>
                          <a:latin typeface="Open Sans"/>
                        </a:rPr>
                        <a:t>5 rows of A</a:t>
                      </a:r>
                    </a:p>
                  </a:txBody>
                  <a:tcPr marL="54864" marR="54864">
                    <a:solidFill>
                      <a:srgbClr val="FFFFFF"/>
                    </a:solidFill>
                  </a:tcPr>
                </a:tc>
                <a:tc>
                  <a:txBody>
                    <a:bodyPr/>
                    <a:lstStyle/>
                    <a:p>
                      <a:r>
                        <a:rPr sz="1100" b="0">
                          <a:solidFill>
                            <a:srgbClr val="1B2630"/>
                          </a:solidFill>
                          <a:latin typeface="Open Sans"/>
                        </a:rPr>
                        <a:t>5 output pixels</a:t>
                      </a:r>
                    </a:p>
                  </a:txBody>
                  <a:tcPr marL="54864" marR="54864">
                    <a:solidFill>
                      <a:srgbClr val="FFFFFF"/>
                    </a:solidFill>
                  </a:tcPr>
                </a:tc>
              </a:tr>
              <a:tr h="339634">
                <a:tc>
                  <a:txBody>
                    <a:bodyPr/>
                    <a:lstStyle/>
                    <a:p>
                      <a:r>
                        <a:rPr sz="1100" b="0">
                          <a:solidFill>
                            <a:srgbClr val="1B2630"/>
                          </a:solidFill>
                          <a:latin typeface="Open Sans"/>
                        </a:rPr>
                        <a:t>n (vector loads)</a:t>
                      </a:r>
                    </a:p>
                  </a:txBody>
                  <a:tcPr marL="54864" marR="54864">
                    <a:solidFill>
                      <a:srgbClr val="FFFFFF"/>
                    </a:solidFill>
                  </a:tcPr>
                </a:tc>
                <a:tc>
                  <a:txBody>
                    <a:bodyPr/>
                    <a:lstStyle/>
                    <a:p>
                      <a:r>
                        <a:rPr sz="1100" b="0">
                          <a:solidFill>
                            <a:srgbClr val="1B2630"/>
                          </a:solidFill>
                          <a:latin typeface="Open Sans"/>
                        </a:rPr>
                        <a:t>8 = 2 × 4 doubles</a:t>
                      </a:r>
                    </a:p>
                  </a:txBody>
                  <a:tcPr marL="54864" marR="54864">
                    <a:solidFill>
                      <a:srgbClr val="FFFFFF"/>
                    </a:solidFill>
                  </a:tcPr>
                </a:tc>
                <a:tc>
                  <a:txBody>
                    <a:bodyPr/>
                    <a:lstStyle/>
                    <a:p>
                      <a:r>
                        <a:rPr sz="1100" b="0">
                          <a:solidFill>
                            <a:srgbClr val="1B2630"/>
                          </a:solidFill>
                          <a:latin typeface="Open Sans"/>
                        </a:rPr>
                        <a:t>16 ch = 2 × 8 floats</a:t>
                      </a:r>
                    </a:p>
                  </a:txBody>
                  <a:tcPr marL="54864" marR="54864">
                    <a:solidFill>
                      <a:srgbClr val="FFFFFF"/>
                    </a:solidFill>
                  </a:tcPr>
                </a:tc>
              </a:tr>
              <a:tr h="339634">
                <a:tc>
                  <a:txBody>
                    <a:bodyPr/>
                    <a:lstStyle/>
                    <a:p>
                      <a:r>
                        <a:rPr sz="1100" b="0">
                          <a:solidFill>
                            <a:srgbClr val="1B2630"/>
                          </a:solidFill>
                          <a:latin typeface="Open Sans"/>
                        </a:rPr>
                        <a:t>k (reduction)</a:t>
                      </a:r>
                    </a:p>
                  </a:txBody>
                  <a:tcPr marL="54864" marR="54864">
                    <a:solidFill>
                      <a:srgbClr val="FFFFFF"/>
                    </a:solidFill>
                  </a:tcPr>
                </a:tc>
                <a:tc>
                  <a:txBody>
                    <a:bodyPr/>
                    <a:lstStyle/>
                    <a:p>
                      <a:r>
                        <a:rPr sz="1100" b="0">
                          <a:solidFill>
                            <a:srgbClr val="1B2630"/>
                          </a:solidFill>
                          <a:latin typeface="Open Sans"/>
                        </a:rPr>
                        <a:t>32 to 512</a:t>
                      </a:r>
                    </a:p>
                  </a:txBody>
                  <a:tcPr marL="54864" marR="54864">
                    <a:solidFill>
                      <a:srgbClr val="FFFFFF"/>
                    </a:solidFill>
                  </a:tcPr>
                </a:tc>
                <a:tc>
                  <a:txBody>
                    <a:bodyPr/>
                    <a:lstStyle/>
                    <a:p>
                      <a:r>
                        <a:rPr sz="1100" b="0">
                          <a:solidFill>
                            <a:srgbClr val="1B2630"/>
                          </a:solidFill>
                          <a:latin typeface="Open Sans"/>
                        </a:rPr>
                        <a:t>C × 9 (144 to 2304)</a:t>
                      </a:r>
                    </a:p>
                  </a:txBody>
                  <a:tcPr marL="54864" marR="54864">
                    <a:solidFill>
                      <a:srgbClr val="FFFFFF"/>
                    </a:solidFill>
                  </a:tcPr>
                </a:tc>
              </a:tr>
              <a:tr h="339634">
                <a:tc>
                  <a:txBody>
                    <a:bodyPr/>
                    <a:lstStyle/>
                    <a:p>
                      <a:r>
                        <a:rPr sz="1100" b="0">
                          <a:solidFill>
                            <a:srgbClr val="1B2630"/>
                          </a:solidFill>
                          <a:latin typeface="Open Sans"/>
                        </a:rPr>
                        <a:t>Accumulators</a:t>
                      </a:r>
                    </a:p>
                  </a:txBody>
                  <a:tcPr marL="54864" marR="54864">
                    <a:solidFill>
                      <a:srgbClr val="FFFFFF"/>
                    </a:solidFill>
                  </a:tcPr>
                </a:tc>
                <a:tc>
                  <a:txBody>
                    <a:bodyPr/>
                    <a:lstStyle/>
                    <a:p>
                      <a:r>
                        <a:rPr sz="1100" b="0">
                          <a:solidFill>
                            <a:srgbClr val="1B2630"/>
                          </a:solidFill>
                          <a:latin typeface="Open Sans"/>
                        </a:rPr>
                        <a:t>10</a:t>
                      </a:r>
                    </a:p>
                  </a:txBody>
                  <a:tcPr marL="54864" marR="54864">
                    <a:solidFill>
                      <a:srgbClr val="FFFFFF"/>
                    </a:solidFill>
                  </a:tcPr>
                </a:tc>
                <a:tc>
                  <a:txBody>
                    <a:bodyPr/>
                    <a:lstStyle/>
                    <a:p>
                      <a:r>
                        <a:rPr sz="1100" b="0">
                          <a:solidFill>
                            <a:srgbClr val="1B2630"/>
                          </a:solidFill>
                          <a:latin typeface="Open Sans"/>
                        </a:rPr>
                        <a:t>10 (2×5) or 12 (2×6)</a:t>
                      </a:r>
                    </a:p>
                  </a:txBody>
                  <a:tcPr marL="54864" marR="54864">
                    <a:solidFill>
                      <a:srgbClr val="FFFFFF"/>
                    </a:solidFill>
                  </a:tcPr>
                </a:tc>
              </a:tr>
              <a:tr h="339634">
                <a:tc>
                  <a:txBody>
                    <a:bodyPr/>
                    <a:lstStyle/>
                    <a:p>
                      <a:r>
                        <a:rPr sz="1100" b="0">
                          <a:solidFill>
                            <a:srgbClr val="1B2630"/>
                          </a:solidFill>
                          <a:latin typeface="Open Sans"/>
                        </a:rPr>
                        <a:t>Registers</a:t>
                      </a:r>
                    </a:p>
                  </a:txBody>
                  <a:tcPr marL="54864" marR="54864">
                    <a:solidFill>
                      <a:srgbClr val="FFFFFF"/>
                    </a:solidFill>
                  </a:tcPr>
                </a:tc>
                <a:tc>
                  <a:txBody>
                    <a:bodyPr/>
                    <a:lstStyle/>
                    <a:p>
                      <a:r>
                        <a:rPr sz="1100" b="0">
                          <a:solidFill>
                            <a:srgbClr val="1B2630"/>
                          </a:solidFill>
                          <a:latin typeface="Open Sans"/>
                        </a:rPr>
                        <a:t>13 of 16</a:t>
                      </a:r>
                    </a:p>
                  </a:txBody>
                  <a:tcPr marL="54864" marR="54864">
                    <a:solidFill>
                      <a:srgbClr val="FFFFFF"/>
                    </a:solidFill>
                  </a:tcPr>
                </a:tc>
                <a:tc>
                  <a:txBody>
                    <a:bodyPr/>
                    <a:lstStyle/>
                    <a:p>
                      <a:r>
                        <a:rPr sz="1100" b="0">
                          <a:solidFill>
                            <a:srgbClr val="1B2630"/>
                          </a:solidFill>
                          <a:latin typeface="Open Sans"/>
                        </a:rPr>
                        <a:t>13 or 15 of 16</a:t>
                      </a:r>
                    </a:p>
                  </a:txBody>
                  <a:tcPr marL="54864" marR="54864">
                    <a:solidFill>
                      <a:srgbClr val="FFFFFF"/>
                    </a:solidFill>
                  </a:tcPr>
                </a:tc>
              </a:tr>
              <a:tr h="339636">
                <a:tc>
                  <a:txBody>
                    <a:bodyPr/>
                    <a:lstStyle/>
                    <a:p>
                      <a:r>
                        <a:rPr sz="1100" b="0">
                          <a:solidFill>
                            <a:srgbClr val="1B2630"/>
                          </a:solidFill>
                          <a:latin typeface="Open Sans"/>
                        </a:rPr>
                        <a:t>Peak per core</a:t>
                      </a:r>
                    </a:p>
                  </a:txBody>
                  <a:tcPr marL="54864" marR="54864">
                    <a:solidFill>
                      <a:srgbClr val="FFFFFF"/>
                    </a:solidFill>
                  </a:tcPr>
                </a:tc>
                <a:tc>
                  <a:txBody>
                    <a:bodyPr/>
                    <a:lstStyle/>
                    <a:p>
                      <a:r>
                        <a:rPr sz="1100" b="0">
                          <a:solidFill>
                            <a:srgbClr val="1B2630"/>
                          </a:solidFill>
                          <a:latin typeface="Open Sans"/>
                        </a:rPr>
                        <a:t>16 FLOPs/cycle</a:t>
                      </a:r>
                    </a:p>
                  </a:txBody>
                  <a:tcPr marL="54864" marR="54864">
                    <a:solidFill>
                      <a:srgbClr val="FFFFFF"/>
                    </a:solidFill>
                  </a:tcPr>
                </a:tc>
                <a:tc>
                  <a:txBody>
                    <a:bodyPr/>
                    <a:lstStyle/>
                    <a:p>
                      <a:r>
                        <a:rPr sz="1100" b="0">
                          <a:solidFill>
                            <a:srgbClr val="1B2630"/>
                          </a:solidFill>
                          <a:latin typeface="Open Sans"/>
                        </a:rPr>
                        <a:t>32 FLOPs/cycle</a:t>
                      </a:r>
                    </a:p>
                  </a:txBody>
                  <a:tcPr marL="54864" marR="54864">
                    <a:solidFill>
                      <a:srgbClr val="FFFFFF"/>
                    </a:solidFill>
                  </a:tcPr>
                </a:tc>
              </a:tr>
            </a:tbl>
          </a:graphicData>
        </a:graphic>
      </p:graphicFrame>
      <p:sp>
        <p:nvSpPr>
          <p:cNvPr id="4" name="TextBox 3"/>
          <p:cNvSpPr txBox="1"/>
          <p:nvPr/>
        </p:nvSpPr>
        <p:spPr>
          <a:xfrm>
            <a:off x="457200" y="3611880"/>
            <a:ext cx="4572000" cy="548640"/>
          </a:xfrm>
          <a:prstGeom prst="rect">
            <a:avLst/>
          </a:prstGeom>
          <a:noFill/>
        </p:spPr>
        <p:txBody>
          <a:bodyPr wrap="square" lIns="0" rIns="0" tIns="0" bIns="0" anchor="t">
            <a:spAutoFit/>
          </a:bodyPr>
          <a:lstStyle/>
          <a:p>
            <a:pPr algn="l"/>
            <a:r>
              <a:rPr sz="1200" b="0" i="0">
                <a:solidFill>
                  <a:srgbClr val="5A6875"/>
                </a:solidFill>
                <a:latin typeface="Open Sans"/>
              </a:rPr>
              <a:t>Same Broadwell core: 2 FMA units × 8 lanes × 2 FLOPs = 32 FLOPs/cycle. Latency 5 × throughput 2 = 10 chains in flight.</a:t>
            </a:r>
          </a:p>
        </p:txBody>
      </p:sp>
      <p:sp>
        <p:nvSpPr>
          <p:cNvPr id="5" name="term-0"/>
          <p:cNvSpPr/>
          <p:nvPr/>
        </p:nvSpPr>
        <p:spPr>
          <a:xfrm>
            <a:off x="5257800" y="1097280"/>
            <a:ext cx="3429000" cy="694944"/>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76672" y="1161288"/>
            <a:ext cx="3200400" cy="228600"/>
          </a:xfrm>
          <a:prstGeom prst="rect">
            <a:avLst/>
          </a:prstGeom>
          <a:noFill/>
        </p:spPr>
        <p:txBody>
          <a:bodyPr wrap="square" lIns="0" rIns="0" tIns="0" bIns="0" anchor="t">
            <a:spAutoFit/>
          </a:bodyPr>
          <a:lstStyle/>
          <a:p>
            <a:pPr algn="l"/>
            <a:r>
              <a:rPr sz="1200" b="1" i="0">
                <a:solidFill>
                  <a:srgbClr val="1B2630"/>
                </a:solidFill>
                <a:latin typeface="Courier New"/>
              </a:rPr>
              <a:t>C</a:t>
            </a:r>
          </a:p>
        </p:txBody>
      </p:sp>
      <p:sp>
        <p:nvSpPr>
          <p:cNvPr id="7" name="TextBox 6"/>
          <p:cNvSpPr txBox="1"/>
          <p:nvPr/>
        </p:nvSpPr>
        <p:spPr>
          <a:xfrm>
            <a:off x="5376672" y="1399032"/>
            <a:ext cx="3200400" cy="384048"/>
          </a:xfrm>
          <a:prstGeom prst="rect">
            <a:avLst/>
          </a:prstGeom>
          <a:noFill/>
        </p:spPr>
        <p:txBody>
          <a:bodyPr wrap="square" lIns="0" rIns="0" tIns="0" bIns="0" anchor="t">
            <a:spAutoFit/>
          </a:bodyPr>
          <a:lstStyle/>
          <a:p>
            <a:pPr algn="l"/>
            <a:r>
              <a:rPr sz="1000" b="0" i="0">
                <a:solidFill>
                  <a:srgbClr val="5A6875"/>
                </a:solidFill>
                <a:latin typeface="Open Sans"/>
              </a:rPr>
              <a:t>input channels of the layer (16 to 256)</a:t>
            </a:r>
          </a:p>
        </p:txBody>
      </p:sp>
      <p:sp>
        <p:nvSpPr>
          <p:cNvPr id="8" name="term-1"/>
          <p:cNvSpPr/>
          <p:nvPr/>
        </p:nvSpPr>
        <p:spPr>
          <a:xfrm>
            <a:off x="5257800" y="1865376"/>
            <a:ext cx="3429000" cy="694944"/>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76672" y="1929384"/>
            <a:ext cx="3200400" cy="228600"/>
          </a:xfrm>
          <a:prstGeom prst="rect">
            <a:avLst/>
          </a:prstGeom>
          <a:noFill/>
        </p:spPr>
        <p:txBody>
          <a:bodyPr wrap="square" lIns="0" rIns="0" tIns="0" bIns="0" anchor="t">
            <a:spAutoFit/>
          </a:bodyPr>
          <a:lstStyle/>
          <a:p>
            <a:pPr algn="l"/>
            <a:r>
              <a:rPr sz="1200" b="1" i="0">
                <a:solidFill>
                  <a:srgbClr val="1B2630"/>
                </a:solidFill>
                <a:latin typeface="Courier New"/>
              </a:rPr>
              <a:t>k = C × 9</a:t>
            </a:r>
          </a:p>
        </p:txBody>
      </p:sp>
      <p:sp>
        <p:nvSpPr>
          <p:cNvPr id="10" name="TextBox 9"/>
          <p:cNvSpPr txBox="1"/>
          <p:nvPr/>
        </p:nvSpPr>
        <p:spPr>
          <a:xfrm>
            <a:off x="5376672" y="2167128"/>
            <a:ext cx="3200400" cy="384048"/>
          </a:xfrm>
          <a:prstGeom prst="rect">
            <a:avLst/>
          </a:prstGeom>
          <a:noFill/>
        </p:spPr>
        <p:txBody>
          <a:bodyPr wrap="square" lIns="0" rIns="0" tIns="0" bIns="0" anchor="t">
            <a:spAutoFit/>
          </a:bodyPr>
          <a:lstStyle/>
          <a:p>
            <a:pPr algn="l"/>
            <a:r>
              <a:rPr sz="1000" b="0" i="0">
                <a:solidFill>
                  <a:srgbClr val="5A6875"/>
                </a:solidFill>
                <a:latin typeface="Open Sans"/>
              </a:rPr>
              <a:t>multiply-adds per output: C channels × the 9 taps of the 3×3 filter (A2's k)</a:t>
            </a:r>
          </a:p>
        </p:txBody>
      </p:sp>
      <p:sp>
        <p:nvSpPr>
          <p:cNvPr id="11" name="term-2"/>
          <p:cNvSpPr/>
          <p:nvPr/>
        </p:nvSpPr>
        <p:spPr>
          <a:xfrm>
            <a:off x="5257800" y="2633472"/>
            <a:ext cx="3429000" cy="694944"/>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76672" y="2697479"/>
            <a:ext cx="3200400" cy="228600"/>
          </a:xfrm>
          <a:prstGeom prst="rect">
            <a:avLst/>
          </a:prstGeom>
          <a:noFill/>
        </p:spPr>
        <p:txBody>
          <a:bodyPr wrap="square" lIns="0" rIns="0" tIns="0" bIns="0" anchor="t">
            <a:spAutoFit/>
          </a:bodyPr>
          <a:lstStyle/>
          <a:p>
            <a:pPr algn="l"/>
            <a:r>
              <a:rPr sz="1200" b="1" i="0">
                <a:solidFill>
                  <a:srgbClr val="1B2630"/>
                </a:solidFill>
                <a:latin typeface="Courier New"/>
              </a:rPr>
              <a:t>accumulator</a:t>
            </a:r>
          </a:p>
        </p:txBody>
      </p:sp>
      <p:sp>
        <p:nvSpPr>
          <p:cNvPr id="13" name="TextBox 12"/>
          <p:cNvSpPr txBox="1"/>
          <p:nvPr/>
        </p:nvSpPr>
        <p:spPr>
          <a:xfrm>
            <a:off x="5376672" y="2935224"/>
            <a:ext cx="3200400" cy="384048"/>
          </a:xfrm>
          <a:prstGeom prst="rect">
            <a:avLst/>
          </a:prstGeom>
          <a:noFill/>
        </p:spPr>
        <p:txBody>
          <a:bodyPr wrap="square" lIns="0" rIns="0" tIns="0" bIns="0" anchor="t">
            <a:spAutoFit/>
          </a:bodyPr>
          <a:lstStyle/>
          <a:p>
            <a:pPr algn="l"/>
            <a:r>
              <a:rPr sz="1000" b="0" i="0">
                <a:solidFill>
                  <a:srgbClr val="5A6875"/>
                </a:solidFill>
                <a:latin typeface="Open Sans"/>
              </a:rPr>
              <a:t>one YMM register = 8 outputs (8 channels of one pixel); one dependency chain</a:t>
            </a:r>
          </a:p>
        </p:txBody>
      </p:sp>
      <p:sp>
        <p:nvSpPr>
          <p:cNvPr id="14" name="term-3"/>
          <p:cNvSpPr/>
          <p:nvPr/>
        </p:nvSpPr>
        <p:spPr>
          <a:xfrm>
            <a:off x="5257800" y="3401568"/>
            <a:ext cx="3429000" cy="694944"/>
          </a:xfrm>
          <a:prstGeom prst="roundRect">
            <a:avLst>
              <a:gd name="adj" fmla="val 8000"/>
            </a:avLst>
          </a:prstGeom>
          <a:solidFill>
            <a:srgbClr val="F8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76672" y="3465575"/>
            <a:ext cx="3200400" cy="228600"/>
          </a:xfrm>
          <a:prstGeom prst="rect">
            <a:avLst/>
          </a:prstGeom>
          <a:noFill/>
        </p:spPr>
        <p:txBody>
          <a:bodyPr wrap="square" lIns="0" rIns="0" tIns="0" bIns="0" anchor="t">
            <a:spAutoFit/>
          </a:bodyPr>
          <a:lstStyle/>
          <a:p>
            <a:pPr algn="l"/>
            <a:r>
              <a:rPr sz="1200" b="1" i="0">
                <a:solidFill>
                  <a:srgbClr val="BB0027"/>
                </a:solidFill>
                <a:latin typeface="Courier New"/>
              </a:rPr>
              <a:t>tile 2×5 (10)</a:t>
            </a:r>
          </a:p>
        </p:txBody>
      </p:sp>
      <p:sp>
        <p:nvSpPr>
          <p:cNvPr id="16" name="TextBox 15"/>
          <p:cNvSpPr txBox="1"/>
          <p:nvPr/>
        </p:nvSpPr>
        <p:spPr>
          <a:xfrm>
            <a:off x="5376672" y="3703320"/>
            <a:ext cx="3200400" cy="384048"/>
          </a:xfrm>
          <a:prstGeom prst="rect">
            <a:avLst/>
          </a:prstGeom>
          <a:noFill/>
        </p:spPr>
        <p:txBody>
          <a:bodyPr wrap="square" lIns="0" rIns="0" tIns="0" bIns="0" anchor="t">
            <a:spAutoFit/>
          </a:bodyPr>
          <a:lstStyle/>
          <a:p>
            <a:pPr algn="l"/>
            <a:r>
              <a:rPr sz="1000" b="0" i="0">
                <a:solidFill>
                  <a:srgbClr val="5A6875"/>
                </a:solidFill>
                <a:latin typeface="Open Sans"/>
              </a:rPr>
              <a:t>outputs per call: 2 blocks of 8 ch × 5 pixels = 80 outputs in 10 accumulators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kernel call = 80 outputs</a:t>
            </a:r>
          </a:p>
        </p:txBody>
      </p:sp>
      <p:pic>
        <p:nvPicPr>
          <p:cNvPr id="3" name="Picture 2" descr="tile_tensors.png"/>
          <p:cNvPicPr>
            <a:picLocks noChangeAspect="1"/>
          </p:cNvPicPr>
          <p:nvPr/>
        </p:nvPicPr>
        <p:blipFill>
          <a:blip r:embed="rId3"/>
          <a:stretch>
            <a:fillRect/>
          </a:stretch>
        </p:blipFill>
        <p:spPr>
          <a:xfrm>
            <a:off x="1097280" y="960120"/>
            <a:ext cx="6949440" cy="2024057"/>
          </a:xfrm>
          <a:prstGeom prst="rect">
            <a:avLst/>
          </a:prstGeom>
        </p:spPr>
      </p:pic>
      <p:sp>
        <p:nvSpPr>
          <p:cNvPr id="4" name="TextBox 3"/>
          <p:cNvSpPr txBox="1"/>
          <p:nvPr/>
        </p:nvSpPr>
        <p:spPr>
          <a:xfrm>
            <a:off x="457200" y="3017520"/>
            <a:ext cx="8229600" cy="274320"/>
          </a:xfrm>
          <a:prstGeom prst="rect">
            <a:avLst/>
          </a:prstGeom>
          <a:noFill/>
        </p:spPr>
        <p:txBody>
          <a:bodyPr wrap="square" lIns="0" rIns="0" tIns="0" bIns="0" anchor="t">
            <a:spAutoFit/>
          </a:bodyPr>
          <a:lstStyle/>
          <a:p>
            <a:pPr algn="l"/>
            <a:r>
              <a:rPr sz="1150" b="0" i="0">
                <a:solidFill>
                  <a:srgbClr val="1B2630"/>
                </a:solidFill>
                <a:latin typeface="Open Sans"/>
              </a:rPr>
              <a:t>Per step: 2 weight loads + 5 broadcasts feed 10 FMAs; repeated k = C × 9 times, then bias, SiLU, one store.</a:t>
            </a:r>
          </a:p>
        </p:txBody>
      </p:sp>
      <p:sp>
        <p:nvSpPr>
          <p:cNvPr id="5" name="strip-0"/>
          <p:cNvSpPr/>
          <p:nvPr/>
        </p:nvSpPr>
        <p:spPr>
          <a:xfrm>
            <a:off x="457200" y="3364992"/>
            <a:ext cx="1965960" cy="841248"/>
          </a:xfrm>
          <a:prstGeom prst="roundRect">
            <a:avLst>
              <a:gd name="adj" fmla="val 8000"/>
            </a:avLst>
          </a:prstGeom>
          <a:solidFill>
            <a:srgbClr val="F8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419856"/>
            <a:ext cx="1783080" cy="228600"/>
          </a:xfrm>
          <a:prstGeom prst="rect">
            <a:avLst/>
          </a:prstGeom>
          <a:noFill/>
        </p:spPr>
        <p:txBody>
          <a:bodyPr wrap="square" lIns="0" rIns="0" tIns="0" bIns="0" anchor="t">
            <a:spAutoFit/>
          </a:bodyPr>
          <a:lstStyle/>
          <a:p>
            <a:pPr algn="l"/>
            <a:r>
              <a:rPr sz="1150" b="1" i="0">
                <a:solidFill>
                  <a:srgbClr val="BB0027"/>
                </a:solidFill>
                <a:latin typeface="Open Sans"/>
              </a:rPr>
              <a:t>SIMD</a:t>
            </a:r>
          </a:p>
        </p:txBody>
      </p:sp>
      <p:sp>
        <p:nvSpPr>
          <p:cNvPr id="7" name="TextBox 6"/>
          <p:cNvSpPr txBox="1"/>
          <p:nvPr/>
        </p:nvSpPr>
        <p:spPr>
          <a:xfrm>
            <a:off x="548640" y="3648456"/>
            <a:ext cx="1783080" cy="548640"/>
          </a:xfrm>
          <a:prstGeom prst="rect">
            <a:avLst/>
          </a:prstGeom>
          <a:noFill/>
        </p:spPr>
        <p:txBody>
          <a:bodyPr wrap="square" lIns="0" rIns="0" tIns="0" bIns="0" anchor="t">
            <a:spAutoFit/>
          </a:bodyPr>
          <a:lstStyle/>
          <a:p>
            <a:pPr algn="l"/>
            <a:r>
              <a:rPr sz="950" b="0" i="0">
                <a:solidFill>
                  <a:srgbClr val="5A6875"/>
                </a:solidFill>
                <a:latin typeface="Open Sans"/>
              </a:rPr>
              <a:t>one vfmadd231ps = 8 multiply-adds (8 output channels): 32 FLOPs/cycle vs 4 scalar</a:t>
            </a:r>
          </a:p>
        </p:txBody>
      </p:sp>
      <p:sp>
        <p:nvSpPr>
          <p:cNvPr id="8" name="strip-1"/>
          <p:cNvSpPr/>
          <p:nvPr/>
        </p:nvSpPr>
        <p:spPr>
          <a:xfrm>
            <a:off x="2542032" y="3364992"/>
            <a:ext cx="1965960" cy="84124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33472" y="3419856"/>
            <a:ext cx="1783080" cy="228600"/>
          </a:xfrm>
          <a:prstGeom prst="rect">
            <a:avLst/>
          </a:prstGeom>
          <a:noFill/>
        </p:spPr>
        <p:txBody>
          <a:bodyPr wrap="square" lIns="0" rIns="0" tIns="0" bIns="0" anchor="t">
            <a:spAutoFit/>
          </a:bodyPr>
          <a:lstStyle/>
          <a:p>
            <a:pPr algn="l"/>
            <a:r>
              <a:rPr sz="1150" b="1" i="0">
                <a:solidFill>
                  <a:srgbClr val="1B2630"/>
                </a:solidFill>
                <a:latin typeface="Open Sans"/>
              </a:rPr>
              <a:t>Intrinsics</a:t>
            </a:r>
          </a:p>
        </p:txBody>
      </p:sp>
      <p:sp>
        <p:nvSpPr>
          <p:cNvPr id="10" name="TextBox 9"/>
          <p:cNvSpPr txBox="1"/>
          <p:nvPr/>
        </p:nvSpPr>
        <p:spPr>
          <a:xfrm>
            <a:off x="2633472" y="3648456"/>
            <a:ext cx="1783080" cy="548640"/>
          </a:xfrm>
          <a:prstGeom prst="rect">
            <a:avLst/>
          </a:prstGeom>
          <a:noFill/>
        </p:spPr>
        <p:txBody>
          <a:bodyPr wrap="square" lIns="0" rIns="0" tIns="0" bIns="0" anchor="t">
            <a:spAutoFit/>
          </a:bodyPr>
          <a:lstStyle/>
          <a:p>
            <a:pPr algn="l"/>
            <a:r>
              <a:rPr sz="950" b="0" i="0">
                <a:solidFill>
                  <a:srgbClr val="5A6875"/>
                </a:solidFill>
                <a:latin typeface="Open Sans"/>
              </a:rPr>
              <a:t>C calls that are one instruction each, e.g. _mm256_fmadd_ps = vfmadd231ps</a:t>
            </a:r>
          </a:p>
        </p:txBody>
      </p:sp>
      <p:sp>
        <p:nvSpPr>
          <p:cNvPr id="11" name="strip-2"/>
          <p:cNvSpPr/>
          <p:nvPr/>
        </p:nvSpPr>
        <p:spPr>
          <a:xfrm>
            <a:off x="4626864" y="3364992"/>
            <a:ext cx="1965960" cy="84124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3" y="3419856"/>
            <a:ext cx="1783080" cy="228600"/>
          </a:xfrm>
          <a:prstGeom prst="rect">
            <a:avLst/>
          </a:prstGeom>
          <a:noFill/>
        </p:spPr>
        <p:txBody>
          <a:bodyPr wrap="square" lIns="0" rIns="0" tIns="0" bIns="0" anchor="t">
            <a:spAutoFit/>
          </a:bodyPr>
          <a:lstStyle/>
          <a:p>
            <a:pPr algn="l"/>
            <a:r>
              <a:rPr sz="1150" b="1" i="0">
                <a:solidFill>
                  <a:srgbClr val="1B2630"/>
                </a:solidFill>
                <a:latin typeface="Open Sans"/>
              </a:rPr>
              <a:t>Reuse</a:t>
            </a:r>
          </a:p>
        </p:txBody>
      </p:sp>
      <p:sp>
        <p:nvSpPr>
          <p:cNvPr id="13" name="TextBox 12"/>
          <p:cNvSpPr txBox="1"/>
          <p:nvPr/>
        </p:nvSpPr>
        <p:spPr>
          <a:xfrm>
            <a:off x="4718303" y="3648456"/>
            <a:ext cx="1783080" cy="548640"/>
          </a:xfrm>
          <a:prstGeom prst="rect">
            <a:avLst/>
          </a:prstGeom>
          <a:noFill/>
        </p:spPr>
        <p:txBody>
          <a:bodyPr wrap="square" lIns="0" rIns="0" tIns="0" bIns="0" anchor="t">
            <a:spAutoFit/>
          </a:bodyPr>
          <a:lstStyle/>
          <a:p>
            <a:pPr algn="l"/>
            <a:r>
              <a:rPr sz="950" b="0" i="0">
                <a:solidFill>
                  <a:srgbClr val="5A6875"/>
                </a:solidFill>
                <a:latin typeface="Open Sans"/>
              </a:rPr>
              <a:t>each weight vector used 5×, each broadcast 2×, each accumulator stored once</a:t>
            </a:r>
          </a:p>
        </p:txBody>
      </p:sp>
      <p:sp>
        <p:nvSpPr>
          <p:cNvPr id="14" name="strip-3"/>
          <p:cNvSpPr/>
          <p:nvPr/>
        </p:nvSpPr>
        <p:spPr>
          <a:xfrm>
            <a:off x="6711696" y="3364992"/>
            <a:ext cx="1965960" cy="84124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03136" y="3419856"/>
            <a:ext cx="1783080" cy="228600"/>
          </a:xfrm>
          <a:prstGeom prst="rect">
            <a:avLst/>
          </a:prstGeom>
          <a:noFill/>
        </p:spPr>
        <p:txBody>
          <a:bodyPr wrap="square" lIns="0" rIns="0" tIns="0" bIns="0" anchor="t">
            <a:spAutoFit/>
          </a:bodyPr>
          <a:lstStyle/>
          <a:p>
            <a:pPr algn="l"/>
            <a:r>
              <a:rPr sz="1150" b="1" i="0">
                <a:solidFill>
                  <a:srgbClr val="1B2630"/>
                </a:solidFill>
                <a:latin typeface="Open Sans"/>
              </a:rPr>
              <a:t>Layout</a:t>
            </a:r>
          </a:p>
        </p:txBody>
      </p:sp>
      <p:sp>
        <p:nvSpPr>
          <p:cNvPr id="16" name="TextBox 15"/>
          <p:cNvSpPr txBox="1"/>
          <p:nvPr/>
        </p:nvSpPr>
        <p:spPr>
          <a:xfrm>
            <a:off x="6803136" y="3648456"/>
            <a:ext cx="1783080" cy="548640"/>
          </a:xfrm>
          <a:prstGeom prst="rect">
            <a:avLst/>
          </a:prstGeom>
          <a:noFill/>
        </p:spPr>
        <p:txBody>
          <a:bodyPr wrap="square" lIns="0" rIns="0" tIns="0" bIns="0" anchor="t">
            <a:spAutoFit/>
          </a:bodyPr>
          <a:lstStyle/>
          <a:p>
            <a:pPr algn="l"/>
            <a:r>
              <a:rPr sz="950" b="0" i="0">
                <a:solidFill>
                  <a:srgbClr val="5A6875"/>
                </a:solidFill>
                <a:latin typeface="Open Sans"/>
              </a:rPr>
              <a:t>8 channels of a pixel are contiguous: one aligned load fills one register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 size, registers, allocation</a:t>
            </a:r>
          </a:p>
        </p:txBody>
      </p:sp>
      <p:sp>
        <p:nvSpPr>
          <p:cNvPr id="3" name="TextBox 2"/>
          <p:cNvSpPr txBox="1"/>
          <p:nvPr/>
        </p:nvSpPr>
        <p:spPr>
          <a:xfrm>
            <a:off x="457200" y="960120"/>
            <a:ext cx="4297680" cy="274320"/>
          </a:xfrm>
          <a:prstGeom prst="rect">
            <a:avLst/>
          </a:prstGeom>
          <a:noFill/>
        </p:spPr>
        <p:txBody>
          <a:bodyPr wrap="square" lIns="0" rIns="0" tIns="0" bIns="0" anchor="t">
            <a:spAutoFit/>
          </a:bodyPr>
          <a:lstStyle/>
          <a:p>
            <a:pPr algn="l"/>
            <a:r>
              <a:rPr sz="1100" b="1" i="0">
                <a:solidFill>
                  <a:srgbClr val="1B2630"/>
                </a:solidFill>
                <a:latin typeface="Open Sans"/>
              </a:rPr>
              <a:t>16 YMM registers, 8 floats each (row 1: block kb, row 2: kb+1)</a:t>
            </a:r>
          </a:p>
        </p:txBody>
      </p:sp>
      <p:sp>
        <p:nvSpPr>
          <p:cNvPr id="4" name="Rectangle 3"/>
          <p:cNvSpPr/>
          <p:nvPr/>
        </p:nvSpPr>
        <p:spPr>
          <a:xfrm>
            <a:off x="457200" y="1325880"/>
            <a:ext cx="786384" cy="475488"/>
          </a:xfrm>
          <a:prstGeom prst="rect">
            <a:avLst/>
          </a:prstGeom>
          <a:solidFill>
            <a:srgbClr val="D7EAF0"/>
          </a:solidFill>
          <a:ln w="15875">
            <a:solidFill>
              <a:srgbClr val="0C6A87"/>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0C6A87"/>
                </a:solidFill>
                <a:latin typeface="Courier New"/>
              </a:rPr>
              <a:t>c[0][0]</a:t>
            </a:r>
          </a:p>
        </p:txBody>
      </p:sp>
      <p:sp>
        <p:nvSpPr>
          <p:cNvPr id="5" name="Rectangle 4"/>
          <p:cNvSpPr/>
          <p:nvPr/>
        </p:nvSpPr>
        <p:spPr>
          <a:xfrm>
            <a:off x="1298448" y="1325880"/>
            <a:ext cx="786384" cy="475488"/>
          </a:xfrm>
          <a:prstGeom prst="rect">
            <a:avLst/>
          </a:prstGeom>
          <a:solidFill>
            <a:srgbClr val="D7EAF0"/>
          </a:solidFill>
          <a:ln w="15875">
            <a:solidFill>
              <a:srgbClr val="0C6A87"/>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0C6A87"/>
                </a:solidFill>
                <a:latin typeface="Courier New"/>
              </a:rPr>
              <a:t>c[0][1]</a:t>
            </a:r>
          </a:p>
        </p:txBody>
      </p:sp>
      <p:sp>
        <p:nvSpPr>
          <p:cNvPr id="6" name="Rectangle 5"/>
          <p:cNvSpPr/>
          <p:nvPr/>
        </p:nvSpPr>
        <p:spPr>
          <a:xfrm>
            <a:off x="2139696" y="1325880"/>
            <a:ext cx="786384" cy="475488"/>
          </a:xfrm>
          <a:prstGeom prst="rect">
            <a:avLst/>
          </a:prstGeom>
          <a:solidFill>
            <a:srgbClr val="D7EAF0"/>
          </a:solidFill>
          <a:ln w="15875">
            <a:solidFill>
              <a:srgbClr val="0C6A87"/>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0C6A87"/>
                </a:solidFill>
                <a:latin typeface="Courier New"/>
              </a:rPr>
              <a:t>c[0][2]</a:t>
            </a:r>
          </a:p>
        </p:txBody>
      </p:sp>
      <p:sp>
        <p:nvSpPr>
          <p:cNvPr id="7" name="Rectangle 6"/>
          <p:cNvSpPr/>
          <p:nvPr/>
        </p:nvSpPr>
        <p:spPr>
          <a:xfrm>
            <a:off x="2980944" y="1325880"/>
            <a:ext cx="786384" cy="475488"/>
          </a:xfrm>
          <a:prstGeom prst="rect">
            <a:avLst/>
          </a:prstGeom>
          <a:solidFill>
            <a:srgbClr val="D7EAF0"/>
          </a:solidFill>
          <a:ln w="15875">
            <a:solidFill>
              <a:srgbClr val="0C6A87"/>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0C6A87"/>
                </a:solidFill>
                <a:latin typeface="Courier New"/>
              </a:rPr>
              <a:t>c[0][3]</a:t>
            </a:r>
          </a:p>
        </p:txBody>
      </p:sp>
      <p:sp>
        <p:nvSpPr>
          <p:cNvPr id="8" name="Rectangle 7"/>
          <p:cNvSpPr/>
          <p:nvPr/>
        </p:nvSpPr>
        <p:spPr>
          <a:xfrm>
            <a:off x="3822191" y="1325880"/>
            <a:ext cx="786384" cy="475488"/>
          </a:xfrm>
          <a:prstGeom prst="rect">
            <a:avLst/>
          </a:prstGeom>
          <a:solidFill>
            <a:srgbClr val="D7EAF0"/>
          </a:solidFill>
          <a:ln w="15875">
            <a:solidFill>
              <a:srgbClr val="0C6A87"/>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0C6A87"/>
                </a:solidFill>
                <a:latin typeface="Courier New"/>
              </a:rPr>
              <a:t>c[0][4]</a:t>
            </a:r>
          </a:p>
        </p:txBody>
      </p:sp>
      <p:sp>
        <p:nvSpPr>
          <p:cNvPr id="9" name="Rectangle 8"/>
          <p:cNvSpPr/>
          <p:nvPr/>
        </p:nvSpPr>
        <p:spPr>
          <a:xfrm>
            <a:off x="457200" y="1892807"/>
            <a:ext cx="786384" cy="475488"/>
          </a:xfrm>
          <a:prstGeom prst="rect">
            <a:avLst/>
          </a:prstGeom>
          <a:solidFill>
            <a:srgbClr val="D7EAF0"/>
          </a:solidFill>
          <a:ln w="15875">
            <a:solidFill>
              <a:srgbClr val="0C6A87"/>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0C6A87"/>
                </a:solidFill>
                <a:latin typeface="Courier New"/>
              </a:rPr>
              <a:t>c[1][0]</a:t>
            </a:r>
          </a:p>
        </p:txBody>
      </p:sp>
      <p:sp>
        <p:nvSpPr>
          <p:cNvPr id="10" name="Rectangle 9"/>
          <p:cNvSpPr/>
          <p:nvPr/>
        </p:nvSpPr>
        <p:spPr>
          <a:xfrm>
            <a:off x="1298448" y="1892807"/>
            <a:ext cx="786384" cy="475488"/>
          </a:xfrm>
          <a:prstGeom prst="rect">
            <a:avLst/>
          </a:prstGeom>
          <a:solidFill>
            <a:srgbClr val="D7EAF0"/>
          </a:solidFill>
          <a:ln w="15875">
            <a:solidFill>
              <a:srgbClr val="0C6A87"/>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0C6A87"/>
                </a:solidFill>
                <a:latin typeface="Courier New"/>
              </a:rPr>
              <a:t>c[1][1]</a:t>
            </a:r>
          </a:p>
        </p:txBody>
      </p:sp>
      <p:sp>
        <p:nvSpPr>
          <p:cNvPr id="11" name="Rectangle 10"/>
          <p:cNvSpPr/>
          <p:nvPr/>
        </p:nvSpPr>
        <p:spPr>
          <a:xfrm>
            <a:off x="2139696" y="1892807"/>
            <a:ext cx="786384" cy="475488"/>
          </a:xfrm>
          <a:prstGeom prst="rect">
            <a:avLst/>
          </a:prstGeom>
          <a:solidFill>
            <a:srgbClr val="D7EAF0"/>
          </a:solidFill>
          <a:ln w="15875">
            <a:solidFill>
              <a:srgbClr val="0C6A87"/>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0C6A87"/>
                </a:solidFill>
                <a:latin typeface="Courier New"/>
              </a:rPr>
              <a:t>c[1][2]</a:t>
            </a:r>
          </a:p>
        </p:txBody>
      </p:sp>
      <p:sp>
        <p:nvSpPr>
          <p:cNvPr id="12" name="Rectangle 11"/>
          <p:cNvSpPr/>
          <p:nvPr/>
        </p:nvSpPr>
        <p:spPr>
          <a:xfrm>
            <a:off x="2980944" y="1892807"/>
            <a:ext cx="786384" cy="475488"/>
          </a:xfrm>
          <a:prstGeom prst="rect">
            <a:avLst/>
          </a:prstGeom>
          <a:solidFill>
            <a:srgbClr val="D7EAF0"/>
          </a:solidFill>
          <a:ln w="15875">
            <a:solidFill>
              <a:srgbClr val="0C6A87"/>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0C6A87"/>
                </a:solidFill>
                <a:latin typeface="Courier New"/>
              </a:rPr>
              <a:t>c[1][3]</a:t>
            </a:r>
          </a:p>
        </p:txBody>
      </p:sp>
      <p:sp>
        <p:nvSpPr>
          <p:cNvPr id="13" name="Rectangle 12"/>
          <p:cNvSpPr/>
          <p:nvPr/>
        </p:nvSpPr>
        <p:spPr>
          <a:xfrm>
            <a:off x="3822191" y="1892807"/>
            <a:ext cx="786384" cy="475488"/>
          </a:xfrm>
          <a:prstGeom prst="rect">
            <a:avLst/>
          </a:prstGeom>
          <a:solidFill>
            <a:srgbClr val="D7EAF0"/>
          </a:solidFill>
          <a:ln w="15875">
            <a:solidFill>
              <a:srgbClr val="0C6A87"/>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0C6A87"/>
                </a:solidFill>
                <a:latin typeface="Courier New"/>
              </a:rPr>
              <a:t>c[1][4]</a:t>
            </a:r>
          </a:p>
        </p:txBody>
      </p:sp>
      <p:sp>
        <p:nvSpPr>
          <p:cNvPr id="14" name="Rectangle 13"/>
          <p:cNvSpPr/>
          <p:nvPr/>
        </p:nvSpPr>
        <p:spPr>
          <a:xfrm>
            <a:off x="457200" y="2459736"/>
            <a:ext cx="649224" cy="475488"/>
          </a:xfrm>
          <a:prstGeom prst="rect">
            <a:avLst/>
          </a:prstGeom>
          <a:solidFill>
            <a:srgbClr val="F5E6CF"/>
          </a:solidFill>
          <a:ln w="15875">
            <a:solidFill>
              <a:srgbClr val="B7731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B7731A"/>
                </a:solidFill>
                <a:latin typeface="Courier New"/>
              </a:rPr>
              <a:t>w0</a:t>
            </a:r>
          </a:p>
        </p:txBody>
      </p:sp>
      <p:sp>
        <p:nvSpPr>
          <p:cNvPr id="15" name="Rectangle 14"/>
          <p:cNvSpPr/>
          <p:nvPr/>
        </p:nvSpPr>
        <p:spPr>
          <a:xfrm>
            <a:off x="1161288" y="2459736"/>
            <a:ext cx="649224" cy="475488"/>
          </a:xfrm>
          <a:prstGeom prst="rect">
            <a:avLst/>
          </a:prstGeom>
          <a:solidFill>
            <a:srgbClr val="F5E6CF"/>
          </a:solidFill>
          <a:ln w="15875">
            <a:solidFill>
              <a:srgbClr val="B7731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B7731A"/>
                </a:solidFill>
                <a:latin typeface="Courier New"/>
              </a:rPr>
              <a:t>w1</a:t>
            </a:r>
          </a:p>
        </p:txBody>
      </p:sp>
      <p:sp>
        <p:nvSpPr>
          <p:cNvPr id="16" name="Rectangle 15"/>
          <p:cNvSpPr/>
          <p:nvPr/>
        </p:nvSpPr>
        <p:spPr>
          <a:xfrm>
            <a:off x="1865376" y="2459736"/>
            <a:ext cx="649224" cy="475488"/>
          </a:xfrm>
          <a:prstGeom prst="rect">
            <a:avLst/>
          </a:prstGeom>
          <a:solidFill>
            <a:srgbClr val="E4E0F0"/>
          </a:solidFill>
          <a:ln w="15875">
            <a:solidFill>
              <a:srgbClr val="5B4B8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5B4B8A"/>
                </a:solidFill>
                <a:latin typeface="Courier New"/>
              </a:rPr>
              <a:t>x</a:t>
            </a:r>
          </a:p>
        </p:txBody>
      </p:sp>
      <p:sp>
        <p:nvSpPr>
          <p:cNvPr id="17" name="Rectangle 16"/>
          <p:cNvSpPr/>
          <p:nvPr/>
        </p:nvSpPr>
        <p:spPr>
          <a:xfrm>
            <a:off x="2569464" y="2459736"/>
            <a:ext cx="649224" cy="47548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0">
                <a:solidFill>
                  <a:srgbClr val="6B7782"/>
                </a:solidFill>
                <a:latin typeface="Courier New"/>
              </a:rPr>
              <a:t>free</a:t>
            </a:r>
          </a:p>
        </p:txBody>
      </p:sp>
      <p:sp>
        <p:nvSpPr>
          <p:cNvPr id="18" name="Rectangle 17"/>
          <p:cNvSpPr/>
          <p:nvPr/>
        </p:nvSpPr>
        <p:spPr>
          <a:xfrm>
            <a:off x="3273552" y="2459736"/>
            <a:ext cx="649224" cy="47548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0">
                <a:solidFill>
                  <a:srgbClr val="6B7782"/>
                </a:solidFill>
                <a:latin typeface="Courier New"/>
              </a:rPr>
              <a:t>free</a:t>
            </a:r>
          </a:p>
        </p:txBody>
      </p:sp>
      <p:sp>
        <p:nvSpPr>
          <p:cNvPr id="19" name="Rectangle 18"/>
          <p:cNvSpPr/>
          <p:nvPr/>
        </p:nvSpPr>
        <p:spPr>
          <a:xfrm>
            <a:off x="3977639" y="2459736"/>
            <a:ext cx="649224" cy="475488"/>
          </a:xfrm>
          <a:prstGeom prst="rect">
            <a:avLst/>
          </a:prstGeom>
          <a:solidFill>
            <a:srgbClr val="FFFFFF"/>
          </a:solidFill>
          <a:ln w="15875">
            <a:solidFill>
              <a:srgbClr val="6B778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0">
                <a:solidFill>
                  <a:srgbClr val="6B7782"/>
                </a:solidFill>
                <a:latin typeface="Courier New"/>
              </a:rPr>
              <a:t>free</a:t>
            </a:r>
          </a:p>
        </p:txBody>
      </p:sp>
      <p:sp>
        <p:nvSpPr>
          <p:cNvPr id="20" name="TextBox 19"/>
          <p:cNvSpPr txBox="1"/>
          <p:nvPr/>
        </p:nvSpPr>
        <p:spPr>
          <a:xfrm>
            <a:off x="457200" y="3154680"/>
            <a:ext cx="4206240" cy="822960"/>
          </a:xfrm>
          <a:prstGeom prst="rect">
            <a:avLst/>
          </a:prstGeom>
          <a:noFill/>
        </p:spPr>
        <p:txBody>
          <a:bodyPr wrap="square" lIns="0" rIns="0" tIns="0" bIns="0" anchor="t">
            <a:spAutoFit/>
          </a:bodyPr>
          <a:lstStyle/>
          <a:p>
            <a:pPr algn="l"/>
            <a:r>
              <a:rPr sz="1050" b="1" i="0">
                <a:solidFill>
                  <a:srgbClr val="0C6A87"/>
                </a:solidFill>
                <a:latin typeface="Courier New"/>
              </a:rPr>
              <a:t>c[b][j]</a:t>
            </a:r>
            <a:r>
              <a:rPr sz="1050" b="0" i="0">
                <a:solidFill>
                  <a:srgbClr val="5A6875"/>
                </a:solidFill>
                <a:latin typeface="Open Sans"/>
              </a:rPr>
              <a:t> output block b (8 ch), pixel j: 10 accumulators</a:t>
            </a:r>
          </a:p>
          <a:p>
            <a:pPr algn="l">
              <a:spcBef>
                <a:spcPts val="600"/>
              </a:spcBef>
            </a:pPr>
            <a:r>
              <a:rPr sz="1050" b="1" i="0">
                <a:solidFill>
                  <a:srgbClr val="B7731A"/>
                </a:solidFill>
                <a:latin typeface="Courier New"/>
              </a:rPr>
              <a:t>w0, w1</a:t>
            </a:r>
            <a:r>
              <a:rPr sz="1050" b="0" i="0">
                <a:solidFill>
                  <a:srgbClr val="5A6875"/>
                </a:solidFill>
                <a:latin typeface="Open Sans"/>
              </a:rPr>
              <a:t> 8 weights for blocks kb, kb+1 (one load each)</a:t>
            </a:r>
          </a:p>
          <a:p>
            <a:pPr algn="l">
              <a:spcBef>
                <a:spcPts val="600"/>
              </a:spcBef>
            </a:pPr>
            <a:r>
              <a:rPr sz="1050" b="1" i="0">
                <a:solidFill>
                  <a:srgbClr val="5B4B8A"/>
                </a:solidFill>
                <a:latin typeface="Courier New"/>
              </a:rPr>
              <a:t>x</a:t>
            </a:r>
            <a:r>
              <a:rPr sz="1050" b="0" i="0">
                <a:solidFill>
                  <a:srgbClr val="5A6875"/>
                </a:solidFill>
                <a:latin typeface="Open Sans"/>
              </a:rPr>
              <a:t> one input value broadcast to 8 lanes</a:t>
            </a:r>
          </a:p>
        </p:txBody>
      </p:sp>
      <p:sp>
        <p:nvSpPr>
          <p:cNvPr id="21" name="qa-0"/>
          <p:cNvSpPr/>
          <p:nvPr/>
        </p:nvSpPr>
        <p:spPr>
          <a:xfrm>
            <a:off x="4800600" y="960120"/>
            <a:ext cx="3886200" cy="100584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19472" y="1033272"/>
            <a:ext cx="3657600" cy="256032"/>
          </a:xfrm>
          <a:prstGeom prst="rect">
            <a:avLst/>
          </a:prstGeom>
          <a:noFill/>
        </p:spPr>
        <p:txBody>
          <a:bodyPr wrap="square" lIns="0" rIns="0" tIns="0" bIns="0" anchor="t">
            <a:spAutoFit/>
          </a:bodyPr>
          <a:lstStyle/>
          <a:p>
            <a:pPr algn="l"/>
            <a:r>
              <a:rPr sz="1250" b="1" i="0">
                <a:solidFill>
                  <a:srgbClr val="1B2630"/>
                </a:solidFill>
                <a:latin typeface="Open Sans"/>
              </a:rPr>
              <a:t>(a) Size</a:t>
            </a:r>
          </a:p>
        </p:txBody>
      </p:sp>
      <p:sp>
        <p:nvSpPr>
          <p:cNvPr id="23" name="TextBox 22"/>
          <p:cNvSpPr txBox="1"/>
          <p:nvPr/>
        </p:nvSpPr>
        <p:spPr>
          <a:xfrm>
            <a:off x="4919472" y="1307592"/>
            <a:ext cx="3657600" cy="640080"/>
          </a:xfrm>
          <a:prstGeom prst="rect">
            <a:avLst/>
          </a:prstGeom>
          <a:noFill/>
        </p:spPr>
        <p:txBody>
          <a:bodyPr wrap="square" lIns="0" rIns="0" tIns="0" bIns="0" anchor="t">
            <a:spAutoFit/>
          </a:bodyPr>
          <a:lstStyle/>
          <a:p>
            <a:pPr algn="l"/>
            <a:r>
              <a:rPr sz="1050" b="0" i="0">
                <a:solidFill>
                  <a:srgbClr val="5A6875"/>
                </a:solidFill>
                <a:latin typeface="Open Sans"/>
              </a:rPr>
              <a:t>80 outputs per call: 5 pixels × 16 output channels (2 blocks of 8).</a:t>
            </a:r>
          </a:p>
        </p:txBody>
      </p:sp>
      <p:sp>
        <p:nvSpPr>
          <p:cNvPr id="24" name="qa-1"/>
          <p:cNvSpPr/>
          <p:nvPr/>
        </p:nvSpPr>
        <p:spPr>
          <a:xfrm>
            <a:off x="4800600" y="2057400"/>
            <a:ext cx="3886200" cy="1005840"/>
          </a:xfrm>
          <a:prstGeom prst="roundRect">
            <a:avLst>
              <a:gd name="adj" fmla="val 8000"/>
            </a:avLst>
          </a:prstGeom>
          <a:solidFill>
            <a:srgbClr val="F8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9472" y="2130552"/>
            <a:ext cx="3657600" cy="256032"/>
          </a:xfrm>
          <a:prstGeom prst="rect">
            <a:avLst/>
          </a:prstGeom>
          <a:noFill/>
        </p:spPr>
        <p:txBody>
          <a:bodyPr wrap="square" lIns="0" rIns="0" tIns="0" bIns="0" anchor="t">
            <a:spAutoFit/>
          </a:bodyPr>
          <a:lstStyle/>
          <a:p>
            <a:pPr algn="l"/>
            <a:r>
              <a:rPr sz="1250" b="1" i="0">
                <a:solidFill>
                  <a:srgbClr val="BB0027"/>
                </a:solidFill>
                <a:latin typeface="Open Sans"/>
              </a:rPr>
              <a:t>(b) Registers</a:t>
            </a:r>
          </a:p>
        </p:txBody>
      </p:sp>
      <p:sp>
        <p:nvSpPr>
          <p:cNvPr id="26" name="TextBox 25"/>
          <p:cNvSpPr txBox="1"/>
          <p:nvPr/>
        </p:nvSpPr>
        <p:spPr>
          <a:xfrm>
            <a:off x="4919472" y="2404872"/>
            <a:ext cx="3657600" cy="640080"/>
          </a:xfrm>
          <a:prstGeom prst="rect">
            <a:avLst/>
          </a:prstGeom>
          <a:noFill/>
        </p:spPr>
        <p:txBody>
          <a:bodyPr wrap="square" lIns="0" rIns="0" tIns="0" bIns="0" anchor="t">
            <a:spAutoFit/>
          </a:bodyPr>
          <a:lstStyle/>
          <a:p>
            <a:pPr algn="l"/>
            <a:r>
              <a:rPr sz="1050" b="0" i="0">
                <a:solidFill>
                  <a:srgbClr val="5A6875"/>
                </a:solidFill>
                <a:latin typeface="Open Sans"/>
              </a:rPr>
              <a:t>Need 13 of the 16 YMM registers (AVX2, no AVX-512). At least 10 accumulators: FMA latency 5 × 2 FMA units.</a:t>
            </a:r>
          </a:p>
        </p:txBody>
      </p:sp>
      <p:sp>
        <p:nvSpPr>
          <p:cNvPr id="27" name="qa-2"/>
          <p:cNvSpPr/>
          <p:nvPr/>
        </p:nvSpPr>
        <p:spPr>
          <a:xfrm>
            <a:off x="4800600" y="3154680"/>
            <a:ext cx="3886200" cy="100584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19472" y="3227832"/>
            <a:ext cx="3657600" cy="256032"/>
          </a:xfrm>
          <a:prstGeom prst="rect">
            <a:avLst/>
          </a:prstGeom>
          <a:noFill/>
        </p:spPr>
        <p:txBody>
          <a:bodyPr wrap="square" lIns="0" rIns="0" tIns="0" bIns="0" anchor="t">
            <a:spAutoFit/>
          </a:bodyPr>
          <a:lstStyle/>
          <a:p>
            <a:pPr algn="l"/>
            <a:r>
              <a:rPr sz="1250" b="1" i="0">
                <a:solidFill>
                  <a:srgbClr val="1B2630"/>
                </a:solidFill>
                <a:latin typeface="Open Sans"/>
              </a:rPr>
              <a:t>(c) Allocation</a:t>
            </a:r>
          </a:p>
        </p:txBody>
      </p:sp>
      <p:sp>
        <p:nvSpPr>
          <p:cNvPr id="29" name="TextBox 28"/>
          <p:cNvSpPr txBox="1"/>
          <p:nvPr/>
        </p:nvSpPr>
        <p:spPr>
          <a:xfrm>
            <a:off x="4919472" y="3502152"/>
            <a:ext cx="3657600" cy="640080"/>
          </a:xfrm>
          <a:prstGeom prst="rect">
            <a:avLst/>
          </a:prstGeom>
          <a:noFill/>
        </p:spPr>
        <p:txBody>
          <a:bodyPr wrap="square" lIns="0" rIns="0" tIns="0" bIns="0" anchor="t">
            <a:spAutoFit/>
          </a:bodyPr>
          <a:lstStyle/>
          <a:p>
            <a:pPr algn="l"/>
            <a:r>
              <a:rPr sz="1050" b="0" i="0">
                <a:solidFill>
                  <a:srgbClr val="5A6875"/>
                </a:solidFill>
                <a:latin typeface="Open Sans"/>
              </a:rPr>
              <a:t>Outputs: 10 accumulators, live for the whole C × 9 loop. Inputs: 2 weight + 1 broadcast. Temporaries: none in the loop; 3 free. Pointers and counters live in integer registers.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 register reuse and the code</a:t>
            </a:r>
          </a:p>
        </p:txBody>
      </p:sp>
      <p:sp>
        <p:nvSpPr>
          <p:cNvPr id="3" name="TextBox 2"/>
          <p:cNvSpPr txBox="1"/>
          <p:nvPr/>
        </p:nvSpPr>
        <p:spPr>
          <a:xfrm>
            <a:off x="457200" y="960120"/>
            <a:ext cx="3291840" cy="274320"/>
          </a:xfrm>
          <a:prstGeom prst="rect">
            <a:avLst/>
          </a:prstGeom>
          <a:noFill/>
        </p:spPr>
        <p:txBody>
          <a:bodyPr wrap="square" lIns="0" rIns="0" tIns="0" bIns="0" anchor="t">
            <a:spAutoFit/>
          </a:bodyPr>
          <a:lstStyle/>
          <a:p>
            <a:pPr algn="l"/>
            <a:r>
              <a:rPr sz="1300" b="1" i="0">
                <a:solidFill>
                  <a:srgbClr val="BB0027"/>
                </a:solidFill>
                <a:latin typeface="Open Sans"/>
              </a:rPr>
              <a:t>(d) Reuse</a:t>
            </a:r>
          </a:p>
        </p:txBody>
      </p:sp>
      <p:sp>
        <p:nvSpPr>
          <p:cNvPr id="4" name="reuse-0"/>
          <p:cNvSpPr/>
          <p:nvPr/>
        </p:nvSpPr>
        <p:spPr>
          <a:xfrm>
            <a:off x="457200" y="1280160"/>
            <a:ext cx="3291840" cy="65836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35024"/>
            <a:ext cx="3108960" cy="228600"/>
          </a:xfrm>
          <a:prstGeom prst="rect">
            <a:avLst/>
          </a:prstGeom>
          <a:noFill/>
        </p:spPr>
        <p:txBody>
          <a:bodyPr wrap="square" lIns="0" rIns="0" tIns="0" bIns="0" anchor="t">
            <a:spAutoFit/>
          </a:bodyPr>
          <a:lstStyle/>
          <a:p>
            <a:pPr algn="l"/>
            <a:r>
              <a:rPr sz="1150" b="1" i="0">
                <a:solidFill>
                  <a:srgbClr val="1B2630"/>
                </a:solidFill>
                <a:latin typeface="Open Sans"/>
              </a:rPr>
              <a:t>Weight w0, w1</a:t>
            </a:r>
          </a:p>
        </p:txBody>
      </p:sp>
      <p:sp>
        <p:nvSpPr>
          <p:cNvPr id="6" name="TextBox 5"/>
          <p:cNvSpPr txBox="1"/>
          <p:nvPr/>
        </p:nvSpPr>
        <p:spPr>
          <a:xfrm>
            <a:off x="566928" y="1563624"/>
            <a:ext cx="3108960" cy="384048"/>
          </a:xfrm>
          <a:prstGeom prst="rect">
            <a:avLst/>
          </a:prstGeom>
          <a:noFill/>
        </p:spPr>
        <p:txBody>
          <a:bodyPr wrap="square" lIns="0" rIns="0" tIns="0" bIns="0" anchor="t">
            <a:spAutoFit/>
          </a:bodyPr>
          <a:lstStyle/>
          <a:p>
            <a:pPr algn="l"/>
            <a:r>
              <a:rPr sz="950" b="0" i="0">
                <a:solidFill>
                  <a:srgbClr val="5A6875"/>
                </a:solidFill>
                <a:latin typeface="Open Sans"/>
              </a:rPr>
              <a:t>1 load → 5 FMAs (one per pixel)</a:t>
            </a:r>
          </a:p>
        </p:txBody>
      </p:sp>
      <p:sp>
        <p:nvSpPr>
          <p:cNvPr id="7" name="reuse-1"/>
          <p:cNvSpPr/>
          <p:nvPr/>
        </p:nvSpPr>
        <p:spPr>
          <a:xfrm>
            <a:off x="457200" y="2011680"/>
            <a:ext cx="3291840" cy="65836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066544"/>
            <a:ext cx="3108960" cy="228600"/>
          </a:xfrm>
          <a:prstGeom prst="rect">
            <a:avLst/>
          </a:prstGeom>
          <a:noFill/>
        </p:spPr>
        <p:txBody>
          <a:bodyPr wrap="square" lIns="0" rIns="0" tIns="0" bIns="0" anchor="t">
            <a:spAutoFit/>
          </a:bodyPr>
          <a:lstStyle/>
          <a:p>
            <a:pPr algn="l"/>
            <a:r>
              <a:rPr sz="1150" b="1" i="0">
                <a:solidFill>
                  <a:srgbClr val="1B2630"/>
                </a:solidFill>
                <a:latin typeface="Open Sans"/>
              </a:rPr>
              <a:t>Input x</a:t>
            </a:r>
          </a:p>
        </p:txBody>
      </p:sp>
      <p:sp>
        <p:nvSpPr>
          <p:cNvPr id="9" name="TextBox 8"/>
          <p:cNvSpPr txBox="1"/>
          <p:nvPr/>
        </p:nvSpPr>
        <p:spPr>
          <a:xfrm>
            <a:off x="566928" y="2295144"/>
            <a:ext cx="3108960" cy="384048"/>
          </a:xfrm>
          <a:prstGeom prst="rect">
            <a:avLst/>
          </a:prstGeom>
          <a:noFill/>
        </p:spPr>
        <p:txBody>
          <a:bodyPr wrap="square" lIns="0" rIns="0" tIns="0" bIns="0" anchor="t">
            <a:spAutoFit/>
          </a:bodyPr>
          <a:lstStyle/>
          <a:p>
            <a:pPr algn="l"/>
            <a:r>
              <a:rPr sz="950" b="0" i="0">
                <a:solidFill>
                  <a:srgbClr val="5A6875"/>
                </a:solidFill>
                <a:latin typeface="Open Sans"/>
              </a:rPr>
              <a:t>1 broadcast → 2 FMAs (one per block); the one x register is reused for all 5 pixels</a:t>
            </a:r>
          </a:p>
        </p:txBody>
      </p:sp>
      <p:sp>
        <p:nvSpPr>
          <p:cNvPr id="10" name="reuse-2"/>
          <p:cNvSpPr/>
          <p:nvPr/>
        </p:nvSpPr>
        <p:spPr>
          <a:xfrm>
            <a:off x="457200" y="2743200"/>
            <a:ext cx="3291840" cy="65836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798064"/>
            <a:ext cx="3108960" cy="228600"/>
          </a:xfrm>
          <a:prstGeom prst="rect">
            <a:avLst/>
          </a:prstGeom>
          <a:noFill/>
        </p:spPr>
        <p:txBody>
          <a:bodyPr wrap="square" lIns="0" rIns="0" tIns="0" bIns="0" anchor="t">
            <a:spAutoFit/>
          </a:bodyPr>
          <a:lstStyle/>
          <a:p>
            <a:pPr algn="l"/>
            <a:r>
              <a:rPr sz="1150" b="1" i="0">
                <a:solidFill>
                  <a:srgbClr val="1B2630"/>
                </a:solidFill>
                <a:latin typeface="Open Sans"/>
              </a:rPr>
              <a:t>Accumulator c</a:t>
            </a:r>
          </a:p>
        </p:txBody>
      </p:sp>
      <p:sp>
        <p:nvSpPr>
          <p:cNvPr id="12" name="TextBox 11"/>
          <p:cNvSpPr txBox="1"/>
          <p:nvPr/>
        </p:nvSpPr>
        <p:spPr>
          <a:xfrm>
            <a:off x="566928" y="3026664"/>
            <a:ext cx="3108960" cy="384048"/>
          </a:xfrm>
          <a:prstGeom prst="rect">
            <a:avLst/>
          </a:prstGeom>
          <a:noFill/>
        </p:spPr>
        <p:txBody>
          <a:bodyPr wrap="square" lIns="0" rIns="0" tIns="0" bIns="0" anchor="t">
            <a:spAutoFit/>
          </a:bodyPr>
          <a:lstStyle/>
          <a:p>
            <a:pPr algn="l"/>
            <a:r>
              <a:rPr sz="950" b="0" i="0">
                <a:solidFill>
                  <a:srgbClr val="5A6875"/>
                </a:solidFill>
                <a:latin typeface="Open Sans"/>
              </a:rPr>
              <a:t>C × 9 FMAs → 1 store (bias as start value)</a:t>
            </a:r>
          </a:p>
        </p:txBody>
      </p:sp>
      <p:sp>
        <p:nvSpPr>
          <p:cNvPr id="13" name="reuse-3"/>
          <p:cNvSpPr/>
          <p:nvPr/>
        </p:nvSpPr>
        <p:spPr>
          <a:xfrm>
            <a:off x="457200" y="3474720"/>
            <a:ext cx="3291840" cy="65836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529584"/>
            <a:ext cx="3108960" cy="228600"/>
          </a:xfrm>
          <a:prstGeom prst="rect">
            <a:avLst/>
          </a:prstGeom>
          <a:noFill/>
        </p:spPr>
        <p:txBody>
          <a:bodyPr wrap="square" lIns="0" rIns="0" tIns="0" bIns="0" anchor="t">
            <a:spAutoFit/>
          </a:bodyPr>
          <a:lstStyle/>
          <a:p>
            <a:pPr algn="l"/>
            <a:r>
              <a:rPr sz="1150" b="1" i="0">
                <a:solidFill>
                  <a:srgbClr val="1B2630"/>
                </a:solidFill>
                <a:latin typeface="Open Sans"/>
              </a:rPr>
              <a:t>Per step</a:t>
            </a:r>
          </a:p>
        </p:txBody>
      </p:sp>
      <p:sp>
        <p:nvSpPr>
          <p:cNvPr id="15" name="TextBox 14"/>
          <p:cNvSpPr txBox="1"/>
          <p:nvPr/>
        </p:nvSpPr>
        <p:spPr>
          <a:xfrm>
            <a:off x="566928" y="3758184"/>
            <a:ext cx="3108960" cy="384048"/>
          </a:xfrm>
          <a:prstGeom prst="rect">
            <a:avLst/>
          </a:prstGeom>
          <a:noFill/>
        </p:spPr>
        <p:txBody>
          <a:bodyPr wrap="square" lIns="0" rIns="0" tIns="0" bIns="0" anchor="t">
            <a:spAutoFit/>
          </a:bodyPr>
          <a:lstStyle/>
          <a:p>
            <a:pPr algn="l"/>
            <a:r>
              <a:rPr sz="950" b="0" i="0">
                <a:solidFill>
                  <a:srgbClr val="5A6875"/>
                </a:solidFill>
                <a:latin typeface="Open Sans"/>
              </a:rPr>
              <a:t>7 loads : 10 FMAs, under the 2 loads/cycle limit</a:t>
            </a:r>
          </a:p>
        </p:txBody>
      </p:sp>
      <p:sp>
        <p:nvSpPr>
          <p:cNvPr id="16" name="TextBox 15"/>
          <p:cNvSpPr txBox="1"/>
          <p:nvPr/>
        </p:nvSpPr>
        <p:spPr>
          <a:xfrm>
            <a:off x="3977639" y="960120"/>
            <a:ext cx="4663440" cy="274320"/>
          </a:xfrm>
          <a:prstGeom prst="rect">
            <a:avLst/>
          </a:prstGeom>
          <a:noFill/>
        </p:spPr>
        <p:txBody>
          <a:bodyPr wrap="square" lIns="0" rIns="0" tIns="0" bIns="0" anchor="t">
            <a:spAutoFit/>
          </a:bodyPr>
          <a:lstStyle/>
          <a:p>
            <a:pPr algn="l"/>
            <a:r>
              <a:rPr sz="1300" b="1" i="0">
                <a:solidFill>
                  <a:srgbClr val="BB0027"/>
                </a:solidFill>
                <a:latin typeface="Open Sans"/>
              </a:rPr>
              <a:t>(e) Implementation, AVX2 intrinsics (v2)</a:t>
            </a:r>
          </a:p>
        </p:txBody>
      </p:sp>
      <p:sp>
        <p:nvSpPr>
          <p:cNvPr id="17" name="code"/>
          <p:cNvSpPr/>
          <p:nvPr/>
        </p:nvSpPr>
        <p:spPr>
          <a:xfrm>
            <a:off x="3977639" y="1280160"/>
            <a:ext cx="4709160" cy="23317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87368" y="1371600"/>
            <a:ext cx="4526280" cy="2194560"/>
          </a:xfrm>
          <a:prstGeom prst="rect">
            <a:avLst/>
          </a:prstGeom>
          <a:noFill/>
        </p:spPr>
        <p:txBody>
          <a:bodyPr wrap="square" lIns="0" rIns="0" tIns="0" bIns="0" anchor="t">
            <a:spAutoFit/>
          </a:bodyPr>
          <a:lstStyle/>
          <a:p>
            <a:pPr algn="l"/>
            <a:r>
              <a:rPr sz="850" b="0" i="0">
                <a:solidFill>
                  <a:srgbClr val="1B2630"/>
                </a:solidFill>
                <a:latin typeface="Courier New"/>
              </a:rPr>
              <a:t>c[b][j] = _mm256_load_ps(bias + 8*(kb+b));  // b&lt;2, j&lt;5</a:t>
            </a:r>
          </a:p>
          <a:p>
            <a:pPr algn="l">
              <a:spcBef>
                <a:spcPts val="600"/>
              </a:spcBef>
            </a:pPr>
            <a:r>
              <a:rPr sz="850" b="0" i="0">
                <a:solidFill>
                  <a:srgbClr val="1B2630"/>
                </a:solidFill>
                <a:latin typeface="Courier New"/>
              </a:rPr>
              <a:t>for cb in C/8:  for r in 0..2:  for s in 0..2:</a:t>
            </a:r>
          </a:p>
          <a:p>
            <a:pPr algn="l">
              <a:spcBef>
                <a:spcPts val="600"/>
              </a:spcBef>
            </a:pPr>
            <a:r>
              <a:rPr sz="850" b="0" i="0">
                <a:solidFill>
                  <a:srgbClr val="1B2630"/>
                </a:solidFill>
                <a:latin typeface="Courier New"/>
              </a:rPr>
              <a:t>  for ci in 0..7:              // unrolled by GCC</a:t>
            </a:r>
          </a:p>
          <a:p>
            <a:pPr algn="l">
              <a:spcBef>
                <a:spcPts val="600"/>
              </a:spcBef>
            </a:pPr>
            <a:r>
              <a:rPr sz="850" b="0" i="0">
                <a:solidFill>
                  <a:srgbClr val="1B2630"/>
                </a:solidFill>
                <a:latin typeface="Courier New"/>
              </a:rPr>
              <a:t>    w0 = _mm256_load_ps(W[kb  ][cb][r][s][ci]);</a:t>
            </a:r>
          </a:p>
          <a:p>
            <a:pPr algn="l">
              <a:spcBef>
                <a:spcPts val="600"/>
              </a:spcBef>
            </a:pPr>
            <a:r>
              <a:rPr sz="850" b="0" i="0">
                <a:solidFill>
                  <a:srgbClr val="1B2630"/>
                </a:solidFill>
                <a:latin typeface="Courier New"/>
              </a:rPr>
              <a:t>    w1 = _mm256_load_ps(W[kb+1][cb][r][s][ci]);</a:t>
            </a:r>
          </a:p>
          <a:p>
            <a:pPr algn="l">
              <a:spcBef>
                <a:spcPts val="600"/>
              </a:spcBef>
            </a:pPr>
            <a:r>
              <a:rPr sz="850" b="0" i="0">
                <a:solidFill>
                  <a:srgbClr val="1B2630"/>
                </a:solidFill>
                <a:latin typeface="Courier New"/>
              </a:rPr>
              <a:t>    for j in 0..4:             // unrolled</a:t>
            </a:r>
          </a:p>
          <a:p>
            <a:pPr algn="l">
              <a:spcBef>
                <a:spcPts val="600"/>
              </a:spcBef>
            </a:pPr>
            <a:r>
              <a:rPr sz="850" b="0" i="0">
                <a:solidFill>
                  <a:srgbClr val="1B2630"/>
                </a:solidFill>
                <a:latin typeface="Courier New"/>
              </a:rPr>
              <a:t>      x = _mm256_broadcast_ss(&amp;In[cb][oh+r][ow+j+s][ci]);</a:t>
            </a:r>
          </a:p>
          <a:p>
            <a:pPr algn="l">
              <a:spcBef>
                <a:spcPts val="600"/>
              </a:spcBef>
            </a:pPr>
            <a:r>
              <a:rPr sz="850" b="0" i="0">
                <a:solidFill>
                  <a:srgbClr val="1B2630"/>
                </a:solidFill>
                <a:latin typeface="Courier New"/>
              </a:rPr>
              <a:t>      c[0][j] = _mm256_fmadd_ps(x, w0, c[0][j]);</a:t>
            </a:r>
          </a:p>
          <a:p>
            <a:pPr algn="l">
              <a:spcBef>
                <a:spcPts val="600"/>
              </a:spcBef>
            </a:pPr>
            <a:r>
              <a:rPr sz="850" b="0" i="0">
                <a:solidFill>
                  <a:srgbClr val="1B2630"/>
                </a:solidFill>
                <a:latin typeface="Courier New"/>
              </a:rPr>
              <a:t>      c[1][j] = _mm256_fmadd_ps(x, w1, c[1][j]);</a:t>
            </a:r>
          </a:p>
          <a:p>
            <a:pPr algn="l">
              <a:spcBef>
                <a:spcPts val="600"/>
              </a:spcBef>
            </a:pPr>
            <a:r>
              <a:rPr sz="850" b="0" i="0">
                <a:solidFill>
                  <a:srgbClr val="1B2630"/>
                </a:solidFill>
                <a:latin typeface="Courier New"/>
              </a:rPr>
              <a:t>c[b][j] = epilogue_ps(c[b][j], fuse_silu);   // SiLU</a:t>
            </a:r>
          </a:p>
          <a:p>
            <a:pPr algn="l">
              <a:spcBef>
                <a:spcPts val="600"/>
              </a:spcBef>
            </a:pPr>
            <a:r>
              <a:rPr sz="850" b="0" i="0">
                <a:solidFill>
                  <a:srgbClr val="1B2630"/>
                </a:solidFill>
                <a:latin typeface="Courier New"/>
              </a:rPr>
              <a:t>_mm256_store_ps(&amp;Out[kb+b][oh+1][ow+j+1][0], c[b][j]);</a:t>
            </a:r>
          </a:p>
        </p:txBody>
      </p:sp>
      <p:sp>
        <p:nvSpPr>
          <p:cNvPr id="19" name="TextBox 18"/>
          <p:cNvSpPr txBox="1"/>
          <p:nvPr/>
        </p:nvSpPr>
        <p:spPr>
          <a:xfrm>
            <a:off x="3977639" y="3685032"/>
            <a:ext cx="4709160" cy="502920"/>
          </a:xfrm>
          <a:prstGeom prst="rect">
            <a:avLst/>
          </a:prstGeom>
          <a:noFill/>
        </p:spPr>
        <p:txBody>
          <a:bodyPr wrap="square" lIns="0" rIns="0" tIns="0" bIns="0" anchor="t">
            <a:spAutoFit/>
          </a:bodyPr>
          <a:lstStyle/>
          <a:p>
            <a:pPr algn="l"/>
            <a:r>
              <a:rPr sz="950" b="0" i="0">
                <a:solidFill>
                  <a:srgbClr val="5A6875"/>
                </a:solidFill>
                <a:latin typeface="Open Sans"/>
              </a:rPr>
              <a:t>Weights packed [K/8][C/8][3][3][8 ic][8 oc]; activations NCHW8c with a 1-pixel zero halo, so no edge branches. Outer loops: output-channel pairs kb, rows oh, pixel groups ow of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the numbers are measured</a:t>
            </a:r>
          </a:p>
        </p:txBody>
      </p:sp>
      <p:sp>
        <p:nvSpPr>
          <p:cNvPr id="3" name="assume-0"/>
          <p:cNvSpPr/>
          <p:nvPr/>
        </p:nvSpPr>
        <p:spPr>
          <a:xfrm>
            <a:off x="457200" y="1005840"/>
            <a:ext cx="4023360" cy="71323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69848"/>
            <a:ext cx="3749039" cy="228600"/>
          </a:xfrm>
          <a:prstGeom prst="rect">
            <a:avLst/>
          </a:prstGeom>
          <a:noFill/>
        </p:spPr>
        <p:txBody>
          <a:bodyPr wrap="square" lIns="0" rIns="0" tIns="0" bIns="0" anchor="t">
            <a:spAutoFit/>
          </a:bodyPr>
          <a:lstStyle/>
          <a:p>
            <a:pPr algn="l"/>
            <a:r>
              <a:rPr sz="1150" b="1" i="0">
                <a:solidFill>
                  <a:srgbClr val="1B2630"/>
                </a:solidFill>
                <a:latin typeface="Open Sans"/>
              </a:rPr>
              <a:t>Machine and code</a:t>
            </a:r>
          </a:p>
        </p:txBody>
      </p:sp>
      <p:sp>
        <p:nvSpPr>
          <p:cNvPr id="5" name="TextBox 4"/>
          <p:cNvSpPr txBox="1"/>
          <p:nvPr/>
        </p:nvSpPr>
        <p:spPr>
          <a:xfrm>
            <a:off x="566928" y="1307592"/>
            <a:ext cx="3794760" cy="411480"/>
          </a:xfrm>
          <a:prstGeom prst="rect">
            <a:avLst/>
          </a:prstGeom>
          <a:noFill/>
        </p:spPr>
        <p:txBody>
          <a:bodyPr wrap="square" lIns="0" rIns="0" tIns="0" bIns="0" anchor="t">
            <a:spAutoFit/>
          </a:bodyPr>
          <a:lstStyle/>
          <a:p>
            <a:pPr algn="l"/>
            <a:r>
              <a:rPr sz="950" b="0" i="0">
                <a:solidFill>
                  <a:srgbClr val="5A6875"/>
                </a:solidFill>
                <a:latin typeface="Open Sans"/>
              </a:rPr>
              <a:t>ece028, Xeon E5-2640 v4, 1 core (taskset); C++ with AVX2 intrinsics only, GCC 8.5 -O3</a:t>
            </a:r>
          </a:p>
        </p:txBody>
      </p:sp>
      <p:sp>
        <p:nvSpPr>
          <p:cNvPr id="6" name="assume-1"/>
          <p:cNvSpPr/>
          <p:nvPr/>
        </p:nvSpPr>
        <p:spPr>
          <a:xfrm>
            <a:off x="4617720" y="1005840"/>
            <a:ext cx="4023360" cy="71323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27448" y="1069848"/>
            <a:ext cx="3749039" cy="228600"/>
          </a:xfrm>
          <a:prstGeom prst="rect">
            <a:avLst/>
          </a:prstGeom>
          <a:noFill/>
        </p:spPr>
        <p:txBody>
          <a:bodyPr wrap="square" lIns="0" rIns="0" tIns="0" bIns="0" anchor="t">
            <a:spAutoFit/>
          </a:bodyPr>
          <a:lstStyle/>
          <a:p>
            <a:pPr algn="l"/>
            <a:r>
              <a:rPr sz="1150" b="1" i="0">
                <a:solidFill>
                  <a:srgbClr val="1B2630"/>
                </a:solidFill>
                <a:latin typeface="Open Sans"/>
              </a:rPr>
              <a:t>Peak</a:t>
            </a:r>
          </a:p>
        </p:txBody>
      </p:sp>
      <p:sp>
        <p:nvSpPr>
          <p:cNvPr id="8" name="TextBox 7"/>
          <p:cNvSpPr txBox="1"/>
          <p:nvPr/>
        </p:nvSpPr>
        <p:spPr>
          <a:xfrm>
            <a:off x="4727448" y="1307592"/>
            <a:ext cx="3794760" cy="411480"/>
          </a:xfrm>
          <a:prstGeom prst="rect">
            <a:avLst/>
          </a:prstGeom>
          <a:noFill/>
        </p:spPr>
        <p:txBody>
          <a:bodyPr wrap="square" lIns="0" rIns="0" tIns="0" bIns="0" anchor="t">
            <a:spAutoFit/>
          </a:bodyPr>
          <a:lstStyle/>
          <a:p>
            <a:pPr algn="l"/>
            <a:r>
              <a:rPr sz="950" b="0" i="0">
                <a:solidFill>
                  <a:srgbClr val="5A6875"/>
                </a:solidFill>
                <a:latin typeface="Open Sans"/>
              </a:rPr>
              <a:t>2 FMA units × 8 FP32 lanes × 2 FLOPs = 32 FLOPs/cycle per core (AVX2, no AVX-512)</a:t>
            </a:r>
          </a:p>
        </p:txBody>
      </p:sp>
      <p:sp>
        <p:nvSpPr>
          <p:cNvPr id="9" name="assume-2"/>
          <p:cNvSpPr/>
          <p:nvPr/>
        </p:nvSpPr>
        <p:spPr>
          <a:xfrm>
            <a:off x="457200" y="1810512"/>
            <a:ext cx="4023360" cy="71323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74519"/>
            <a:ext cx="3749039" cy="228600"/>
          </a:xfrm>
          <a:prstGeom prst="rect">
            <a:avLst/>
          </a:prstGeom>
          <a:noFill/>
        </p:spPr>
        <p:txBody>
          <a:bodyPr wrap="square" lIns="0" rIns="0" tIns="0" bIns="0" anchor="t">
            <a:spAutoFit/>
          </a:bodyPr>
          <a:lstStyle/>
          <a:p>
            <a:pPr algn="l"/>
            <a:r>
              <a:rPr sz="1150" b="1" i="0">
                <a:solidFill>
                  <a:srgbClr val="BB0027"/>
                </a:solidFill>
                <a:latin typeface="Open Sans"/>
              </a:rPr>
              <a:t>Cycles</a:t>
            </a:r>
          </a:p>
        </p:txBody>
      </p:sp>
      <p:sp>
        <p:nvSpPr>
          <p:cNvPr id="11" name="TextBox 10"/>
          <p:cNvSpPr txBox="1"/>
          <p:nvPr/>
        </p:nvSpPr>
        <p:spPr>
          <a:xfrm>
            <a:off x="566928" y="2112264"/>
            <a:ext cx="3794760" cy="411480"/>
          </a:xfrm>
          <a:prstGeom prst="rect">
            <a:avLst/>
          </a:prstGeom>
          <a:noFill/>
        </p:spPr>
        <p:txBody>
          <a:bodyPr wrap="square" lIns="0" rIns="0" tIns="0" bIns="0" anchor="t">
            <a:spAutoFit/>
          </a:bodyPr>
          <a:lstStyle/>
          <a:p>
            <a:pPr algn="l"/>
            <a:r>
              <a:rPr sz="950" b="0" i="0">
                <a:solidFill>
                  <a:srgbClr val="5A6875"/>
                </a:solidFill>
                <a:latin typeface="Open Sans"/>
              </a:rPr>
              <a:t>wall time × 3.4 GHz (max turbo), as in Assignment 2: can only understate % of peak</a:t>
            </a:r>
          </a:p>
        </p:txBody>
      </p:sp>
      <p:sp>
        <p:nvSpPr>
          <p:cNvPr id="12" name="assume-3"/>
          <p:cNvSpPr/>
          <p:nvPr/>
        </p:nvSpPr>
        <p:spPr>
          <a:xfrm>
            <a:off x="4617720" y="1810512"/>
            <a:ext cx="4023360" cy="71323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27448" y="1874519"/>
            <a:ext cx="3749039" cy="228600"/>
          </a:xfrm>
          <a:prstGeom prst="rect">
            <a:avLst/>
          </a:prstGeom>
          <a:noFill/>
        </p:spPr>
        <p:txBody>
          <a:bodyPr wrap="square" lIns="0" rIns="0" tIns="0" bIns="0" anchor="t">
            <a:spAutoFit/>
          </a:bodyPr>
          <a:lstStyle/>
          <a:p>
            <a:pPr algn="l"/>
            <a:r>
              <a:rPr sz="1150" b="1" i="0">
                <a:solidFill>
                  <a:srgbClr val="1B2630"/>
                </a:solidFill>
                <a:latin typeface="Open Sans"/>
              </a:rPr>
              <a:t>FLOPs</a:t>
            </a:r>
          </a:p>
        </p:txBody>
      </p:sp>
      <p:sp>
        <p:nvSpPr>
          <p:cNvPr id="14" name="TextBox 13"/>
          <p:cNvSpPr txBox="1"/>
          <p:nvPr/>
        </p:nvSpPr>
        <p:spPr>
          <a:xfrm>
            <a:off x="4727448" y="2112264"/>
            <a:ext cx="3794760" cy="411480"/>
          </a:xfrm>
          <a:prstGeom prst="rect">
            <a:avLst/>
          </a:prstGeom>
          <a:noFill/>
        </p:spPr>
        <p:txBody>
          <a:bodyPr wrap="square" lIns="0" rIns="0" tIns="0" bIns="0" anchor="t">
            <a:spAutoFit/>
          </a:bodyPr>
          <a:lstStyle/>
          <a:p>
            <a:pPr algn="l"/>
            <a:r>
              <a:rPr sz="950" b="0" i="0">
                <a:solidFill>
                  <a:srgbClr val="5A6875"/>
                </a:solidFill>
                <a:latin typeface="Open Sans"/>
              </a:rPr>
              <a:t>2 × outputs × C × 9: only the convolution's multiply-adds; bias and SiLU count as zero</a:t>
            </a:r>
          </a:p>
        </p:txBody>
      </p:sp>
      <p:sp>
        <p:nvSpPr>
          <p:cNvPr id="15" name="assume-4"/>
          <p:cNvSpPr/>
          <p:nvPr/>
        </p:nvSpPr>
        <p:spPr>
          <a:xfrm>
            <a:off x="457200" y="2615184"/>
            <a:ext cx="4023360" cy="71323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679192"/>
            <a:ext cx="3749039" cy="228600"/>
          </a:xfrm>
          <a:prstGeom prst="rect">
            <a:avLst/>
          </a:prstGeom>
          <a:noFill/>
        </p:spPr>
        <p:txBody>
          <a:bodyPr wrap="square" lIns="0" rIns="0" tIns="0" bIns="0" anchor="t">
            <a:spAutoFit/>
          </a:bodyPr>
          <a:lstStyle/>
          <a:p>
            <a:pPr algn="l"/>
            <a:r>
              <a:rPr sz="1150" b="1" i="0">
                <a:solidFill>
                  <a:srgbClr val="1B2630"/>
                </a:solidFill>
                <a:latin typeface="Open Sans"/>
              </a:rPr>
              <a:t>Microkernel alone</a:t>
            </a:r>
          </a:p>
        </p:txBody>
      </p:sp>
      <p:sp>
        <p:nvSpPr>
          <p:cNvPr id="17" name="TextBox 16"/>
          <p:cNvSpPr txBox="1"/>
          <p:nvPr/>
        </p:nvSpPr>
        <p:spPr>
          <a:xfrm>
            <a:off x="566928" y="2916936"/>
            <a:ext cx="3794760" cy="411480"/>
          </a:xfrm>
          <a:prstGeom prst="rect">
            <a:avLst/>
          </a:prstGeom>
          <a:noFill/>
        </p:spPr>
        <p:txBody>
          <a:bodyPr wrap="square" lIns="0" rIns="0" tIns="0" bIns="0" anchor="t">
            <a:spAutoFit/>
          </a:bodyPr>
          <a:lstStyle/>
          <a:p>
            <a:pPr algn="l"/>
            <a:r>
              <a:rPr sz="950" b="0" i="0">
                <a:solidFill>
                  <a:srgbClr val="5A6875"/>
                </a:solidFill>
                <a:latin typeface="Open Sans"/>
              </a:rPr>
              <a:t>one tile of data reused (stays in L1/L2), 2 s warm-up, best of 3 runs, SiLU off</a:t>
            </a:r>
          </a:p>
        </p:txBody>
      </p:sp>
      <p:sp>
        <p:nvSpPr>
          <p:cNvPr id="18" name="assume-5"/>
          <p:cNvSpPr/>
          <p:nvPr/>
        </p:nvSpPr>
        <p:spPr>
          <a:xfrm>
            <a:off x="4617720" y="2615184"/>
            <a:ext cx="4023360" cy="71323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27448" y="2679192"/>
            <a:ext cx="3749039" cy="228600"/>
          </a:xfrm>
          <a:prstGeom prst="rect">
            <a:avLst/>
          </a:prstGeom>
          <a:noFill/>
        </p:spPr>
        <p:txBody>
          <a:bodyPr wrap="square" lIns="0" rIns="0" tIns="0" bIns="0" anchor="t">
            <a:spAutoFit/>
          </a:bodyPr>
          <a:lstStyle/>
          <a:p>
            <a:pPr algn="l"/>
            <a:r>
              <a:rPr sz="1150" b="1" i="0">
                <a:solidFill>
                  <a:srgbClr val="1B2630"/>
                </a:solidFill>
                <a:latin typeface="Open Sans"/>
              </a:rPr>
              <a:t>Full layers</a:t>
            </a:r>
          </a:p>
        </p:txBody>
      </p:sp>
      <p:sp>
        <p:nvSpPr>
          <p:cNvPr id="20" name="TextBox 19"/>
          <p:cNvSpPr txBox="1"/>
          <p:nvPr/>
        </p:nvSpPr>
        <p:spPr>
          <a:xfrm>
            <a:off x="4727448" y="2916936"/>
            <a:ext cx="3794760" cy="411480"/>
          </a:xfrm>
          <a:prstGeom prst="rect">
            <a:avLst/>
          </a:prstGeom>
          <a:noFill/>
        </p:spPr>
        <p:txBody>
          <a:bodyPr wrap="square" lIns="0" rIns="0" tIns="0" bIns="0" anchor="t">
            <a:spAutoFit/>
          </a:bodyPr>
          <a:lstStyle/>
          <a:p>
            <a:pPr algn="l"/>
            <a:r>
              <a:rPr sz="950" b="0" i="0">
                <a:solidFill>
                  <a:srgbClr val="5A6875"/>
                </a:solidFill>
                <a:latin typeface="Open Sans"/>
              </a:rPr>
              <a:t>all 32 real YOLOv8n layers, batch 1, 640 × 640 image, FP32, SiLU on</a:t>
            </a:r>
          </a:p>
        </p:txBody>
      </p:sp>
      <p:sp>
        <p:nvSpPr>
          <p:cNvPr id="21" name="assume-6"/>
          <p:cNvSpPr/>
          <p:nvPr/>
        </p:nvSpPr>
        <p:spPr>
          <a:xfrm>
            <a:off x="457200" y="3419856"/>
            <a:ext cx="4023360" cy="71323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483864"/>
            <a:ext cx="3749039" cy="228600"/>
          </a:xfrm>
          <a:prstGeom prst="rect">
            <a:avLst/>
          </a:prstGeom>
          <a:noFill/>
        </p:spPr>
        <p:txBody>
          <a:bodyPr wrap="square" lIns="0" rIns="0" tIns="0" bIns="0" anchor="t">
            <a:spAutoFit/>
          </a:bodyPr>
          <a:lstStyle/>
          <a:p>
            <a:pPr algn="l"/>
            <a:r>
              <a:rPr sz="1150" b="1" i="0">
                <a:solidFill>
                  <a:srgbClr val="1B2630"/>
                </a:solidFill>
                <a:latin typeface="Open Sans"/>
              </a:rPr>
              <a:t>Correct</a:t>
            </a:r>
          </a:p>
        </p:txBody>
      </p:sp>
      <p:sp>
        <p:nvSpPr>
          <p:cNvPr id="23" name="TextBox 22"/>
          <p:cNvSpPr txBox="1"/>
          <p:nvPr/>
        </p:nvSpPr>
        <p:spPr>
          <a:xfrm>
            <a:off x="566928" y="3721608"/>
            <a:ext cx="3794760" cy="411480"/>
          </a:xfrm>
          <a:prstGeom prst="rect">
            <a:avLst/>
          </a:prstGeom>
          <a:noFill/>
        </p:spPr>
        <p:txBody>
          <a:bodyPr wrap="square" lIns="0" rIns="0" tIns="0" bIns="0" anchor="t">
            <a:spAutoFit/>
          </a:bodyPr>
          <a:lstStyle/>
          <a:p>
            <a:pPr algn="l"/>
            <a:r>
              <a:rPr sz="950" b="0" i="0">
                <a:solidFill>
                  <a:srgbClr val="5A6875"/>
                </a:solidFill>
                <a:latin typeface="Open Sans"/>
              </a:rPr>
              <a:t>every result checked: max relative error ≤ 1e-4 vs a scalar reference / OpenCV's real outputs</a:t>
            </a:r>
          </a:p>
        </p:txBody>
      </p:sp>
      <p:sp>
        <p:nvSpPr>
          <p:cNvPr id="24" name="assume-7"/>
          <p:cNvSpPr/>
          <p:nvPr/>
        </p:nvSpPr>
        <p:spPr>
          <a:xfrm>
            <a:off x="4617720" y="3419856"/>
            <a:ext cx="4023360" cy="71323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27448" y="3483864"/>
            <a:ext cx="3749039" cy="228600"/>
          </a:xfrm>
          <a:prstGeom prst="rect">
            <a:avLst/>
          </a:prstGeom>
          <a:noFill/>
        </p:spPr>
        <p:txBody>
          <a:bodyPr wrap="square" lIns="0" rIns="0" tIns="0" bIns="0" anchor="t">
            <a:spAutoFit/>
          </a:bodyPr>
          <a:lstStyle/>
          <a:p>
            <a:pPr algn="l"/>
            <a:r>
              <a:rPr sz="1150" b="1" i="0">
                <a:solidFill>
                  <a:srgbClr val="1B2630"/>
                </a:solidFill>
                <a:latin typeface="Open Sans"/>
              </a:rPr>
              <a:t>Baseline</a:t>
            </a:r>
          </a:p>
        </p:txBody>
      </p:sp>
      <p:sp>
        <p:nvSpPr>
          <p:cNvPr id="26" name="TextBox 25"/>
          <p:cNvSpPr txBox="1"/>
          <p:nvPr/>
        </p:nvSpPr>
        <p:spPr>
          <a:xfrm>
            <a:off x="4727448" y="3721608"/>
            <a:ext cx="3794760" cy="411480"/>
          </a:xfrm>
          <a:prstGeom prst="rect">
            <a:avLst/>
          </a:prstGeom>
          <a:noFill/>
        </p:spPr>
        <p:txBody>
          <a:bodyPr wrap="square" lIns="0" rIns="0" tIns="0" bIns="0" anchor="t">
            <a:spAutoFit/>
          </a:bodyPr>
          <a:lstStyle/>
          <a:p>
            <a:pPr algn="l"/>
            <a:r>
              <a:rPr sz="950" b="0" i="0">
                <a:solidFill>
                  <a:srgbClr val="5A6875"/>
                </a:solidFill>
                <a:latin typeface="Open Sans"/>
              </a:rPr>
              <a:t>OpenCV DNN on the same ONNX model, 1 thread, its own per-layer timer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steps: ops → accumulators → tile → benchmark</a:t>
            </a:r>
          </a:p>
        </p:txBody>
      </p:sp>
      <p:sp>
        <p:nvSpPr>
          <p:cNvPr id="3" name="Oval 2"/>
          <p:cNvSpPr/>
          <p:nvPr/>
        </p:nvSpPr>
        <p:spPr>
          <a:xfrm>
            <a:off x="457200" y="1069848"/>
            <a:ext cx="329184" cy="329184"/>
          </a:xfrm>
          <a:prstGeom prst="ellipse">
            <a:avLst/>
          </a:prstGeom>
          <a:solidFill>
            <a:srgbClr val="BB00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69848"/>
            <a:ext cx="329184" cy="329184"/>
          </a:xfrm>
          <a:prstGeom prst="rect">
            <a:avLst/>
          </a:prstGeom>
          <a:noFill/>
        </p:spPr>
        <p:txBody>
          <a:bodyPr wrap="square" lIns="0" rIns="0" tIns="0" bIns="0" anchor="ctr">
            <a:spAutoFit/>
          </a:bodyPr>
          <a:lstStyle/>
          <a:p>
            <a:pPr algn="ctr"/>
            <a:r>
              <a:rPr sz="1300" b="1" i="0">
                <a:solidFill>
                  <a:srgbClr val="FFFFFF"/>
                </a:solidFill>
                <a:latin typeface="Open Sans"/>
              </a:rPr>
              <a:t>1</a:t>
            </a:r>
          </a:p>
        </p:txBody>
      </p:sp>
      <p:sp>
        <p:nvSpPr>
          <p:cNvPr id="5" name="TextBox 4"/>
          <p:cNvSpPr txBox="1"/>
          <p:nvPr/>
        </p:nvSpPr>
        <p:spPr>
          <a:xfrm>
            <a:off x="914400" y="1033271"/>
            <a:ext cx="3291840" cy="256032"/>
          </a:xfrm>
          <a:prstGeom prst="rect">
            <a:avLst/>
          </a:prstGeom>
          <a:noFill/>
        </p:spPr>
        <p:txBody>
          <a:bodyPr wrap="square" lIns="0" rIns="0" tIns="0" bIns="0" anchor="t">
            <a:spAutoFit/>
          </a:bodyPr>
          <a:lstStyle/>
          <a:p>
            <a:pPr algn="l"/>
            <a:r>
              <a:rPr sz="1300" b="1" i="0">
                <a:solidFill>
                  <a:srgbClr val="1B2630"/>
                </a:solidFill>
                <a:latin typeface="Open Sans"/>
              </a:rPr>
              <a:t>Independent ops</a:t>
            </a:r>
          </a:p>
        </p:txBody>
      </p:sp>
      <p:sp>
        <p:nvSpPr>
          <p:cNvPr id="6" name="TextBox 5"/>
          <p:cNvSpPr txBox="1"/>
          <p:nvPr/>
        </p:nvSpPr>
        <p:spPr>
          <a:xfrm>
            <a:off x="914400" y="1298448"/>
            <a:ext cx="3291840" cy="475488"/>
          </a:xfrm>
          <a:prstGeom prst="rect">
            <a:avLst/>
          </a:prstGeom>
          <a:noFill/>
        </p:spPr>
        <p:txBody>
          <a:bodyPr wrap="square" lIns="0" rIns="0" tIns="0" bIns="0" anchor="t">
            <a:spAutoFit/>
          </a:bodyPr>
          <a:lstStyle/>
          <a:p>
            <a:pPr algn="l"/>
            <a:r>
              <a:rPr sz="1050" b="0" i="0">
                <a:solidFill>
                  <a:srgbClr val="5A6875"/>
                </a:solidFill>
                <a:latin typeface="Open Sans"/>
              </a:rPr>
              <a:t>Each output is a dot product of length C × 9: 102,400 in a 40×40, 64-ch layer.</a:t>
            </a:r>
          </a:p>
        </p:txBody>
      </p:sp>
      <p:sp>
        <p:nvSpPr>
          <p:cNvPr id="7" name="Oval 6"/>
          <p:cNvSpPr/>
          <p:nvPr/>
        </p:nvSpPr>
        <p:spPr>
          <a:xfrm>
            <a:off x="457200" y="1847088"/>
            <a:ext cx="329184" cy="329184"/>
          </a:xfrm>
          <a:prstGeom prst="ellipse">
            <a:avLst/>
          </a:prstGeom>
          <a:solidFill>
            <a:srgbClr val="BB00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47088"/>
            <a:ext cx="329184" cy="329184"/>
          </a:xfrm>
          <a:prstGeom prst="rect">
            <a:avLst/>
          </a:prstGeom>
          <a:noFill/>
        </p:spPr>
        <p:txBody>
          <a:bodyPr wrap="square" lIns="0" rIns="0" tIns="0" bIns="0" anchor="ctr">
            <a:spAutoFit/>
          </a:bodyPr>
          <a:lstStyle/>
          <a:p>
            <a:pPr algn="ctr"/>
            <a:r>
              <a:rPr sz="1300" b="1" i="0">
                <a:solidFill>
                  <a:srgbClr val="FFFFFF"/>
                </a:solidFill>
                <a:latin typeface="Open Sans"/>
              </a:rPr>
              <a:t>2</a:t>
            </a:r>
          </a:p>
        </p:txBody>
      </p:sp>
      <p:sp>
        <p:nvSpPr>
          <p:cNvPr id="9" name="TextBox 8"/>
          <p:cNvSpPr txBox="1"/>
          <p:nvPr/>
        </p:nvSpPr>
        <p:spPr>
          <a:xfrm>
            <a:off x="914400" y="1810512"/>
            <a:ext cx="3291840" cy="256032"/>
          </a:xfrm>
          <a:prstGeom prst="rect">
            <a:avLst/>
          </a:prstGeom>
          <a:noFill/>
        </p:spPr>
        <p:txBody>
          <a:bodyPr wrap="square" lIns="0" rIns="0" tIns="0" bIns="0" anchor="t">
            <a:spAutoFit/>
          </a:bodyPr>
          <a:lstStyle/>
          <a:p>
            <a:pPr algn="l"/>
            <a:r>
              <a:rPr sz="1300" b="1" i="0">
                <a:solidFill>
                  <a:srgbClr val="1B2630"/>
                </a:solidFill>
                <a:latin typeface="Open Sans"/>
              </a:rPr>
              <a:t>Outputs in flight</a:t>
            </a:r>
          </a:p>
        </p:txBody>
      </p:sp>
      <p:sp>
        <p:nvSpPr>
          <p:cNvPr id="10" name="TextBox 9"/>
          <p:cNvSpPr txBox="1"/>
          <p:nvPr/>
        </p:nvSpPr>
        <p:spPr>
          <a:xfrm>
            <a:off x="914400" y="2075688"/>
            <a:ext cx="3291840" cy="475488"/>
          </a:xfrm>
          <a:prstGeom prst="rect">
            <a:avLst/>
          </a:prstGeom>
          <a:noFill/>
        </p:spPr>
        <p:txBody>
          <a:bodyPr wrap="square" lIns="0" rIns="0" tIns="0" bIns="0" anchor="t">
            <a:spAutoFit/>
          </a:bodyPr>
          <a:lstStyle/>
          <a:p>
            <a:pPr algn="l"/>
            <a:r>
              <a:rPr sz="1050" b="0" i="0">
                <a:solidFill>
                  <a:srgbClr val="5A6875"/>
                </a:solidFill>
                <a:latin typeface="Open Sans"/>
              </a:rPr>
              <a:t>5 × 2 FMA/cycle = 10 accumulators = 80 outputs; 1 accumulator = 10% of peak.</a:t>
            </a:r>
          </a:p>
        </p:txBody>
      </p:sp>
      <p:sp>
        <p:nvSpPr>
          <p:cNvPr id="11" name="Oval 10"/>
          <p:cNvSpPr/>
          <p:nvPr/>
        </p:nvSpPr>
        <p:spPr>
          <a:xfrm>
            <a:off x="457200" y="2624327"/>
            <a:ext cx="329184" cy="329184"/>
          </a:xfrm>
          <a:prstGeom prst="ellipse">
            <a:avLst/>
          </a:prstGeom>
          <a:solidFill>
            <a:srgbClr val="BB00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624327"/>
            <a:ext cx="329184" cy="329184"/>
          </a:xfrm>
          <a:prstGeom prst="rect">
            <a:avLst/>
          </a:prstGeom>
          <a:noFill/>
        </p:spPr>
        <p:txBody>
          <a:bodyPr wrap="square" lIns="0" rIns="0" tIns="0" bIns="0" anchor="ctr">
            <a:spAutoFit/>
          </a:bodyPr>
          <a:lstStyle/>
          <a:p>
            <a:pPr algn="ctr"/>
            <a:r>
              <a:rPr sz="1300" b="1" i="0">
                <a:solidFill>
                  <a:srgbClr val="FFFFFF"/>
                </a:solidFill>
                <a:latin typeface="Open Sans"/>
              </a:rPr>
              <a:t>3</a:t>
            </a:r>
          </a:p>
        </p:txBody>
      </p:sp>
      <p:sp>
        <p:nvSpPr>
          <p:cNvPr id="13" name="TextBox 12"/>
          <p:cNvSpPr txBox="1"/>
          <p:nvPr/>
        </p:nvSpPr>
        <p:spPr>
          <a:xfrm>
            <a:off x="914400" y="2587751"/>
            <a:ext cx="3291840" cy="256032"/>
          </a:xfrm>
          <a:prstGeom prst="rect">
            <a:avLst/>
          </a:prstGeom>
          <a:noFill/>
        </p:spPr>
        <p:txBody>
          <a:bodyPr wrap="square" lIns="0" rIns="0" tIns="0" bIns="0" anchor="t">
            <a:spAutoFit/>
          </a:bodyPr>
          <a:lstStyle/>
          <a:p>
            <a:pPr algn="l"/>
            <a:r>
              <a:rPr sz="1300" b="1" i="0">
                <a:solidFill>
                  <a:srgbClr val="1B2630"/>
                </a:solidFill>
                <a:latin typeface="Open Sans"/>
              </a:rPr>
              <a:t>Kernel size</a:t>
            </a:r>
          </a:p>
        </p:txBody>
      </p:sp>
      <p:sp>
        <p:nvSpPr>
          <p:cNvPr id="14" name="TextBox 13"/>
          <p:cNvSpPr txBox="1"/>
          <p:nvPr/>
        </p:nvSpPr>
        <p:spPr>
          <a:xfrm>
            <a:off x="914400" y="2852927"/>
            <a:ext cx="3291840" cy="475488"/>
          </a:xfrm>
          <a:prstGeom prst="rect">
            <a:avLst/>
          </a:prstGeom>
          <a:noFill/>
        </p:spPr>
        <p:txBody>
          <a:bodyPr wrap="square" lIns="0" rIns="0" tIns="0" bIns="0" anchor="t">
            <a:spAutoFit/>
          </a:bodyPr>
          <a:lstStyle/>
          <a:p>
            <a:pPr algn="l"/>
            <a:r>
              <a:rPr sz="1050" b="0" i="0">
                <a:solidFill>
                  <a:srgbClr val="5A6875"/>
                </a:solidFill>
                <a:latin typeface="Open Sans"/>
              </a:rPr>
              <a:t>2×5 tile: 10 acc + 2 weights + 1 broadcast = 13 regs; 7 loads per 10 FMAs.</a:t>
            </a:r>
          </a:p>
        </p:txBody>
      </p:sp>
      <p:sp>
        <p:nvSpPr>
          <p:cNvPr id="15" name="Oval 14"/>
          <p:cNvSpPr/>
          <p:nvPr/>
        </p:nvSpPr>
        <p:spPr>
          <a:xfrm>
            <a:off x="457200" y="3401568"/>
            <a:ext cx="329184" cy="329184"/>
          </a:xfrm>
          <a:prstGeom prst="ellipse">
            <a:avLst/>
          </a:prstGeom>
          <a:solidFill>
            <a:srgbClr val="BB00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401568"/>
            <a:ext cx="329184" cy="329184"/>
          </a:xfrm>
          <a:prstGeom prst="rect">
            <a:avLst/>
          </a:prstGeom>
          <a:noFill/>
        </p:spPr>
        <p:txBody>
          <a:bodyPr wrap="square" lIns="0" rIns="0" tIns="0" bIns="0" anchor="ctr">
            <a:spAutoFit/>
          </a:bodyPr>
          <a:lstStyle/>
          <a:p>
            <a:pPr algn="ctr"/>
            <a:r>
              <a:rPr sz="1300" b="1" i="0">
                <a:solidFill>
                  <a:srgbClr val="FFFFFF"/>
                </a:solidFill>
                <a:latin typeface="Open Sans"/>
              </a:rPr>
              <a:t>4</a:t>
            </a:r>
          </a:p>
        </p:txBody>
      </p:sp>
      <p:sp>
        <p:nvSpPr>
          <p:cNvPr id="17" name="TextBox 16"/>
          <p:cNvSpPr txBox="1"/>
          <p:nvPr/>
        </p:nvSpPr>
        <p:spPr>
          <a:xfrm>
            <a:off x="914400" y="3364991"/>
            <a:ext cx="3291840" cy="256032"/>
          </a:xfrm>
          <a:prstGeom prst="rect">
            <a:avLst/>
          </a:prstGeom>
          <a:noFill/>
        </p:spPr>
        <p:txBody>
          <a:bodyPr wrap="square" lIns="0" rIns="0" tIns="0" bIns="0" anchor="t">
            <a:spAutoFit/>
          </a:bodyPr>
          <a:lstStyle/>
          <a:p>
            <a:pPr algn="l"/>
            <a:r>
              <a:rPr sz="1300" b="1" i="0">
                <a:solidFill>
                  <a:srgbClr val="1B2630"/>
                </a:solidFill>
                <a:latin typeface="Open Sans"/>
              </a:rPr>
              <a:t>Benchmark like A2</a:t>
            </a:r>
          </a:p>
        </p:txBody>
      </p:sp>
      <p:sp>
        <p:nvSpPr>
          <p:cNvPr id="18" name="TextBox 17"/>
          <p:cNvSpPr txBox="1"/>
          <p:nvPr/>
        </p:nvSpPr>
        <p:spPr>
          <a:xfrm>
            <a:off x="914400" y="3630168"/>
            <a:ext cx="3291840" cy="475488"/>
          </a:xfrm>
          <a:prstGeom prst="rect">
            <a:avLst/>
          </a:prstGeom>
          <a:noFill/>
        </p:spPr>
        <p:txBody>
          <a:bodyPr wrap="square" lIns="0" rIns="0" tIns="0" bIns="0" anchor="t">
            <a:spAutoFit/>
          </a:bodyPr>
          <a:lstStyle/>
          <a:p>
            <a:pPr algn="l"/>
            <a:r>
              <a:rPr sz="1050" b="0" i="0">
                <a:solidFill>
                  <a:srgbClr val="5A6875"/>
                </a:solidFill>
                <a:latin typeface="Open Sans"/>
              </a:rPr>
              <a:t>Kernel alone, k = 72 to 4608, 3 runs, 2 s warm-up, cycles at 3.4 GHz, checked.</a:t>
            </a:r>
          </a:p>
        </p:txBody>
      </p:sp>
      <p:graphicFrame>
        <p:nvGraphicFramePr>
          <p:cNvPr id="19" name="Chart 18"/>
          <p:cNvGraphicFramePr>
            <a:graphicFrameLocks noGrp="1"/>
          </p:cNvGraphicFramePr>
          <p:nvPr/>
        </p:nvGraphicFramePr>
        <p:xfrm>
          <a:off x="4389120" y="960120"/>
          <a:ext cx="4297680" cy="3246120"/>
        </p:xfrm>
        <a:graphic>
          <a:graphicData uri="http://schemas.openxmlformats.org/drawingml/2006/chart">
            <c:chart xmlns:c="http://schemas.openxmlformats.org/drawingml/2006/chart" r:id="rId3"/>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Same math, 50% to 86%: the tile and GCC's registers</a:t>
            </a:r>
          </a:p>
        </p:txBody>
      </p:sp>
      <p:pic>
        <p:nvPicPr>
          <p:cNvPr id="3" name="Picture 2" descr="ukr_design_space_intrinsics.png"/>
          <p:cNvPicPr>
            <a:picLocks noChangeAspect="1"/>
          </p:cNvPicPr>
          <p:nvPr/>
        </p:nvPicPr>
        <p:blipFill>
          <a:blip r:embed="rId3"/>
          <a:stretch>
            <a:fillRect/>
          </a:stretch>
        </p:blipFill>
        <p:spPr>
          <a:xfrm>
            <a:off x="457200" y="1005840"/>
            <a:ext cx="5883088" cy="3200400"/>
          </a:xfrm>
          <a:prstGeom prst="rect">
            <a:avLst/>
          </a:prstGeom>
        </p:spPr>
      </p:pic>
      <p:sp>
        <p:nvSpPr>
          <p:cNvPr id="4" name="ds-card-0"/>
          <p:cNvSpPr/>
          <p:nvPr/>
        </p:nvSpPr>
        <p:spPr>
          <a:xfrm>
            <a:off x="6446520" y="1005840"/>
            <a:ext cx="2240280" cy="960120"/>
          </a:xfrm>
          <a:prstGeom prst="roundRect">
            <a:avLst>
              <a:gd name="adj" fmla="val 8000"/>
            </a:avLst>
          </a:prstGeom>
          <a:solidFill>
            <a:srgbClr val="F8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56248" y="1078992"/>
            <a:ext cx="2011680" cy="256032"/>
          </a:xfrm>
          <a:prstGeom prst="rect">
            <a:avLst/>
          </a:prstGeom>
          <a:noFill/>
        </p:spPr>
        <p:txBody>
          <a:bodyPr wrap="square" lIns="0" rIns="0" tIns="0" bIns="0" anchor="t">
            <a:spAutoFit/>
          </a:bodyPr>
          <a:lstStyle/>
          <a:p>
            <a:pPr algn="l"/>
            <a:r>
              <a:rPr sz="1200" b="1" i="0">
                <a:solidFill>
                  <a:srgbClr val="BB0027"/>
                </a:solidFill>
                <a:latin typeface="Open Sans"/>
              </a:rPr>
              <a:t>Best: 2×5</a:t>
            </a:r>
          </a:p>
        </p:txBody>
      </p:sp>
      <p:sp>
        <p:nvSpPr>
          <p:cNvPr id="6" name="TextBox 5"/>
          <p:cNvSpPr txBox="1"/>
          <p:nvPr/>
        </p:nvSpPr>
        <p:spPr>
          <a:xfrm>
            <a:off x="6556248" y="1353312"/>
            <a:ext cx="2011680" cy="594360"/>
          </a:xfrm>
          <a:prstGeom prst="rect">
            <a:avLst/>
          </a:prstGeom>
          <a:noFill/>
        </p:spPr>
        <p:txBody>
          <a:bodyPr wrap="square" lIns="0" rIns="0" tIns="0" bIns="0" anchor="t">
            <a:spAutoFit/>
          </a:bodyPr>
          <a:lstStyle/>
          <a:p>
            <a:pPr algn="l"/>
            <a:r>
              <a:rPr sz="1000" b="0" i="0">
                <a:solidFill>
                  <a:srgbClr val="5A6875"/>
                </a:solidFill>
                <a:latin typeface="Open Sans"/>
              </a:rPr>
              <a:t>13 registers, 85% alone, 77% in all 32 layers</a:t>
            </a:r>
          </a:p>
        </p:txBody>
      </p:sp>
      <p:sp>
        <p:nvSpPr>
          <p:cNvPr id="7" name="ds-card-1"/>
          <p:cNvSpPr/>
          <p:nvPr/>
        </p:nvSpPr>
        <p:spPr>
          <a:xfrm>
            <a:off x="6446520" y="2084832"/>
            <a:ext cx="2240280" cy="9601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56248" y="2157984"/>
            <a:ext cx="2011680" cy="256032"/>
          </a:xfrm>
          <a:prstGeom prst="rect">
            <a:avLst/>
          </a:prstGeom>
          <a:noFill/>
        </p:spPr>
        <p:txBody>
          <a:bodyPr wrap="square" lIns="0" rIns="0" tIns="0" bIns="0" anchor="t">
            <a:spAutoFit/>
          </a:bodyPr>
          <a:lstStyle/>
          <a:p>
            <a:pPr algn="l"/>
            <a:r>
              <a:rPr sz="1200" b="1" i="0">
                <a:solidFill>
                  <a:srgbClr val="1B2630"/>
                </a:solidFill>
                <a:latin typeface="Open Sans"/>
              </a:rPr>
              <a:t>GCC's registers</a:t>
            </a:r>
          </a:p>
        </p:txBody>
      </p:sp>
      <p:sp>
        <p:nvSpPr>
          <p:cNvPr id="9" name="TextBox 8"/>
          <p:cNvSpPr txBox="1"/>
          <p:nvPr/>
        </p:nvSpPr>
        <p:spPr>
          <a:xfrm>
            <a:off x="6556248" y="2432304"/>
            <a:ext cx="2011680" cy="594360"/>
          </a:xfrm>
          <a:prstGeom prst="rect">
            <a:avLst/>
          </a:prstGeom>
          <a:noFill/>
        </p:spPr>
        <p:txBody>
          <a:bodyPr wrap="square" lIns="0" rIns="0" tIns="0" bIns="0" anchor="t">
            <a:spAutoFit/>
          </a:bodyPr>
          <a:lstStyle/>
          <a:p>
            <a:pPr algn="l"/>
            <a:r>
              <a:rPr sz="1000" b="0" i="0">
                <a:solidFill>
                  <a:srgbClr val="5A6875"/>
                </a:solidFill>
                <a:latin typeface="Open Sans"/>
              </a:rPr>
              <a:t>clean at 13, 11 copies per tap at 15 (2×6), spills at 16 (4×3: 49%)</a:t>
            </a:r>
          </a:p>
        </p:txBody>
      </p:sp>
      <p:sp>
        <p:nvSpPr>
          <p:cNvPr id="10" name="ds-card-2"/>
          <p:cNvSpPr/>
          <p:nvPr/>
        </p:nvSpPr>
        <p:spPr>
          <a:xfrm>
            <a:off x="6446520" y="3163824"/>
            <a:ext cx="2240280" cy="9601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3236976"/>
            <a:ext cx="2011680" cy="256032"/>
          </a:xfrm>
          <a:prstGeom prst="rect">
            <a:avLst/>
          </a:prstGeom>
          <a:noFill/>
        </p:spPr>
        <p:txBody>
          <a:bodyPr wrap="square" lIns="0" rIns="0" tIns="0" bIns="0" anchor="t">
            <a:spAutoFit/>
          </a:bodyPr>
          <a:lstStyle/>
          <a:p>
            <a:pPr algn="l"/>
            <a:r>
              <a:rPr sz="1200" b="1" i="0">
                <a:solidFill>
                  <a:srgbClr val="1B2630"/>
                </a:solidFill>
                <a:latin typeface="Open Sans"/>
              </a:rPr>
              <a:t>Unroll, pipeline</a:t>
            </a:r>
          </a:p>
        </p:txBody>
      </p:sp>
      <p:sp>
        <p:nvSpPr>
          <p:cNvPr id="12" name="TextBox 11"/>
          <p:cNvSpPr txBox="1"/>
          <p:nvPr/>
        </p:nvSpPr>
        <p:spPr>
          <a:xfrm>
            <a:off x="6556248" y="3511296"/>
            <a:ext cx="2011680" cy="594360"/>
          </a:xfrm>
          <a:prstGeom prst="rect">
            <a:avLst/>
          </a:prstGeom>
          <a:noFill/>
        </p:spPr>
        <p:txBody>
          <a:bodyPr wrap="square" lIns="0" rIns="0" tIns="0" bIns="0" anchor="t">
            <a:spAutoFit/>
          </a:bodyPr>
          <a:lstStyle/>
          <a:p>
            <a:pPr algn="l"/>
            <a:r>
              <a:rPr sz="1000" b="0" i="0">
                <a:solidFill>
                  <a:srgbClr val="5A6875"/>
                </a:solidFill>
                <a:latin typeface="Open Sans"/>
              </a:rPr>
              <a:t>lost: uop cache overflow, spills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Benchmarked like Assignment 2: FLOPs/cycle vs k</a:t>
            </a:r>
          </a:p>
        </p:txBody>
      </p:sp>
      <p:pic>
        <p:nvPicPr>
          <p:cNvPr id="3" name="Picture 2" descr="ukr_sweep_nosilu_34_intrinsics.png"/>
          <p:cNvPicPr>
            <a:picLocks noChangeAspect="1"/>
          </p:cNvPicPr>
          <p:nvPr/>
        </p:nvPicPr>
        <p:blipFill>
          <a:blip r:embed="rId3"/>
          <a:stretch>
            <a:fillRect/>
          </a:stretch>
        </p:blipFill>
        <p:spPr>
          <a:xfrm>
            <a:off x="457200" y="960120"/>
            <a:ext cx="5486400" cy="2926080"/>
          </a:xfrm>
          <a:prstGeom prst="rect">
            <a:avLst/>
          </a:prstGeom>
        </p:spPr>
      </p:pic>
      <p:sp>
        <p:nvSpPr>
          <p:cNvPr id="4" name="TextBox 3"/>
          <p:cNvSpPr txBox="1"/>
          <p:nvPr/>
        </p:nvSpPr>
        <p:spPr>
          <a:xfrm>
            <a:off x="457200" y="3931920"/>
            <a:ext cx="5486400" cy="274320"/>
          </a:xfrm>
          <a:prstGeom prst="rect">
            <a:avLst/>
          </a:prstGeom>
          <a:noFill/>
        </p:spPr>
        <p:txBody>
          <a:bodyPr wrap="square" lIns="0" rIns="0" tIns="0" bIns="0" anchor="t">
            <a:spAutoFit/>
          </a:bodyPr>
          <a:lstStyle/>
          <a:p>
            <a:pPr algn="l"/>
            <a:r>
              <a:rPr sz="1000" b="0" i="0">
                <a:solidFill>
                  <a:srgbClr val="5A6875"/>
                </a:solidFill>
                <a:latin typeface="Open Sans"/>
              </a:rPr>
              <a:t>SiLU off, cycles = time × 3.4 GHz, as in A2. 3 runs, every point checked (576 pass).</a:t>
            </a:r>
          </a:p>
        </p:txBody>
      </p:sp>
      <p:sp>
        <p:nvSpPr>
          <p:cNvPr id="5" name="TextBox 4"/>
          <p:cNvSpPr txBox="1"/>
          <p:nvPr/>
        </p:nvSpPr>
        <p:spPr>
          <a:xfrm>
            <a:off x="6172200" y="960120"/>
            <a:ext cx="2514600" cy="548640"/>
          </a:xfrm>
          <a:prstGeom prst="rect">
            <a:avLst/>
          </a:prstGeom>
          <a:noFill/>
        </p:spPr>
        <p:txBody>
          <a:bodyPr wrap="square" lIns="0" rIns="0" tIns="0" bIns="0" anchor="t">
            <a:spAutoFit/>
          </a:bodyPr>
          <a:lstStyle/>
          <a:p>
            <a:pPr algn="l"/>
            <a:r>
              <a:rPr sz="3000" b="1" i="0">
                <a:solidFill>
                  <a:srgbClr val="BB0027"/>
                </a:solidFill>
                <a:latin typeface="Open Sans"/>
              </a:rPr>
              <a:t>83–89%</a:t>
            </a:r>
          </a:p>
        </p:txBody>
      </p:sp>
      <p:sp>
        <p:nvSpPr>
          <p:cNvPr id="6" name="TextBox 5"/>
          <p:cNvSpPr txBox="1"/>
          <p:nvPr/>
        </p:nvSpPr>
        <p:spPr>
          <a:xfrm>
            <a:off x="6172200" y="1527048"/>
            <a:ext cx="2514600" cy="548640"/>
          </a:xfrm>
          <a:prstGeom prst="rect">
            <a:avLst/>
          </a:prstGeom>
          <a:noFill/>
        </p:spPr>
        <p:txBody>
          <a:bodyPr wrap="square" lIns="0" rIns="0" tIns="0" bIns="0" anchor="t">
            <a:spAutoFit/>
          </a:bodyPr>
          <a:lstStyle/>
          <a:p>
            <a:pPr algn="l"/>
            <a:r>
              <a:rPr sz="1200" b="0" i="0">
                <a:solidFill>
                  <a:srgbClr val="5A6875"/>
                </a:solidFill>
                <a:latin typeface="Open Sans"/>
              </a:rPr>
              <a:t>2×5 (v2's tile): 27–28.5 FLOPs/cycle, ~93 GFLOP/s on one core</a:t>
            </a:r>
          </a:p>
        </p:txBody>
      </p:sp>
      <p:sp>
        <p:nvSpPr>
          <p:cNvPr id="7" name="TextBox 6"/>
          <p:cNvSpPr txBox="1"/>
          <p:nvPr/>
        </p:nvSpPr>
        <p:spPr>
          <a:xfrm>
            <a:off x="6172200" y="2011680"/>
            <a:ext cx="2514600" cy="548640"/>
          </a:xfrm>
          <a:prstGeom prst="rect">
            <a:avLst/>
          </a:prstGeom>
          <a:noFill/>
        </p:spPr>
        <p:txBody>
          <a:bodyPr wrap="square" lIns="0" rIns="0" tIns="0" bIns="0" anchor="t">
            <a:spAutoFit/>
          </a:bodyPr>
          <a:lstStyle/>
          <a:p>
            <a:pPr algn="l"/>
            <a:r>
              <a:rPr sz="3000" b="1" i="0">
                <a:solidFill>
                  <a:srgbClr val="6B7782"/>
                </a:solidFill>
                <a:latin typeface="Open Sans"/>
              </a:rPr>
              <a:t>80–83%</a:t>
            </a:r>
          </a:p>
        </p:txBody>
      </p:sp>
      <p:sp>
        <p:nvSpPr>
          <p:cNvPr id="8" name="TextBox 7"/>
          <p:cNvSpPr txBox="1"/>
          <p:nvPr/>
        </p:nvSpPr>
        <p:spPr>
          <a:xfrm>
            <a:off x="6172200" y="2578608"/>
            <a:ext cx="2514600" cy="548640"/>
          </a:xfrm>
          <a:prstGeom prst="rect">
            <a:avLst/>
          </a:prstGeom>
          <a:noFill/>
        </p:spPr>
        <p:txBody>
          <a:bodyPr wrap="square" lIns="0" rIns="0" tIns="0" bIns="0" anchor="t">
            <a:spAutoFit/>
          </a:bodyPr>
          <a:lstStyle/>
          <a:p>
            <a:pPr algn="l"/>
            <a:r>
              <a:rPr sz="1200" b="0" i="0">
                <a:solidFill>
                  <a:srgbClr val="5A6875"/>
                </a:solidFill>
                <a:latin typeface="Open Sans"/>
              </a:rPr>
              <a:t>2×6: GCC adds register copies at 15 live registers</a:t>
            </a:r>
          </a:p>
        </p:txBody>
      </p:sp>
      <p:sp>
        <p:nvSpPr>
          <p:cNvPr id="9" name="TextBox 8"/>
          <p:cNvSpPr txBox="1"/>
          <p:nvPr/>
        </p:nvSpPr>
        <p:spPr>
          <a:xfrm>
            <a:off x="6172200" y="3063240"/>
            <a:ext cx="2514600" cy="548640"/>
          </a:xfrm>
          <a:prstGeom prst="rect">
            <a:avLst/>
          </a:prstGeom>
          <a:noFill/>
        </p:spPr>
        <p:txBody>
          <a:bodyPr wrap="square" lIns="0" rIns="0" tIns="0" bIns="0" anchor="t">
            <a:spAutoFit/>
          </a:bodyPr>
          <a:lstStyle/>
          <a:p>
            <a:pPr algn="l"/>
            <a:r>
              <a:rPr sz="3000" b="1" i="0">
                <a:solidFill>
                  <a:srgbClr val="B7731A"/>
                </a:solidFill>
                <a:latin typeface="Open Sans"/>
              </a:rPr>
              <a:t>k ≈ 500</a:t>
            </a:r>
          </a:p>
        </p:txBody>
      </p:sp>
      <p:sp>
        <p:nvSpPr>
          <p:cNvPr id="10" name="TextBox 9"/>
          <p:cNvSpPr txBox="1"/>
          <p:nvPr/>
        </p:nvSpPr>
        <p:spPr>
          <a:xfrm>
            <a:off x="6172200" y="3630168"/>
            <a:ext cx="2514600" cy="548640"/>
          </a:xfrm>
          <a:prstGeom prst="rect">
            <a:avLst/>
          </a:prstGeom>
          <a:noFill/>
        </p:spPr>
        <p:txBody>
          <a:bodyPr wrap="square" lIns="0" rIns="0" tIns="0" bIns="0" anchor="t">
            <a:spAutoFit/>
          </a:bodyPr>
          <a:lstStyle/>
          <a:p>
            <a:pPr algn="l"/>
            <a:r>
              <a:rPr sz="1200" b="0" i="0">
                <a:solidFill>
                  <a:srgbClr val="5A6875"/>
                </a:solidFill>
                <a:latin typeface="Open Sans"/>
              </a:rPr>
              <a:t>L1 dip: 2×5 weights pass 32 KB, like k ≈ 315 in A2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Tied alone, 10 points apart in the layers</a:t>
            </a:r>
          </a:p>
        </p:txBody>
      </p:sp>
      <p:graphicFrame>
        <p:nvGraphicFramePr>
          <p:cNvPr id="3" name="Chart 2"/>
          <p:cNvGraphicFramePr>
            <a:graphicFrameLocks noGrp="1"/>
          </p:cNvGraphicFramePr>
          <p:nvPr/>
        </p:nvGraphicFramePr>
        <p:xfrm>
          <a:off x="457200" y="1005840"/>
          <a:ext cx="4023360" cy="3200400"/>
        </p:xfrm>
        <a:graphic>
          <a:graphicData uri="http://schemas.openxmlformats.org/drawingml/2006/chart">
            <c:chart xmlns:c="http://schemas.openxmlformats.org/drawingml/2006/chart" r:id="rId3"/>
          </a:graphicData>
        </a:graphic>
      </p:graphicFrame>
      <p:graphicFrame>
        <p:nvGraphicFramePr>
          <p:cNvPr id="4" name="Table 3"/>
          <p:cNvGraphicFramePr>
            <a:graphicFrameLocks noGrp="1"/>
          </p:cNvGraphicFramePr>
          <p:nvPr/>
        </p:nvGraphicFramePr>
        <p:xfrm>
          <a:off x="4754880" y="1051560"/>
          <a:ext cx="3931920" cy="1371600"/>
        </p:xfrm>
        <a:graphic>
          <a:graphicData uri="http://schemas.openxmlformats.org/drawingml/2006/table">
            <a:tbl>
              <a:tblPr firstRow="1" bandRow="1">
                <a:tableStyleId>{5C22544A-7EE6-4342-B048-85BDC9FD1C3A}</a:tableStyleId>
              </a:tblPr>
              <a:tblGrid>
                <a:gridCol w="2103120"/>
                <a:gridCol w="914400"/>
                <a:gridCol w="914400"/>
              </a:tblGrid>
              <a:tr h="342900">
                <a:tc>
                  <a:txBody>
                    <a:bodyPr/>
                    <a:lstStyle/>
                    <a:p/>
                  </a:txBody>
                  <a:tcPr>
                    <a:solidFill>
                      <a:srgbClr val="F1F3F5"/>
                    </a:solidFill>
                  </a:tcPr>
                </a:tc>
                <a:tc>
                  <a:txBody>
                    <a:bodyPr/>
                    <a:lstStyle/>
                    <a:p>
                      <a:r>
                        <a:rPr sz="1100" b="1">
                          <a:solidFill>
                            <a:srgbClr val="1B2630"/>
                          </a:solidFill>
                          <a:latin typeface="Open Sans"/>
                        </a:rPr>
                        <a:t>1×10</a:t>
                      </a:r>
                    </a:p>
                  </a:txBody>
                  <a:tcPr>
                    <a:solidFill>
                      <a:srgbClr val="F1F3F5"/>
                    </a:solidFill>
                  </a:tcPr>
                </a:tc>
                <a:tc>
                  <a:txBody>
                    <a:bodyPr/>
                    <a:lstStyle/>
                    <a:p>
                      <a:r>
                        <a:rPr sz="1100" b="1">
                          <a:solidFill>
                            <a:srgbClr val="1B2630"/>
                          </a:solidFill>
                          <a:latin typeface="Open Sans"/>
                        </a:rPr>
                        <a:t>2×5</a:t>
                      </a:r>
                    </a:p>
                  </a:txBody>
                  <a:tcPr>
                    <a:solidFill>
                      <a:srgbClr val="F1F3F5"/>
                    </a:solidFill>
                  </a:tcPr>
                </a:tc>
              </a:tr>
              <a:tr h="342900">
                <a:tc>
                  <a:txBody>
                    <a:bodyPr/>
                    <a:lstStyle/>
                    <a:p>
                      <a:r>
                        <a:rPr sz="1100" b="0">
                          <a:solidFill>
                            <a:srgbClr val="1B2630"/>
                          </a:solidFill>
                          <a:latin typeface="Open Sans"/>
                        </a:rPr>
                        <a:t>Loads per 10 FMAs</a:t>
                      </a:r>
                    </a:p>
                  </a:txBody>
                  <a:tcPr>
                    <a:solidFill>
                      <a:srgbClr val="FFFFFF"/>
                    </a:solidFill>
                  </a:tcPr>
                </a:tc>
                <a:tc>
                  <a:txBody>
                    <a:bodyPr/>
                    <a:lstStyle/>
                    <a:p>
                      <a:r>
                        <a:rPr sz="1100" b="0">
                          <a:solidFill>
                            <a:srgbClr val="1B2630"/>
                          </a:solidFill>
                          <a:latin typeface="Open Sans"/>
                        </a:rPr>
                        <a:t>11</a:t>
                      </a:r>
                    </a:p>
                  </a:txBody>
                  <a:tcPr>
                    <a:solidFill>
                      <a:srgbClr val="FFFFFF"/>
                    </a:solidFill>
                  </a:tcPr>
                </a:tc>
                <a:tc>
                  <a:txBody>
                    <a:bodyPr/>
                    <a:lstStyle/>
                    <a:p>
                      <a:r>
                        <a:rPr sz="1100" b="0">
                          <a:solidFill>
                            <a:srgbClr val="1B2630"/>
                          </a:solidFill>
                          <a:latin typeface="Open Sans"/>
                        </a:rPr>
                        <a:t>7</a:t>
                      </a:r>
                    </a:p>
                  </a:txBody>
                  <a:tcPr>
                    <a:solidFill>
                      <a:srgbClr val="FFFFFF"/>
                    </a:solidFill>
                  </a:tcPr>
                </a:tc>
              </a:tr>
              <a:tr h="342900">
                <a:tc>
                  <a:txBody>
                    <a:bodyPr/>
                    <a:lstStyle/>
                    <a:p>
                      <a:r>
                        <a:rPr sz="1100" b="0">
                          <a:solidFill>
                            <a:srgbClr val="1B2630"/>
                          </a:solidFill>
                          <a:latin typeface="Open Sans"/>
                        </a:rPr>
                        <a:t>Output channels per call</a:t>
                      </a:r>
                    </a:p>
                  </a:txBody>
                  <a:tcPr>
                    <a:solidFill>
                      <a:srgbClr val="FFFFFF"/>
                    </a:solidFill>
                  </a:tcPr>
                </a:tc>
                <a:tc>
                  <a:txBody>
                    <a:bodyPr/>
                    <a:lstStyle/>
                    <a:p>
                      <a:r>
                        <a:rPr sz="1100" b="0">
                          <a:solidFill>
                            <a:srgbClr val="1B2630"/>
                          </a:solidFill>
                          <a:latin typeface="Open Sans"/>
                        </a:rPr>
                        <a:t>8</a:t>
                      </a:r>
                    </a:p>
                  </a:txBody>
                  <a:tcPr>
                    <a:solidFill>
                      <a:srgbClr val="FFFFFF"/>
                    </a:solidFill>
                  </a:tcPr>
                </a:tc>
                <a:tc>
                  <a:txBody>
                    <a:bodyPr/>
                    <a:lstStyle/>
                    <a:p>
                      <a:r>
                        <a:rPr sz="1100" b="0">
                          <a:solidFill>
                            <a:srgbClr val="1B2630"/>
                          </a:solidFill>
                          <a:latin typeface="Open Sans"/>
                        </a:rPr>
                        <a:t>16</a:t>
                      </a:r>
                    </a:p>
                  </a:txBody>
                  <a:tcPr>
                    <a:solidFill>
                      <a:srgbClr val="FFFFFF"/>
                    </a:solidFill>
                  </a:tcPr>
                </a:tc>
              </a:tr>
              <a:tr h="342900">
                <a:tc>
                  <a:txBody>
                    <a:bodyPr/>
                    <a:lstStyle/>
                    <a:p>
                      <a:r>
                        <a:rPr sz="1100" b="0">
                          <a:solidFill>
                            <a:srgbClr val="1B2630"/>
                          </a:solidFill>
                          <a:latin typeface="Open Sans"/>
                        </a:rPr>
                        <a:t>Times each input row is read</a:t>
                      </a:r>
                    </a:p>
                  </a:txBody>
                  <a:tcPr>
                    <a:solidFill>
                      <a:srgbClr val="FFFFFF"/>
                    </a:solidFill>
                  </a:tcPr>
                </a:tc>
                <a:tc>
                  <a:txBody>
                    <a:bodyPr/>
                    <a:lstStyle/>
                    <a:p>
                      <a:r>
                        <a:rPr sz="1100" b="0">
                          <a:solidFill>
                            <a:srgbClr val="1B2630"/>
                          </a:solidFill>
                          <a:latin typeface="Open Sans"/>
                        </a:rPr>
                        <a:t>2×</a:t>
                      </a:r>
                    </a:p>
                  </a:txBody>
                  <a:tcPr>
                    <a:solidFill>
                      <a:srgbClr val="FFFFFF"/>
                    </a:solidFill>
                  </a:tcPr>
                </a:tc>
                <a:tc>
                  <a:txBody>
                    <a:bodyPr/>
                    <a:lstStyle/>
                    <a:p>
                      <a:r>
                        <a:rPr sz="1100" b="0">
                          <a:solidFill>
                            <a:srgbClr val="1B2630"/>
                          </a:solidFill>
                          <a:latin typeface="Open Sans"/>
                        </a:rPr>
                        <a:t>1×</a:t>
                      </a:r>
                    </a:p>
                  </a:txBody>
                  <a:tcPr>
                    <a:solidFill>
                      <a:srgbClr val="FFFFFF"/>
                    </a:solidFill>
                  </a:tcPr>
                </a:tc>
              </a:tr>
            </a:tbl>
          </a:graphicData>
        </a:graphic>
      </p:graphicFrame>
      <p:sp>
        <p:nvSpPr>
          <p:cNvPr id="5" name="TextBox 4"/>
          <p:cNvSpPr txBox="1"/>
          <p:nvPr/>
        </p:nvSpPr>
        <p:spPr>
          <a:xfrm>
            <a:off x="4754880" y="2606040"/>
            <a:ext cx="3931920" cy="822960"/>
          </a:xfrm>
          <a:prstGeom prst="rect">
            <a:avLst/>
          </a:prstGeom>
          <a:noFill/>
        </p:spPr>
        <p:txBody>
          <a:bodyPr wrap="square" lIns="0" rIns="0" tIns="0" bIns="0" anchor="t">
            <a:spAutoFit/>
          </a:bodyPr>
          <a:lstStyle/>
          <a:p>
            <a:pPr algn="l"/>
            <a:r>
              <a:rPr sz="1150" b="1" i="0">
                <a:solidFill>
                  <a:srgbClr val="1B2630"/>
                </a:solidFill>
                <a:latin typeface="Open Sans"/>
              </a:rPr>
              <a:t>Alone: </a:t>
            </a:r>
            <a:r>
              <a:rPr sz="1150" b="0" i="0">
                <a:solidFill>
                  <a:srgbClr val="5A6875"/>
                </a:solidFill>
                <a:latin typeface="Open Sans"/>
              </a:rPr>
              <a:t>all data in L1, so 1×10's extra loads still fit.</a:t>
            </a:r>
          </a:p>
          <a:p>
            <a:pPr algn="l">
              <a:spcBef>
                <a:spcPts val="600"/>
              </a:spcBef>
            </a:pPr>
            <a:r>
              <a:rPr sz="1150" b="1" i="0">
                <a:solidFill>
                  <a:srgbClr val="1B2630"/>
                </a:solidFill>
                <a:latin typeface="Open Sans"/>
              </a:rPr>
              <a:t>In a layer: </a:t>
            </a:r>
            <a:r>
              <a:rPr sz="1150" b="0" i="0">
                <a:solidFill>
                  <a:srgbClr val="5A6875"/>
                </a:solidFill>
                <a:latin typeface="Open Sans"/>
              </a:rPr>
              <a:t>data streams from L2 and 1×10 reads inputs twice as often, so loads become the limit.</a:t>
            </a:r>
          </a:p>
        </p:txBody>
      </p:sp>
      <p:sp>
        <p:nvSpPr>
          <p:cNvPr id="6" name="TextBox 5"/>
          <p:cNvSpPr txBox="1"/>
          <p:nvPr/>
        </p:nvSpPr>
        <p:spPr>
          <a:xfrm>
            <a:off x="4754880" y="3611880"/>
            <a:ext cx="3931920" cy="548640"/>
          </a:xfrm>
          <a:prstGeom prst="rect">
            <a:avLst/>
          </a:prstGeom>
          <a:noFill/>
        </p:spPr>
        <p:txBody>
          <a:bodyPr wrap="square" lIns="0" rIns="0" tIns="0" bIns="0" anchor="t">
            <a:spAutoFit/>
          </a:bodyPr>
          <a:lstStyle/>
          <a:p>
            <a:pPr algn="l"/>
            <a:r>
              <a:rPr sz="1400" b="1" i="1">
                <a:solidFill>
                  <a:srgbClr val="BB0027"/>
                </a:solidFill>
                <a:latin typeface="Open Sans"/>
              </a:rPr>
              <a:t>Pick the tile in the real layer, not only alone.</a:t>
            </a:r>
          </a:p>
        </p:txBody>
      </p:sp>
      <p:sp>
        <p:nvSpPr>
          <p:cNvPr id="7" name="TextBox 6"/>
          <p:cNvSpPr txBox="1"/>
          <p:nvPr/>
        </p:nvSpPr>
        <p:spPr>
          <a:xfrm>
            <a:off x="4754880" y="4114800"/>
            <a:ext cx="3931920" cy="182880"/>
          </a:xfrm>
          <a:prstGeom prst="rect">
            <a:avLst/>
          </a:prstGeom>
          <a:noFill/>
        </p:spPr>
        <p:txBody>
          <a:bodyPr wrap="square" lIns="0" rIns="0" tIns="0" bIns="0" anchor="t">
            <a:spAutoFit/>
          </a:bodyPr>
          <a:lstStyle/>
          <a:p>
            <a:pPr algn="l"/>
            <a:r>
              <a:rPr sz="900" b="0" i="0">
                <a:solidFill>
                  <a:srgbClr val="5A6875"/>
                </a:solidFill>
                <a:latin typeface="Open Sans"/>
              </a:rPr>
              <a:t>1×10 in layers: 4-layer tile sweep (C = 16–128).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1.24× faster than OpenCV on all 32 layers</a:t>
            </a:r>
          </a:p>
        </p:txBody>
      </p:sp>
      <p:graphicFrame>
        <p:nvGraphicFramePr>
          <p:cNvPr id="3" name="Chart 2"/>
          <p:cNvGraphicFramePr>
            <a:graphicFrameLocks noGrp="1"/>
          </p:cNvGraphicFramePr>
          <p:nvPr/>
        </p:nvGraphicFramePr>
        <p:xfrm>
          <a:off x="457200" y="1005840"/>
          <a:ext cx="5120640" cy="3108960"/>
        </p:xfrm>
        <a:graphic>
          <a:graphicData uri="http://schemas.openxmlformats.org/drawingml/2006/chart">
            <c:chart xmlns:c="http://schemas.openxmlformats.org/drawingml/2006/chart" r:id="rId3"/>
          </a:graphicData>
        </a:graphic>
      </p:graphicFrame>
      <p:sp>
        <p:nvSpPr>
          <p:cNvPr id="4" name="TextBox 3"/>
          <p:cNvSpPr txBox="1"/>
          <p:nvPr/>
        </p:nvSpPr>
        <p:spPr>
          <a:xfrm>
            <a:off x="5943600" y="1005840"/>
            <a:ext cx="2743200" cy="548640"/>
          </a:xfrm>
          <a:prstGeom prst="rect">
            <a:avLst/>
          </a:prstGeom>
          <a:noFill/>
        </p:spPr>
        <p:txBody>
          <a:bodyPr wrap="square" lIns="0" rIns="0" tIns="0" bIns="0" anchor="t">
            <a:spAutoFit/>
          </a:bodyPr>
          <a:lstStyle/>
          <a:p>
            <a:pPr algn="l"/>
            <a:r>
              <a:rPr sz="3000" b="1" i="0">
                <a:solidFill>
                  <a:srgbClr val="BB0027"/>
                </a:solidFill>
                <a:latin typeface="Open Sans"/>
              </a:rPr>
              <a:t>1.24×</a:t>
            </a:r>
          </a:p>
        </p:txBody>
      </p:sp>
      <p:sp>
        <p:nvSpPr>
          <p:cNvPr id="5" name="TextBox 4"/>
          <p:cNvSpPr txBox="1"/>
          <p:nvPr/>
        </p:nvSpPr>
        <p:spPr>
          <a:xfrm>
            <a:off x="5943600" y="1572768"/>
            <a:ext cx="2743200" cy="548640"/>
          </a:xfrm>
          <a:prstGeom prst="rect">
            <a:avLst/>
          </a:prstGeom>
          <a:noFill/>
        </p:spPr>
        <p:txBody>
          <a:bodyPr wrap="square" lIns="0" rIns="0" tIns="0" bIns="0" anchor="t">
            <a:spAutoFit/>
          </a:bodyPr>
          <a:lstStyle/>
          <a:p>
            <a:pPr algn="l"/>
            <a:r>
              <a:rPr sz="1200" b="0" i="0">
                <a:solidFill>
                  <a:srgbClr val="5A6875"/>
                </a:solidFill>
                <a:latin typeface="Open Sans"/>
              </a:rPr>
              <a:t>v2 vs OpenCV DNN, all 32 layers, 1 core</a:t>
            </a:r>
          </a:p>
        </p:txBody>
      </p:sp>
      <p:sp>
        <p:nvSpPr>
          <p:cNvPr id="6" name="TextBox 5"/>
          <p:cNvSpPr txBox="1"/>
          <p:nvPr/>
        </p:nvSpPr>
        <p:spPr>
          <a:xfrm>
            <a:off x="5943600" y="2057400"/>
            <a:ext cx="2743200" cy="548640"/>
          </a:xfrm>
          <a:prstGeom prst="rect">
            <a:avLst/>
          </a:prstGeom>
          <a:noFill/>
        </p:spPr>
        <p:txBody>
          <a:bodyPr wrap="square" lIns="0" rIns="0" tIns="0" bIns="0" anchor="t">
            <a:spAutoFit/>
          </a:bodyPr>
          <a:lstStyle/>
          <a:p>
            <a:pPr algn="l"/>
            <a:r>
              <a:rPr sz="3000" b="1" i="0">
                <a:solidFill>
                  <a:srgbClr val="6B7782"/>
                </a:solidFill>
                <a:latin typeface="Open Sans"/>
              </a:rPr>
              <a:t>77% vs 62%</a:t>
            </a:r>
          </a:p>
        </p:txBody>
      </p:sp>
      <p:sp>
        <p:nvSpPr>
          <p:cNvPr id="7" name="TextBox 6"/>
          <p:cNvSpPr txBox="1"/>
          <p:nvPr/>
        </p:nvSpPr>
        <p:spPr>
          <a:xfrm>
            <a:off x="5943600" y="2624328"/>
            <a:ext cx="2743200" cy="548640"/>
          </a:xfrm>
          <a:prstGeom prst="rect">
            <a:avLst/>
          </a:prstGeom>
          <a:noFill/>
        </p:spPr>
        <p:txBody>
          <a:bodyPr wrap="square" lIns="0" rIns="0" tIns="0" bIns="0" anchor="t">
            <a:spAutoFit/>
          </a:bodyPr>
          <a:lstStyle/>
          <a:p>
            <a:pPr algn="l"/>
            <a:r>
              <a:rPr sz="1200" b="0" i="0">
                <a:solidFill>
                  <a:srgbClr val="5A6875"/>
                </a:solidFill>
                <a:latin typeface="Open Sans"/>
              </a:rPr>
              <a:t>of peak: v2 vs OpenCV DNN</a:t>
            </a:r>
          </a:p>
        </p:txBody>
      </p:sp>
      <p:sp>
        <p:nvSpPr>
          <p:cNvPr id="8" name="TextBox 7"/>
          <p:cNvSpPr txBox="1"/>
          <p:nvPr/>
        </p:nvSpPr>
        <p:spPr>
          <a:xfrm>
            <a:off x="5943600" y="3154680"/>
            <a:ext cx="2743200" cy="1005840"/>
          </a:xfrm>
          <a:prstGeom prst="rect">
            <a:avLst/>
          </a:prstGeom>
          <a:noFill/>
        </p:spPr>
        <p:txBody>
          <a:bodyPr wrap="square" lIns="0" rIns="0" tIns="0" bIns="0" anchor="t">
            <a:spAutoFit/>
          </a:bodyPr>
          <a:lstStyle/>
          <a:p>
            <a:pPr algn="l"/>
            <a:r>
              <a:rPr sz="1150" b="0" i="1">
                <a:solidFill>
                  <a:srgbClr val="5A6875"/>
                </a:solidFill>
                <a:latin typeface="Open Sans"/>
              </a:rPr>
              <a:t>Next: cache blocking for C ≥ 128, then threads on 20 cores (v3: 13.5× on 20 cores).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the same sweep with SiLU on</a:t>
            </a:r>
          </a:p>
        </p:txBody>
      </p:sp>
      <p:pic>
        <p:nvPicPr>
          <p:cNvPr id="3" name="Picture 2" descr="ukr_sweep_silu_34_intrinsics.png"/>
          <p:cNvPicPr>
            <a:picLocks noChangeAspect="1"/>
          </p:cNvPicPr>
          <p:nvPr/>
        </p:nvPicPr>
        <p:blipFill>
          <a:blip r:embed="rId3"/>
          <a:stretch>
            <a:fillRect/>
          </a:stretch>
        </p:blipFill>
        <p:spPr>
          <a:xfrm>
            <a:off x="457200" y="960120"/>
            <a:ext cx="5486400" cy="2926080"/>
          </a:xfrm>
          <a:prstGeom prst="rect">
            <a:avLst/>
          </a:prstGeom>
        </p:spPr>
      </p:pic>
      <p:sp>
        <p:nvSpPr>
          <p:cNvPr id="4" name="TextBox 3"/>
          <p:cNvSpPr txBox="1"/>
          <p:nvPr/>
        </p:nvSpPr>
        <p:spPr>
          <a:xfrm>
            <a:off x="6172200" y="1005840"/>
            <a:ext cx="2514600" cy="3017520"/>
          </a:xfrm>
          <a:prstGeom prst="rect">
            <a:avLst/>
          </a:prstGeom>
          <a:noFill/>
        </p:spPr>
        <p:txBody>
          <a:bodyPr wrap="square" lIns="0" rIns="0" tIns="0" bIns="0" anchor="t">
            <a:spAutoFit/>
          </a:bodyPr>
          <a:lstStyle/>
          <a:p>
            <a:pPr algn="l"/>
            <a:r>
              <a:rPr sz="1150" b="1" i="0">
                <a:solidFill>
                  <a:srgbClr val="1B2630"/>
                </a:solidFill>
                <a:latin typeface="Open Sans"/>
              </a:rPr>
              <a:t>SiLU on: </a:t>
            </a:r>
            <a:r>
              <a:rPr sz="1150" b="0" i="0">
                <a:solidFill>
                  <a:srgbClr val="5A6875"/>
                </a:solidFill>
                <a:latin typeface="Open Sans"/>
              </a:rPr>
              <a:t>2×5 81.4% mean (C = 32–256), 2×6 about 3 points lower.</a:t>
            </a:r>
          </a:p>
          <a:p>
            <a:pPr algn="l">
              <a:spcBef>
                <a:spcPts val="600"/>
              </a:spcBef>
            </a:pPr>
            <a:r>
              <a:rPr sz="1150" b="1" i="0">
                <a:solidFill>
                  <a:srgbClr val="1B2630"/>
                </a:solidFill>
                <a:latin typeface="Open Sans"/>
              </a:rPr>
              <a:t>Cost: </a:t>
            </a:r>
            <a:r>
              <a:rPr sz="1150" b="0" i="0">
                <a:solidFill>
                  <a:srgbClr val="5A6875"/>
                </a:solidFill>
                <a:latin typeface="Open Sans"/>
              </a:rPr>
              <a:t>a fixed 160–290 cycles per call, 20% of the call at C = 16, about 4.5% at C = 64, nothing measurable from C = 128.</a:t>
            </a:r>
          </a:p>
        </p:txBody>
      </p:sp>
    </p:spTree>
  </p:cSld>
  <p:clrMapOvr>
    <a:masterClrMapping/>
  </p:clrMapOvr>
</p:sld>
</file>

<file path=ppt/theme/theme1.xml><?xml version="1.0" encoding="utf-8"?>
<a:theme xmlns:a="http://schemas.openxmlformats.org/drawingml/2006/main" xmlns:r="http://schemas.openxmlformats.org/officeDocument/2006/relationships" name="CMU PPT Theme">
  <a:themeElements>
    <a:clrScheme name="Custom 1">
      <a:dk1>
        <a:srgbClr val="000000"/>
      </a:dk1>
      <a:lt1>
        <a:srgbClr val="FFFFFF"/>
      </a:lt1>
      <a:dk2>
        <a:srgbClr val="75787B"/>
      </a:dk2>
      <a:lt2>
        <a:srgbClr val="C8C9C7"/>
      </a:lt2>
      <a:accent1>
        <a:srgbClr val="BB0000"/>
      </a:accent1>
      <a:accent2>
        <a:srgbClr val="75787B"/>
      </a:accent2>
      <a:accent3>
        <a:srgbClr val="00833C"/>
      </a:accent3>
      <a:accent4>
        <a:srgbClr val="F2A900"/>
      </a:accent4>
      <a:accent5>
        <a:srgbClr val="002C71"/>
      </a:accent5>
      <a:accent6>
        <a:srgbClr val="C8C9C7"/>
      </a:accent6>
      <a:hlink>
        <a:srgbClr val="BB0000"/>
      </a:hlink>
      <a:folHlink>
        <a:srgbClr val="82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