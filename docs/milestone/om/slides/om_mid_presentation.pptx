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f07b7eb-0e7b-cb5d-4a15-77965b84445b}">
          <p14:sldIdLst>
            <p14:sldId id="256"/>
          </p14:sldIdLst>
        </p14:section>
        <p14:section name="Method" id="{9ca9b560-0e06-faf6-e82d-d2d4ef89bae6}">
          <p14:sldIdLst>
            <p14:sldId id="257"/>
            <p14:sldId id="258"/>
            <p14:sldId id="259"/>
          </p14:sldIdLst>
        </p14:section>
        <p14:section name="Results" id="{c964e5ea-44a2-570b-8a8e-44d4b4a9a973}">
          <p14:sldIdLst>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0"/>
                </a:solidFill>
                <a:latin typeface="+mn-lt"/>
              </a:defRPr>
            </a:pPr>
            <a:r>
              <a:rPr sz="1200" b="0" i="0" u="none" strike="noStrike">
                <a:solidFill>
                  <a:srgbClr val="1B2630"/>
                </a:solidFill>
                <a:latin typeface="+mn-lt"/>
              </a:rPr>
              <a:t>Microkernel alone vs accumulators (C = 64, SiLU off)</a:t>
            </a:r>
          </a:p>
        </c:rich>
      </c:tx>
      <c:layout/>
      <c:overlay val="0"/>
    </c:title>
    <c:autoTitleDeleted val="0"/>
    <c:plotArea>
      <c:layout/>
      <c:barChart>
        <c:barDir val="col"/>
        <c:grouping val="clustered"/>
        <c:varyColors val="0"/>
        <c:ser>
          <c:idx val="0"/>
          <c:order val="0"/>
          <c:tx>
            <c:strRef>
              <c:f>Sheet1!$B$1</c:f>
              <c:strCache>
                <c:ptCount val="1"/>
                <c:pt idx="0">
                  <c:v>% of peak</c:v>
                </c:pt>
              </c:strCache>
            </c:strRef>
          </c:tx>
          <c:spPr>
            <a:solidFill>
              <a:srgbClr val="0C6A87"/>
            </a:solidFill>
            <a:effectLst/>
          </c:spPr>
          <c:invertIfNegative val="0"/>
          <c:dLbls>
            <c:numFmt formatCode="0&quot;%&quot;" sourceLinked="0"/>
            <c:txPr>
              <a:bodyPr/>
              <a:lstStyle/>
              <a:p>
                <a:pPr>
                  <a:defRPr b="0" i="0" strike="noStrike" sz="1100" u="none">
                    <a:solidFill>
                      <a:srgbClr val="1B2630"/>
                    </a:solidFill>
                    <a:latin typeface="+mn-lt"/>
                  </a:defRPr>
                </a:pPr>
              </a:p>
            </c:txPr>
            <c:showLegendKey val="0"/>
            <c:showVal val="1"/>
            <c:showCatName val="0"/>
            <c:showSerName val="0"/>
            <c:showPercent val="0"/>
            <c:showBubbleSize val="0"/>
            <c:showLeaderLines val="0"/>
          </c:dLbls>
          <c:cat>
            <c:multiLvlStrRef>
              <c:f>Sheet1!$A$2:$A$7</c:f>
              <c:multiLvlStrCache>
                <c:ptCount val="6"/>
                <c:lvl>
                  <c:pt idx="0">
                    <c:v>1×1 (1)</c:v>
                  </c:pt>
                  <c:pt idx="1">
                    <c:v>2×2 (4)</c:v>
                  </c:pt>
                  <c:pt idx="2">
                    <c:v>1×5 (5)</c:v>
                  </c:pt>
                  <c:pt idx="3">
                    <c:v>2×4 (8)</c:v>
                  </c:pt>
                  <c:pt idx="4">
                    <c:v>1×10 (10)</c:v>
                  </c:pt>
                  <c:pt idx="5">
                    <c:v>2×5 (10)</c:v>
                  </c:pt>
                </c:lvl>
              </c:multiLvlStrCache>
            </c:multiLvlStrRef>
          </c:cat>
          <c:val>
            <c:numRef>
              <c:f>Sheet1!$B$2:$B$7</c:f>
              <c:numCache>
                <c:formatCode>General</c:formatCode>
                <c:ptCount val="6"/>
                <c:pt idx="0">
                  <c:v>9.9</c:v>
                </c:pt>
                <c:pt idx="1">
                  <c:v>39.3</c:v>
                </c:pt>
                <c:pt idx="2">
                  <c:v>49.6</c:v>
                </c:pt>
                <c:pt idx="3">
                  <c:v>72.4</c:v>
                </c:pt>
                <c:pt idx="4">
                  <c:v>85.8</c:v>
                </c:pt>
                <c:pt idx="5">
                  <c:v>85.3</c:v>
                </c:pt>
              </c:numCache>
            </c:numRef>
          </c:val>
        </c:ser>
        <c:dLbls>
          <c:numFmt formatCode="0&quot;%&quot;" sourceLinked="0"/>
          <c:txPr>
            <a:bodyPr/>
            <a:lstStyle/>
            <a:p>
              <a:pPr>
                <a:defRPr b="0" i="0" strike="noStrike" sz="1100" u="none">
                  <a:solidFill>
                    <a:srgbClr val="1B26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A6875"/>
                    </a:solidFill>
                    <a:latin typeface="Arial"/>
                  </a:defRPr>
                </a:pPr>
                <a:r>
                  <a:rPr sz="1100" b="0" i="0" u="none" strike="noStrike">
                    <a:solidFill>
                      <a:srgbClr val="5A6875"/>
                    </a:solidFill>
                    <a:latin typeface="Arial"/>
                  </a:rPr>
                  <a:t>tile (accumulators)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8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3E7"/>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875"/>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0"/>
                </a:solidFill>
                <a:latin typeface="+mn-lt"/>
              </a:defRPr>
            </a:pPr>
            <a:r>
              <a:rPr sz="1200" b="0" i="0" u="none" strike="noStrike">
                <a:solidFill>
                  <a:srgbClr val="1B2630"/>
                </a:solidFill>
                <a:latin typeface="+mn-lt"/>
              </a:rPr>
              <a:t>All 32 layers, 1 thread, SiLU on (lower is better)</a:t>
            </a:r>
          </a:p>
        </c:rich>
      </c:tx>
      <c:layout/>
      <c:overlay val="0"/>
    </c:title>
    <c:autoTitleDeleted val="0"/>
    <c:plotArea>
      <c:layout/>
      <c:barChart>
        <c:barDir val="bar"/>
        <c:grouping val="clustered"/>
        <c:varyColors val="0"/>
        <c:ser>
          <c:idx val="0"/>
          <c:order val="0"/>
          <c:tx>
            <c:strRef>
              <c:f>Sheet1!$B$1</c:f>
              <c:strCache>
                <c:ptCount val="1"/>
                <c:pt idx="0">
                  <c:v>ms, 32 layers</c:v>
                </c:pt>
              </c:strCache>
            </c:strRef>
          </c:tx>
          <c:spPr>
            <a:solidFill>
              <a:srgbClr val="6B7782"/>
            </a:solidFill>
            <a:effectLst/>
          </c:spPr>
          <c:invertIfNegative val="0"/>
          <c:dLbls>
            <c:numFmt formatCode="0.0&quot; ms&quot;" sourceLinked="0"/>
            <c:txPr>
              <a:bodyPr/>
              <a:lstStyle/>
              <a:p>
                <a:pPr>
                  <a:defRPr b="0" i="0" strike="noStrike" sz="1100" u="none">
                    <a:solidFill>
                      <a:srgbClr val="1B2630"/>
                    </a:solidFill>
                    <a:latin typeface="+mn-lt"/>
                  </a:defRPr>
                </a:pPr>
              </a:p>
            </c:txPr>
            <c:showLegendKey val="0"/>
            <c:showVal val="1"/>
            <c:showCatName val="0"/>
            <c:showSerName val="0"/>
            <c:showPercent val="0"/>
            <c:showBubbleSize val="0"/>
            <c:showLeaderLines val="0"/>
          </c:dLbls>
          <c:cat>
            <c:multiLvlStrRef>
              <c:f>Sheet1!$A$2:$A$5</c:f>
              <c:multiLvlStrCache>
                <c:ptCount val="4"/>
                <c:lvl>
                  <c:pt idx="0">
                    <c:v>OpenCV DNN</c:v>
                  </c:pt>
                  <c:pt idx="1">
                    <c:v>v2 (intrinsics)</c:v>
                  </c:pt>
                  <c:pt idx="2">
                    <c:v>v10 (2×6 asm)</c:v>
                  </c:pt>
                  <c:pt idx="3">
                    <c:v>ONNX Runtime</c:v>
                  </c:pt>
                </c:lvl>
              </c:multiLvlStrCache>
            </c:multiLvlStrRef>
          </c:cat>
          <c:val>
            <c:numRef>
              <c:f>Sheet1!$B$2:$B$5</c:f>
              <c:numCache>
                <c:formatCode>General</c:formatCode>
                <c:ptCount val="4"/>
                <c:pt idx="0">
                  <c:v>86.4</c:v>
                </c:pt>
                <c:pt idx="1">
                  <c:v>69.5</c:v>
                </c:pt>
                <c:pt idx="2">
                  <c:v>63.8</c:v>
                </c:pt>
                <c:pt idx="3">
                  <c:v>62.6</c:v>
                </c:pt>
              </c:numCache>
            </c:numRef>
          </c:val>
        </c:ser>
        <c:dLbls>
          <c:numFmt formatCode="0.0&quot; ms&quot;" sourceLinked="0"/>
          <c:txPr>
            <a:bodyPr/>
            <a:lstStyle/>
            <a:p>
              <a:pPr>
                <a:defRPr b="0" i="0" strike="noStrike" sz="1100" u="none">
                  <a:solidFill>
                    <a:srgbClr val="1B26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8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DDE3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A6875"/>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kernel is the 3x3 stride-1 convolution: 32 layers, the C2f bottlenecks and the Detect head, two thirds of YOLOv8n's work. The story: it is the Assignment 2 kernel, I followed the same four steps, and the measurements chose the tile. Best microkernel alone: 94% of the 32 FLOPs/cycle peak; inside all 32 real layers: 84%. All percentages assume the core runs at 3.4 GHz, as in Assignment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machine as Assignment 2 and the same kernel. In A2, m was 5 rows of A broadcast, n was 8 doubles = 2 vectors of B. Here m is 5 output pixels, n is 16 output channels = 2 vectors of 8 floats, and k is input channels times the 9 taps of the 3x3 filter. 10 accumulators, 13 registers, exactly the A2 budget. Peak is 32 FLOPs per cycle because floats give 8 lanes instead of 4. Terms: C is input channels; k = C x 9 is the length of each output's sum; an accumulator is one register holding 8 outputs; the tile is the block of outputs one call 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call of the microkernel computes this teal strip: one output row, 5 pixels wide, 16 output channels deep, 80 numbers. Each cell is 8 channels of one pixel, which is exactly one YMM register, so the strip is 10 accumulators. To compute it, the kernel reads a 3 by 7 window of the input across all C channels and 16 filters of 3 by 3 by C. Each step multiplies 2 weight vectors by 5 broadcast inputs, 10 FMAs, and it repeats that k = C times 9 times before applying bias and SiLU and storing.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every output is an independent dot product, so there is plenty of parallelism; the only chain is the reduction. Step 2: 5-cycle latency times 2 FMAs per cycle means 10 independent accumulators. The chart shows it: 1 accumulator is 10%, each one adds about 10 points. Step 3: 2x5 gives 10 accumulators in 13 registers, 7 loads per 10 FMAs, and 5 divides 160, 80, 40 and 20. Step 4: benchmark the kernel alone exactly like Assignment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kernel I built, same arithmetic, same layout. Filled dots are the microkernel alone, hollow are all 32 layers. Left: the accumulator count. Right: the 2x6 tile my teammates suggested loses with intrinsics because GCC adds 11 register copies per tap at 15 live registers, but with the registers fixed in inline asm it is the best kernel, 95% alone. 4x3 needs all 16 registers; GCC spills it to 49%. The lecture techniques, unrolling and software pipelining, made it worse: full unrolling overflowed the uop cache and partial unrolling made GCC spill.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Assignment 2 figure for my kernel: FLOPs per cycle against the reduction length k. Cycles are time times 3.4 GHz, the max turbo, exactly as in Assignment 2, so this can only understate. 2x6 asm holds 30 to 31 FLOPs per cycle, 94 to 97 percent of peak. 2x5 intrinsics is 83 to 89. The dip near k = 500 is the 2x5 weights leaving L1, the same effect as k = 315 in A2. Cross-checked: the hardware FP-instruction counter matches our FLOP count exactly, and real perf cycles give the same or slightly higher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A, 2x5 in asm, beat kernel B, 2x5 intrinsics, by 7 points alone but lost by 4 in the layers. The assembly shows why: inlined into the layer loop, GCC keeps 3 accumulators on the stack and reloads them around every tap. Calling the microkernel as a function, exactly as the benchmark does, fixes it: 83.1% for 2x5 and 83.7% for v10, all at 3.4 GHz. v10 is 1.36 times faster than OpenCV and within 2% of ONNX Runtime on all 32 layers. Next: cache blocking and threading.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103120"/>
            <a:ext cx="8046720" cy="73152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tx2"/>
                </a:solidFill>
              </a:rPr>
              <a:t>Om Tank · 18-645 · 3×3 stride-1 kernel · ece028 (Xeon E5-2640 v4)</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The 3×3 stride-1 convolution kernel</a:t>
            </a:r>
            <a:endParaRPr lang="en-US" sz="4000" dirty="0"/>
          </a:p>
        </p:txBody>
      </p:sp>
      <p:sp>
        <p:nvSpPr>
          <p:cNvPr id="3" name="Text 0"/>
          <p:cNvSpPr/>
          <p:nvPr>
            <p:ph idx="101" type="body" hasCustomPrompt="1"/>
          </p:nvPr>
        </p:nvSpPr>
        <p:spPr>
          <a:xfrm>
            <a:off x="548640" y="2103120"/>
            <a:ext cx="8046720" cy="731520"/>
          </a:xfrm>
          <a:prstGeom prst="rect">
            <a:avLst/>
          </a:prstGeom>
          <a:noFill/>
          <a:ln/>
        </p:spPr>
        <p:txBody>
          <a:bodyPr wrap="square" lIns="0" tIns="0" rIns="0" bIns="0" rtlCol="0" anchor="t"/>
          <a:lstStyle/>
          <a:p>
            <a:pPr algn="l" indent="0" marL="0">
              <a:buNone/>
            </a:pPr>
            <a:r>
              <a:rPr lang="en-US" sz="1800" dirty="0">
                <a:solidFill>
                  <a:schemeClr val="accent4"/>
                </a:solidFill>
              </a:rPr>
              <a:t>Om Tank · YOLOv8n on one Broadwell core, built like the Assignment 2 kernel</a:t>
            </a:r>
            <a:endParaRPr lang="en-US" sz="1800" dirty="0"/>
          </a:p>
        </p:txBody>
      </p:sp>
      <p:sp>
        <p:nvSpPr>
          <p:cNvPr id="4" name="Text 2"/>
          <p:cNvSpPr txBox="1"/>
          <p:nvPr/>
        </p:nvSpPr>
        <p:spPr>
          <a:xfrm>
            <a:off x="548640" y="3154680"/>
            <a:ext cx="1828800" cy="68580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32</a:t>
            </a:r>
            <a:endParaRPr lang="en-US" sz="3800" dirty="0"/>
          </a:p>
        </p:txBody>
      </p:sp>
      <p:sp>
        <p:nvSpPr>
          <p:cNvPr id="5" name="Text 3"/>
          <p:cNvSpPr txBox="1"/>
          <p:nvPr/>
        </p:nvSpPr>
        <p:spPr>
          <a:xfrm>
            <a:off x="548640" y="3840480"/>
            <a:ext cx="1783080" cy="548640"/>
          </a:xfrm>
          <a:prstGeom prst="rect">
            <a:avLst/>
          </a:prstGeom>
          <a:noFill/>
          <a:ln/>
        </p:spPr>
        <p:txBody>
          <a:bodyPr wrap="square" lIns="0" tIns="0" rIns="0" bIns="0" rtlCol="0" anchor="t"/>
          <a:lstStyle/>
          <a:p>
            <a:pPr indent="0" marL="0">
              <a:buNone/>
            </a:pPr>
            <a:r>
              <a:rPr lang="en-US" sz="1300" dirty="0">
                <a:solidFill>
                  <a:schemeClr val="accent4"/>
                </a:solidFill>
              </a:rPr>
              <a:t>layers: C2f bottlenecks + Detect head</a:t>
            </a:r>
            <a:endParaRPr lang="en-US" sz="1300" dirty="0"/>
          </a:p>
        </p:txBody>
      </p:sp>
      <p:sp>
        <p:nvSpPr>
          <p:cNvPr id="6" name="Text 4"/>
          <p:cNvSpPr txBox="1"/>
          <p:nvPr/>
        </p:nvSpPr>
        <p:spPr>
          <a:xfrm>
            <a:off x="2606040" y="3154680"/>
            <a:ext cx="1828800" cy="68580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66%</a:t>
            </a:r>
            <a:endParaRPr lang="en-US" sz="3800" dirty="0"/>
          </a:p>
        </p:txBody>
      </p:sp>
      <p:sp>
        <p:nvSpPr>
          <p:cNvPr id="7" name="Text 5"/>
          <p:cNvSpPr txBox="1"/>
          <p:nvPr/>
        </p:nvSpPr>
        <p:spPr>
          <a:xfrm>
            <a:off x="2606040" y="3840480"/>
            <a:ext cx="1783080" cy="548640"/>
          </a:xfrm>
          <a:prstGeom prst="rect">
            <a:avLst/>
          </a:prstGeom>
          <a:noFill/>
          <a:ln/>
        </p:spPr>
        <p:txBody>
          <a:bodyPr wrap="square" lIns="0" tIns="0" rIns="0" bIns="0" rtlCol="0" anchor="t"/>
          <a:lstStyle/>
          <a:p>
            <a:pPr indent="0" marL="0">
              <a:buNone/>
            </a:pPr>
            <a:r>
              <a:rPr lang="en-US" sz="1300" dirty="0">
                <a:solidFill>
                  <a:schemeClr val="accent4"/>
                </a:solidFill>
              </a:rPr>
              <a:t>of YOLOv8n's 8.74 GFLOP</a:t>
            </a:r>
            <a:endParaRPr lang="en-US" sz="1300" dirty="0"/>
          </a:p>
        </p:txBody>
      </p:sp>
      <p:sp>
        <p:nvSpPr>
          <p:cNvPr id="8" name="Text 6"/>
          <p:cNvSpPr txBox="1"/>
          <p:nvPr/>
        </p:nvSpPr>
        <p:spPr>
          <a:xfrm>
            <a:off x="4663440" y="3154680"/>
            <a:ext cx="1828800" cy="68580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94%</a:t>
            </a:r>
            <a:endParaRPr lang="en-US" sz="3800" dirty="0"/>
          </a:p>
        </p:txBody>
      </p:sp>
      <p:sp>
        <p:nvSpPr>
          <p:cNvPr id="9" name="Text 7"/>
          <p:cNvSpPr txBox="1"/>
          <p:nvPr/>
        </p:nvSpPr>
        <p:spPr>
          <a:xfrm>
            <a:off x="4663440" y="3840480"/>
            <a:ext cx="1783080" cy="548640"/>
          </a:xfrm>
          <a:prstGeom prst="rect">
            <a:avLst/>
          </a:prstGeom>
          <a:noFill/>
          <a:ln/>
        </p:spPr>
        <p:txBody>
          <a:bodyPr wrap="square" lIns="0" tIns="0" rIns="0" bIns="0" rtlCol="0" anchor="t"/>
          <a:lstStyle/>
          <a:p>
            <a:pPr indent="0" marL="0">
              <a:buNone/>
            </a:pPr>
            <a:r>
              <a:rPr lang="en-US" sz="1300" dirty="0">
                <a:solidFill>
                  <a:schemeClr val="accent4"/>
                </a:solidFill>
              </a:rPr>
              <a:t>of peak: best microkernel alone</a:t>
            </a:r>
            <a:endParaRPr lang="en-US" sz="1300" dirty="0"/>
          </a:p>
        </p:txBody>
      </p:sp>
      <p:sp>
        <p:nvSpPr>
          <p:cNvPr id="10" name="Text 8"/>
          <p:cNvSpPr txBox="1"/>
          <p:nvPr/>
        </p:nvSpPr>
        <p:spPr>
          <a:xfrm>
            <a:off x="6720840" y="3154680"/>
            <a:ext cx="1828800" cy="68580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84%</a:t>
            </a:r>
            <a:endParaRPr lang="en-US" sz="3800" dirty="0"/>
          </a:p>
        </p:txBody>
      </p:sp>
      <p:sp>
        <p:nvSpPr>
          <p:cNvPr id="11" name="Text 9"/>
          <p:cNvSpPr txBox="1"/>
          <p:nvPr/>
        </p:nvSpPr>
        <p:spPr>
          <a:xfrm>
            <a:off x="6720840" y="3840480"/>
            <a:ext cx="1783080" cy="548640"/>
          </a:xfrm>
          <a:prstGeom prst="rect">
            <a:avLst/>
          </a:prstGeom>
          <a:noFill/>
          <a:ln/>
        </p:spPr>
        <p:txBody>
          <a:bodyPr wrap="square" lIns="0" tIns="0" rIns="0" bIns="0" rtlCol="0" anchor="t"/>
          <a:lstStyle/>
          <a:p>
            <a:pPr indent="0" marL="0">
              <a:buNone/>
            </a:pPr>
            <a:r>
              <a:rPr lang="en-US" sz="1300" dirty="0">
                <a:solidFill>
                  <a:schemeClr val="accent4"/>
                </a:solidFill>
              </a:rPr>
              <a:t>of peak across all 32 real layers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It is the Assignment 2 kernel, with floats</a:t>
            </a:r>
            <a:endParaRPr lang="en-US" sz="2600" dirty="0"/>
          </a:p>
        </p:txBody>
      </p:sp>
      <p:graphicFrame>
        <p:nvGraphicFramePr>
          <p:cNvPr id="3" name="a2-table"/>
          <p:cNvGraphicFramePr>
            <a:graphicFrameLocks noGrp="1"/>
          </p:cNvGraphicFramePr>
          <p:nvPr>
            <p:extLst>
              <p:ext uri="{D42A27DB-BD31-4B8C-83A1-F6EECF244321}">
                <p14:modId xmlns:p14="http://schemas.microsoft.com/office/powerpoint/2010/main" val="1579011935"/>
              </p:ext>
            </p:extLst>
          </p:nvPr>
        </p:nvGraphicFramePr>
        <p:xfrm>
          <a:off x="457200" y="1097280"/>
          <a:ext cx="4480560" cy="914400"/>
        </p:xfrm>
        <a:graphic>
          <a:graphicData uri="http://schemas.openxmlformats.org/drawingml/2006/table">
            <a:tbl>
              <a:tblPr/>
              <a:tblGrid>
                <a:gridCol w="1325880"/>
                <a:gridCol w="1417320"/>
                <a:gridCol w="1737360"/>
              </a:tblGrid>
              <a:tr h="384048">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solidFill>
                      <a:srgbClr val="EEF2F4"/>
                    </a:solidFill>
                  </a:tcPr>
                </a:tc>
                <a:tc>
                  <a:txBody>
                    <a:bodyPr/>
                    <a:lstStyle/>
                    <a:p>
                      <a:pPr indent="0" marL="0">
                        <a:buNone/>
                      </a:pPr>
                      <a:r>
                        <a:rPr lang="en-US" sz="1200" b="1" dirty="0">
                          <a:solidFill>
                            <a:srgbClr val="1B2630"/>
                          </a:solidFill>
                          <a:latin typeface="Calibri" pitchFamily="34" charset="0"/>
                          <a:ea typeface="Calibri" pitchFamily="34" charset="-122"/>
                          <a:cs typeface="Calibri" pitchFamily="34" charset="-120"/>
                        </a:rPr>
                        <a:t>Assignment 2</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solidFill>
                      <a:srgbClr val="EEF2F4"/>
                    </a:solidFill>
                  </a:tcPr>
                </a:tc>
                <a:tc>
                  <a:txBody>
                    <a:bodyPr/>
                    <a:lstStyle/>
                    <a:p>
                      <a:pPr indent="0" marL="0">
                        <a:buNone/>
                      </a:pPr>
                      <a:r>
                        <a:rPr lang="en-US" sz="1200" b="1" dirty="0">
                          <a:solidFill>
                            <a:srgbClr val="1B2630"/>
                          </a:solidFill>
                          <a:latin typeface="Calibri" pitchFamily="34" charset="0"/>
                          <a:ea typeface="Calibri" pitchFamily="34" charset="-122"/>
                          <a:cs typeface="Calibri" pitchFamily="34" charset="-120"/>
                        </a:rPr>
                        <a:t>Stride-1 microkernel</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solidFill>
                      <a:srgbClr val="EEF2F4"/>
                    </a:solidFill>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m (broadcast)</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5 rows of A</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5 output pixels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n (vector loads)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8 = 2 × 4 doubles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16 channels = 2 × 8 floats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k (reduction)</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32 to 512</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C × 9 (144 to 2304)</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Accumulators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10 (2×5) or 12 (2×6)</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Registers</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13 of 16</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13 or 15 of 16</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r h="384048">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Peak per core</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16 FLOPs/cycle</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c>
                  <a:txBody>
                    <a:bodyPr/>
                    <a:lstStyle/>
                    <a:p>
                      <a:pPr indent="0" marL="0">
                        <a:buNone/>
                      </a:pPr>
                      <a:r>
                        <a:rPr lang="en-US" sz="1200" dirty="0">
                          <a:solidFill>
                            <a:srgbClr val="1B2630"/>
                          </a:solidFill>
                          <a:latin typeface="Calibri" pitchFamily="34" charset="0"/>
                          <a:ea typeface="Calibri" pitchFamily="34" charset="-122"/>
                          <a:cs typeface="Calibri" pitchFamily="34" charset="-120"/>
                        </a:rPr>
                        <a:t>32 FLOPs/cycle</a:t>
                      </a:r>
                      <a:endParaRPr lang="en-US" sz="1200" dirty="0">
                        <a:latin typeface="Calibri" charset="0"/>
                        <a:ea typeface="Calibri" charset="0"/>
                        <a:cs typeface="Calibri" charset="0"/>
                      </a:endParaRPr>
                    </a:p>
                  </a:txBody>
                  <a:tcPr marL="91440" marR="91440" marT="45720" marB="45720" anchor="ctr">
                    <a:lnL w="9525" cap="flat" cmpd="sng" algn="ctr">
                      <a:solidFill>
                        <a:srgbClr val="DDE3E7"/>
                      </a:solidFill>
                      <a:prstDash val="solid"/>
                      <a:round/>
                      <a:headEnd type="none" w="med" len="med"/>
                      <a:tailEnd type="none" w="med" len="med"/>
                    </a:lnL>
                    <a:lnR w="9525" cap="flat" cmpd="sng" algn="ctr">
                      <a:solidFill>
                        <a:srgbClr val="DDE3E7"/>
                      </a:solidFill>
                      <a:prstDash val="solid"/>
                      <a:round/>
                      <a:headEnd type="none" w="med" len="med"/>
                      <a:tailEnd type="none" w="med" len="med"/>
                    </a:lnR>
                    <a:lnT w="9525" cap="flat" cmpd="sng" algn="ctr">
                      <a:solidFill>
                        <a:srgbClr val="DDE3E7"/>
                      </a:solidFill>
                      <a:prstDash val="solid"/>
                      <a:round/>
                      <a:headEnd type="none" w="med" len="med"/>
                      <a:tailEnd type="none" w="med" len="med"/>
                    </a:lnT>
                    <a:lnB w="9525" cap="flat" cmpd="sng" algn="ctr">
                      <a:solidFill>
                        <a:srgbClr val="DDE3E7"/>
                      </a:solidFill>
                      <a:prstDash val="solid"/>
                      <a:round/>
                      <a:headEnd type="none" w="med" len="med"/>
                      <a:tailEnd type="none" w="med" len="med"/>
                    </a:lnB>
                  </a:tcPr>
                </a:tc>
              </a:tr>
            </a:tbl>
          </a:graphicData>
        </a:graphic>
      </p:graphicFrame>
      <p:sp>
        <p:nvSpPr>
          <p:cNvPr id="4" name="Text 1"/>
          <p:cNvSpPr txBox="1"/>
          <p:nvPr/>
        </p:nvSpPr>
        <p:spPr>
          <a:xfrm>
            <a:off x="457200" y="3931920"/>
            <a:ext cx="4480560" cy="640080"/>
          </a:xfrm>
          <a:prstGeom prst="rect">
            <a:avLst/>
          </a:prstGeom>
          <a:noFill/>
          <a:ln/>
        </p:spPr>
        <p:txBody>
          <a:bodyPr wrap="square" lIns="0" tIns="0" rIns="0" bIns="0" rtlCol="0" anchor="t"/>
          <a:lstStyle/>
          <a:p>
            <a:pPr indent="0" marL="0">
              <a:buNone/>
            </a:pPr>
            <a:r>
              <a:rPr lang="en-US" sz="1300" dirty="0">
                <a:solidFill>
                  <a:schemeClr val="tx2"/>
                </a:solidFill>
              </a:rPr>
              <a:t>Same Broadwell core: 2 FMA units × 8 lanes × 2 FLOPs = 32 FLOPs/cycle. Latency 5 × throughput 2 = 10 chains in flight.</a:t>
            </a:r>
            <a:endParaRPr lang="en-US" sz="1300" dirty="0"/>
          </a:p>
        </p:txBody>
      </p:sp>
      <p:sp>
        <p:nvSpPr>
          <p:cNvPr id="5" name="term-0"/>
          <p:cNvSpPr/>
          <p:nvPr/>
        </p:nvSpPr>
        <p:spPr>
          <a:xfrm>
            <a:off x="5166360" y="1097280"/>
            <a:ext cx="3566160" cy="777240"/>
          </a:xfrm>
          <a:prstGeom prst="roundRect">
            <a:avLst>
              <a:gd name="adj" fmla="val 9412"/>
            </a:avLst>
          </a:prstGeom>
          <a:solidFill>
            <a:srgbClr val="EEF2F4"/>
          </a:solidFill>
          <a:ln w="12700">
            <a:solidFill>
              <a:srgbClr val="EEF2F4"/>
            </a:solidFill>
            <a:prstDash val="solid"/>
          </a:ln>
        </p:spPr>
      </p:sp>
      <p:sp>
        <p:nvSpPr>
          <p:cNvPr id="6" name="Text 3"/>
          <p:cNvSpPr txBox="1"/>
          <p:nvPr/>
        </p:nvSpPr>
        <p:spPr>
          <a:xfrm>
            <a:off x="5303520" y="1170432"/>
            <a:ext cx="3337560" cy="256032"/>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C</a:t>
            </a:r>
            <a:endParaRPr lang="en-US" sz="1300" dirty="0"/>
          </a:p>
        </p:txBody>
      </p:sp>
      <p:sp>
        <p:nvSpPr>
          <p:cNvPr id="7" name="Text 4"/>
          <p:cNvSpPr txBox="1"/>
          <p:nvPr/>
        </p:nvSpPr>
        <p:spPr>
          <a:xfrm>
            <a:off x="5303520" y="1444752"/>
            <a:ext cx="3337560" cy="411480"/>
          </a:xfrm>
          <a:prstGeom prst="rect">
            <a:avLst/>
          </a:prstGeom>
          <a:noFill/>
          <a:ln/>
        </p:spPr>
        <p:txBody>
          <a:bodyPr wrap="square" lIns="0" tIns="0" rIns="0" bIns="0" rtlCol="0" anchor="t"/>
          <a:lstStyle/>
          <a:p>
            <a:pPr indent="0" marL="0">
              <a:buNone/>
            </a:pPr>
            <a:r>
              <a:rPr lang="en-US" sz="1100" dirty="0">
                <a:solidFill>
                  <a:schemeClr val="tx2"/>
                </a:solidFill>
              </a:rPr>
              <a:t>input channels of the layer (16 to 256)</a:t>
            </a:r>
            <a:endParaRPr lang="en-US" sz="1100" dirty="0"/>
          </a:p>
        </p:txBody>
      </p:sp>
      <p:sp>
        <p:nvSpPr>
          <p:cNvPr id="8" name="term-1"/>
          <p:cNvSpPr/>
          <p:nvPr/>
        </p:nvSpPr>
        <p:spPr>
          <a:xfrm>
            <a:off x="5166360" y="1965960"/>
            <a:ext cx="3566160" cy="777240"/>
          </a:xfrm>
          <a:prstGeom prst="roundRect">
            <a:avLst>
              <a:gd name="adj" fmla="val 9412"/>
            </a:avLst>
          </a:prstGeom>
          <a:solidFill>
            <a:srgbClr val="EEF2F4"/>
          </a:solidFill>
          <a:ln w="12700">
            <a:solidFill>
              <a:srgbClr val="EEF2F4"/>
            </a:solidFill>
            <a:prstDash val="solid"/>
          </a:ln>
        </p:spPr>
      </p:sp>
      <p:sp>
        <p:nvSpPr>
          <p:cNvPr id="9" name="Text 6"/>
          <p:cNvSpPr txBox="1"/>
          <p:nvPr/>
        </p:nvSpPr>
        <p:spPr>
          <a:xfrm>
            <a:off x="5303520" y="2039112"/>
            <a:ext cx="3337560" cy="256032"/>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k = C × 9</a:t>
            </a:r>
            <a:endParaRPr lang="en-US" sz="1300" dirty="0"/>
          </a:p>
        </p:txBody>
      </p:sp>
      <p:sp>
        <p:nvSpPr>
          <p:cNvPr id="10" name="Text 7"/>
          <p:cNvSpPr txBox="1"/>
          <p:nvPr/>
        </p:nvSpPr>
        <p:spPr>
          <a:xfrm>
            <a:off x="5303520" y="2313432"/>
            <a:ext cx="3337560" cy="411480"/>
          </a:xfrm>
          <a:prstGeom prst="rect">
            <a:avLst/>
          </a:prstGeom>
          <a:noFill/>
          <a:ln/>
        </p:spPr>
        <p:txBody>
          <a:bodyPr wrap="square" lIns="0" tIns="0" rIns="0" bIns="0" rtlCol="0" anchor="t"/>
          <a:lstStyle/>
          <a:p>
            <a:pPr indent="0" marL="0">
              <a:buNone/>
            </a:pPr>
            <a:r>
              <a:rPr lang="en-US" sz="1100" dirty="0">
                <a:solidFill>
                  <a:schemeClr val="tx2"/>
                </a:solidFill>
              </a:rPr>
              <a:t>multiply-adds per output: C channels × the 9 taps of the 3×3 filter (A2's k)</a:t>
            </a:r>
            <a:endParaRPr lang="en-US" sz="1100" dirty="0"/>
          </a:p>
        </p:txBody>
      </p:sp>
      <p:sp>
        <p:nvSpPr>
          <p:cNvPr id="11" name="term-2"/>
          <p:cNvSpPr/>
          <p:nvPr/>
        </p:nvSpPr>
        <p:spPr>
          <a:xfrm>
            <a:off x="5166360" y="2834640"/>
            <a:ext cx="3566160" cy="777240"/>
          </a:xfrm>
          <a:prstGeom prst="roundRect">
            <a:avLst>
              <a:gd name="adj" fmla="val 9412"/>
            </a:avLst>
          </a:prstGeom>
          <a:solidFill>
            <a:srgbClr val="EEF2F4"/>
          </a:solidFill>
          <a:ln w="12700">
            <a:solidFill>
              <a:srgbClr val="EEF2F4"/>
            </a:solidFill>
            <a:prstDash val="solid"/>
          </a:ln>
        </p:spPr>
      </p:sp>
      <p:sp>
        <p:nvSpPr>
          <p:cNvPr id="12" name="Text 9"/>
          <p:cNvSpPr txBox="1"/>
          <p:nvPr/>
        </p:nvSpPr>
        <p:spPr>
          <a:xfrm>
            <a:off x="5303520" y="2907792"/>
            <a:ext cx="3337560" cy="256032"/>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accumulator</a:t>
            </a:r>
            <a:endParaRPr lang="en-US" sz="1300" dirty="0"/>
          </a:p>
        </p:txBody>
      </p:sp>
      <p:sp>
        <p:nvSpPr>
          <p:cNvPr id="13" name="Text 10"/>
          <p:cNvSpPr txBox="1"/>
          <p:nvPr/>
        </p:nvSpPr>
        <p:spPr>
          <a:xfrm>
            <a:off x="5303520" y="3182112"/>
            <a:ext cx="3337560" cy="411480"/>
          </a:xfrm>
          <a:prstGeom prst="rect">
            <a:avLst/>
          </a:prstGeom>
          <a:noFill/>
          <a:ln/>
        </p:spPr>
        <p:txBody>
          <a:bodyPr wrap="square" lIns="0" tIns="0" rIns="0" bIns="0" rtlCol="0" anchor="t"/>
          <a:lstStyle/>
          <a:p>
            <a:pPr indent="0" marL="0">
              <a:buNone/>
            </a:pPr>
            <a:r>
              <a:rPr lang="en-US" sz="1100" dirty="0">
                <a:solidFill>
                  <a:schemeClr val="tx2"/>
                </a:solidFill>
              </a:rPr>
              <a:t>one YMM register = 8 outputs (8 channels of one pixel); one dependency chain</a:t>
            </a:r>
            <a:endParaRPr lang="en-US" sz="1100" dirty="0"/>
          </a:p>
        </p:txBody>
      </p:sp>
      <p:sp>
        <p:nvSpPr>
          <p:cNvPr id="14" name="term-3"/>
          <p:cNvSpPr/>
          <p:nvPr/>
        </p:nvSpPr>
        <p:spPr>
          <a:xfrm>
            <a:off x="5166360" y="3703320"/>
            <a:ext cx="3566160" cy="777240"/>
          </a:xfrm>
          <a:prstGeom prst="roundRect">
            <a:avLst>
              <a:gd name="adj" fmla="val 9412"/>
            </a:avLst>
          </a:prstGeom>
          <a:solidFill>
            <a:srgbClr val="D7EAF0"/>
          </a:solidFill>
          <a:ln w="12700">
            <a:solidFill>
              <a:srgbClr val="D7EAF0"/>
            </a:solidFill>
            <a:prstDash val="solid"/>
          </a:ln>
        </p:spPr>
      </p:sp>
      <p:sp>
        <p:nvSpPr>
          <p:cNvPr id="15" name="Text 12"/>
          <p:cNvSpPr txBox="1"/>
          <p:nvPr/>
        </p:nvSpPr>
        <p:spPr>
          <a:xfrm>
            <a:off x="5303520" y="3776472"/>
            <a:ext cx="3337560" cy="256032"/>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tile 2×5 (10)</a:t>
            </a:r>
            <a:endParaRPr lang="en-US" sz="1300" dirty="0"/>
          </a:p>
        </p:txBody>
      </p:sp>
      <p:sp>
        <p:nvSpPr>
          <p:cNvPr id="16" name="Text 13"/>
          <p:cNvSpPr txBox="1"/>
          <p:nvPr/>
        </p:nvSpPr>
        <p:spPr>
          <a:xfrm>
            <a:off x="5303520" y="4050792"/>
            <a:ext cx="3337560" cy="411480"/>
          </a:xfrm>
          <a:prstGeom prst="rect">
            <a:avLst/>
          </a:prstGeom>
          <a:noFill/>
          <a:ln/>
        </p:spPr>
        <p:txBody>
          <a:bodyPr wrap="square" lIns="0" tIns="0" rIns="0" bIns="0" rtlCol="0" anchor="t"/>
          <a:lstStyle/>
          <a:p>
            <a:pPr indent="0" marL="0">
              <a:buNone/>
            </a:pPr>
            <a:r>
              <a:rPr lang="en-US" sz="1100" dirty="0">
                <a:solidFill>
                  <a:schemeClr val="tx2"/>
                </a:solidFill>
              </a:rPr>
              <a:t>outputs per call: 2 blocks of 8 channels × 5 pixels = 80 outputs in 10 accumulators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One kernel call = 80 outputs</a:t>
            </a:r>
            <a:endParaRPr lang="en-US" sz="2600" dirty="0"/>
          </a:p>
        </p:txBody>
      </p:sp>
      <p:pic>
        <p:nvPicPr>
          <p:cNvPr id="3" name="Image 0" descr="Input map with a 3 by 7 window across all C channels, 16 filters of 3 by 3 by C, and the output tile of 1 row, 5 pixels and 16 channels">    </p:cNvPr>
          <p:cNvPicPr>
            <a:picLocks noChangeAspect="1"/>
          </p:cNvPicPr>
          <p:nvPr/>
        </p:nvPicPr>
        <p:blipFill>
          <a:blip r:embed="rId1"/>
          <a:stretch>
            <a:fillRect/>
          </a:stretch>
        </p:blipFill>
        <p:spPr>
          <a:xfrm>
            <a:off x="457200" y="1097280"/>
            <a:ext cx="8229600" cy="2395728"/>
          </a:xfrm>
          <a:prstGeom prst="rect">
            <a:avLst/>
          </a:prstGeom>
        </p:spPr>
      </p:pic>
      <p:sp>
        <p:nvSpPr>
          <p:cNvPr id="4" name="Text 1"/>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500" dirty="0">
                <a:solidFill>
                  <a:schemeClr val="tx1"/>
                </a:solidFill>
              </a:rPr>
              <a:t>Per step (one input channel at one of the 9 taps): load 2 weight vectors, broadcast 5 inputs, 10 FMAs. Repeat k = C × 9 times, then bias, SiLU and one store per register.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Four steps: ops → accumulators → tile → benchmark</a:t>
            </a:r>
            <a:endParaRPr lang="en-US" sz="2600" dirty="0"/>
          </a:p>
        </p:txBody>
      </p:sp>
      <p:sp>
        <p:nvSpPr>
          <p:cNvPr id="3" name="step-1"/>
          <p:cNvSpPr/>
          <p:nvPr/>
        </p:nvSpPr>
        <p:spPr>
          <a:xfrm>
            <a:off x="457200" y="1115568"/>
            <a:ext cx="384048" cy="384048"/>
          </a:xfrm>
          <a:prstGeom prst="ellipse">
            <a:avLst/>
          </a:prstGeom>
          <a:solidFill>
            <a:srgbClr val="0C6A87"/>
          </a:solidFill>
          <a:ln w="12700">
            <a:solidFill>
              <a:srgbClr val="0C6A87"/>
            </a:solidFill>
            <a:prstDash val="solid"/>
          </a:ln>
        </p:spPr>
      </p:sp>
      <p:sp>
        <p:nvSpPr>
          <p:cNvPr id="4" name="Text 2"/>
          <p:cNvSpPr txBox="1"/>
          <p:nvPr/>
        </p:nvSpPr>
        <p:spPr>
          <a:xfrm>
            <a:off x="457200" y="1115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05840" y="1097280"/>
            <a:ext cx="3291840" cy="274320"/>
          </a:xfrm>
          <a:prstGeom prst="rect">
            <a:avLst/>
          </a:prstGeom>
          <a:noFill/>
          <a:ln/>
        </p:spPr>
        <p:txBody>
          <a:bodyPr wrap="square" lIns="0" tIns="0" rIns="0" bIns="0" rtlCol="0" anchor="t"/>
          <a:lstStyle/>
          <a:p>
            <a:pPr indent="0" marL="0">
              <a:buNone/>
            </a:pPr>
            <a:r>
              <a:rPr lang="en-US" sz="1500" b="1" dirty="0">
                <a:solidFill>
                  <a:schemeClr val="tx1"/>
                </a:solidFill>
              </a:rPr>
              <a:t>Independent ops</a:t>
            </a:r>
            <a:endParaRPr lang="en-US" sz="1500" dirty="0"/>
          </a:p>
        </p:txBody>
      </p:sp>
      <p:sp>
        <p:nvSpPr>
          <p:cNvPr id="6" name="Text 4"/>
          <p:cNvSpPr txBox="1"/>
          <p:nvPr/>
        </p:nvSpPr>
        <p:spPr>
          <a:xfrm>
            <a:off x="1005840" y="1389888"/>
            <a:ext cx="3291840" cy="566928"/>
          </a:xfrm>
          <a:prstGeom prst="rect">
            <a:avLst/>
          </a:prstGeom>
          <a:noFill/>
          <a:ln/>
        </p:spPr>
        <p:txBody>
          <a:bodyPr wrap="square" lIns="0" tIns="0" rIns="0" bIns="0" rtlCol="0" anchor="t"/>
          <a:lstStyle/>
          <a:p>
            <a:pPr indent="0" marL="0">
              <a:buNone/>
            </a:pPr>
            <a:r>
              <a:rPr lang="en-US" sz="1200" dirty="0">
                <a:solidFill>
                  <a:schemeClr val="tx2"/>
                </a:solidFill>
              </a:rPr>
              <a:t>Every output is its own dot product of length C × 9: 102,400 in a 40×40, 64-channel layer.</a:t>
            </a:r>
            <a:endParaRPr lang="en-US" sz="1200" dirty="0"/>
          </a:p>
        </p:txBody>
      </p:sp>
      <p:sp>
        <p:nvSpPr>
          <p:cNvPr id="7" name="step-2"/>
          <p:cNvSpPr/>
          <p:nvPr/>
        </p:nvSpPr>
        <p:spPr>
          <a:xfrm>
            <a:off x="457200" y="2011680"/>
            <a:ext cx="384048" cy="384048"/>
          </a:xfrm>
          <a:prstGeom prst="ellipse">
            <a:avLst/>
          </a:prstGeom>
          <a:solidFill>
            <a:srgbClr val="0C6A87"/>
          </a:solidFill>
          <a:ln w="12700">
            <a:solidFill>
              <a:srgbClr val="0C6A87"/>
            </a:solidFill>
            <a:prstDash val="solid"/>
          </a:ln>
        </p:spPr>
      </p:sp>
      <p:sp>
        <p:nvSpPr>
          <p:cNvPr id="8" name="Text 6"/>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05840" y="1993392"/>
            <a:ext cx="3291840" cy="274320"/>
          </a:xfrm>
          <a:prstGeom prst="rect">
            <a:avLst/>
          </a:prstGeom>
          <a:noFill/>
          <a:ln/>
        </p:spPr>
        <p:txBody>
          <a:bodyPr wrap="square" lIns="0" tIns="0" rIns="0" bIns="0" rtlCol="0" anchor="t"/>
          <a:lstStyle/>
          <a:p>
            <a:pPr indent="0" marL="0">
              <a:buNone/>
            </a:pPr>
            <a:r>
              <a:rPr lang="en-US" sz="1500" b="1" dirty="0">
                <a:solidFill>
                  <a:schemeClr val="tx1"/>
                </a:solidFill>
              </a:rPr>
              <a:t>Outputs in flight</a:t>
            </a:r>
            <a:endParaRPr lang="en-US" sz="1500" dirty="0"/>
          </a:p>
        </p:txBody>
      </p:sp>
      <p:sp>
        <p:nvSpPr>
          <p:cNvPr id="10" name="Text 8"/>
          <p:cNvSpPr txBox="1"/>
          <p:nvPr/>
        </p:nvSpPr>
        <p:spPr>
          <a:xfrm>
            <a:off x="1005840" y="2286000"/>
            <a:ext cx="3291840" cy="566928"/>
          </a:xfrm>
          <a:prstGeom prst="rect">
            <a:avLst/>
          </a:prstGeom>
          <a:noFill/>
          <a:ln/>
        </p:spPr>
        <p:txBody>
          <a:bodyPr wrap="square" lIns="0" tIns="0" rIns="0" bIns="0" rtlCol="0" anchor="t"/>
          <a:lstStyle/>
          <a:p>
            <a:pPr indent="0" marL="0">
              <a:buNone/>
            </a:pPr>
            <a:r>
              <a:rPr lang="en-US" sz="1200" dirty="0">
                <a:solidFill>
                  <a:schemeClr val="tx2"/>
                </a:solidFill>
              </a:rPr>
              <a:t>Latency 5 × 2 FMA/cycle = 10 accumulators; 1 accumulator runs at exactly 10% of peak.</a:t>
            </a:r>
            <a:endParaRPr lang="en-US" sz="1200" dirty="0"/>
          </a:p>
        </p:txBody>
      </p:sp>
      <p:sp>
        <p:nvSpPr>
          <p:cNvPr id="11" name="step-3"/>
          <p:cNvSpPr/>
          <p:nvPr/>
        </p:nvSpPr>
        <p:spPr>
          <a:xfrm>
            <a:off x="457200" y="2907792"/>
            <a:ext cx="384048" cy="384048"/>
          </a:xfrm>
          <a:prstGeom prst="ellipse">
            <a:avLst/>
          </a:prstGeom>
          <a:solidFill>
            <a:srgbClr val="0C6A87"/>
          </a:solidFill>
          <a:ln w="12700">
            <a:solidFill>
              <a:srgbClr val="0C6A87"/>
            </a:solidFill>
            <a:prstDash val="solid"/>
          </a:ln>
        </p:spPr>
      </p:sp>
      <p:sp>
        <p:nvSpPr>
          <p:cNvPr id="12" name="Text 10"/>
          <p:cNvSpPr txBox="1"/>
          <p:nvPr/>
        </p:nvSpPr>
        <p:spPr>
          <a:xfrm>
            <a:off x="457200" y="2907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05840" y="2889504"/>
            <a:ext cx="3291840" cy="274320"/>
          </a:xfrm>
          <a:prstGeom prst="rect">
            <a:avLst/>
          </a:prstGeom>
          <a:noFill/>
          <a:ln/>
        </p:spPr>
        <p:txBody>
          <a:bodyPr wrap="square" lIns="0" tIns="0" rIns="0" bIns="0" rtlCol="0" anchor="t"/>
          <a:lstStyle/>
          <a:p>
            <a:pPr indent="0" marL="0">
              <a:buNone/>
            </a:pPr>
            <a:r>
              <a:rPr lang="en-US" sz="1500" b="1" dirty="0">
                <a:solidFill>
                  <a:schemeClr val="tx1"/>
                </a:solidFill>
              </a:rPr>
              <a:t>Kernel size</a:t>
            </a:r>
            <a:endParaRPr lang="en-US" sz="1500" dirty="0"/>
          </a:p>
        </p:txBody>
      </p:sp>
      <p:sp>
        <p:nvSpPr>
          <p:cNvPr id="14" name="Text 12"/>
          <p:cNvSpPr txBox="1"/>
          <p:nvPr/>
        </p:nvSpPr>
        <p:spPr>
          <a:xfrm>
            <a:off x="1005840" y="3182112"/>
            <a:ext cx="3291840" cy="566928"/>
          </a:xfrm>
          <a:prstGeom prst="rect">
            <a:avLst/>
          </a:prstGeom>
          <a:noFill/>
          <a:ln/>
        </p:spPr>
        <p:txBody>
          <a:bodyPr wrap="square" lIns="0" tIns="0" rIns="0" bIns="0" rtlCol="0" anchor="t"/>
          <a:lstStyle/>
          <a:p>
            <a:pPr indent="0" marL="0">
              <a:buNone/>
            </a:pPr>
            <a:r>
              <a:rPr lang="en-US" sz="1200" dirty="0">
                <a:solidFill>
                  <a:schemeClr val="tx2"/>
                </a:solidFill>
              </a:rPr>
              <a:t>2×5 tile: 10 acc + 2 weights + 1 broadcast = 13 regs; 7 loads per 10 FMAs; 5 divides every width.</a:t>
            </a:r>
            <a:endParaRPr lang="en-US" sz="1200" dirty="0"/>
          </a:p>
        </p:txBody>
      </p:sp>
      <p:sp>
        <p:nvSpPr>
          <p:cNvPr id="15" name="step-4"/>
          <p:cNvSpPr/>
          <p:nvPr/>
        </p:nvSpPr>
        <p:spPr>
          <a:xfrm>
            <a:off x="457200" y="3803904"/>
            <a:ext cx="384048" cy="384048"/>
          </a:xfrm>
          <a:prstGeom prst="ellipse">
            <a:avLst/>
          </a:prstGeom>
          <a:solidFill>
            <a:srgbClr val="0C6A87"/>
          </a:solidFill>
          <a:ln w="12700">
            <a:solidFill>
              <a:srgbClr val="0C6A87"/>
            </a:solidFill>
            <a:prstDash val="solid"/>
          </a:ln>
        </p:spPr>
      </p:sp>
      <p:sp>
        <p:nvSpPr>
          <p:cNvPr id="16" name="Text 14"/>
          <p:cNvSpPr txBox="1"/>
          <p:nvPr/>
        </p:nvSpPr>
        <p:spPr>
          <a:xfrm>
            <a:off x="457200" y="380390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005840" y="3785616"/>
            <a:ext cx="3291840" cy="274320"/>
          </a:xfrm>
          <a:prstGeom prst="rect">
            <a:avLst/>
          </a:prstGeom>
          <a:noFill/>
          <a:ln/>
        </p:spPr>
        <p:txBody>
          <a:bodyPr wrap="square" lIns="0" tIns="0" rIns="0" bIns="0" rtlCol="0" anchor="t"/>
          <a:lstStyle/>
          <a:p>
            <a:pPr indent="0" marL="0">
              <a:buNone/>
            </a:pPr>
            <a:r>
              <a:rPr lang="en-US" sz="1500" b="1" dirty="0">
                <a:solidFill>
                  <a:schemeClr val="tx1"/>
                </a:solidFill>
              </a:rPr>
              <a:t>Benchmark like A2</a:t>
            </a:r>
            <a:endParaRPr lang="en-US" sz="1500" dirty="0"/>
          </a:p>
        </p:txBody>
      </p:sp>
      <p:sp>
        <p:nvSpPr>
          <p:cNvPr id="18" name="Text 16"/>
          <p:cNvSpPr txBox="1"/>
          <p:nvPr/>
        </p:nvSpPr>
        <p:spPr>
          <a:xfrm>
            <a:off x="1005840" y="4078224"/>
            <a:ext cx="3291840" cy="566928"/>
          </a:xfrm>
          <a:prstGeom prst="rect">
            <a:avLst/>
          </a:prstGeom>
          <a:noFill/>
          <a:ln/>
        </p:spPr>
        <p:txBody>
          <a:bodyPr wrap="square" lIns="0" tIns="0" rIns="0" bIns="0" rtlCol="0" anchor="t"/>
          <a:lstStyle/>
          <a:p>
            <a:pPr indent="0" marL="0">
              <a:buNone/>
            </a:pPr>
            <a:r>
              <a:rPr lang="en-US" sz="1200" dirty="0">
                <a:solidFill>
                  <a:schemeClr val="tx2"/>
                </a:solidFill>
              </a:rPr>
              <a:t>Microkernel alone, k = 72 to 4608, 3 runs, 2 s warm-up, cycles at 3.4 GHz as in A2, checked vs a reference.</a:t>
            </a:r>
            <a:endParaRPr lang="en-US" sz="1200" dirty="0"/>
          </a:p>
        </p:txBody>
      </p:sp>
      <p:graphicFrame>
        <p:nvGraphicFramePr>
          <p:cNvPr id="19" name="accumulator-chart" descr=""/>
          <p:cNvGraphicFramePr/>
          <p:nvPr/>
        </p:nvGraphicFramePr>
        <p:xfrm>
          <a:off x="4572000" y="960120"/>
          <a:ext cx="416052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Same math, 50% to 95%: tile and register allocation</a:t>
            </a:r>
            <a:endParaRPr lang="en-US" sz="2600" dirty="0"/>
          </a:p>
        </p:txBody>
      </p:sp>
      <p:pic>
        <p:nvPicPr>
          <p:cNvPr id="3" name="Image 0" descr="Design space: percent of peak for every stride-1 kernel, alone and in all 32 layers">    </p:cNvPr>
          <p:cNvPicPr>
            <a:picLocks noChangeAspect="1"/>
          </p:cNvPicPr>
          <p:nvPr/>
        </p:nvPicPr>
        <p:blipFill>
          <a:blip r:embed="rId1"/>
          <a:stretch>
            <a:fillRect/>
          </a:stretch>
        </p:blipFill>
        <p:spPr>
          <a:xfrm>
            <a:off x="457200" y="914400"/>
            <a:ext cx="6858000" cy="3730752"/>
          </a:xfrm>
          <a:prstGeom prst="rect">
            <a:avLst/>
          </a:prstGeom>
        </p:spPr>
      </p:pic>
      <p:sp>
        <p:nvSpPr>
          <p:cNvPr id="4" name="ds-card-0"/>
          <p:cNvSpPr/>
          <p:nvPr/>
        </p:nvSpPr>
        <p:spPr>
          <a:xfrm>
            <a:off x="7452360" y="960120"/>
            <a:ext cx="1280160" cy="1143000"/>
          </a:xfrm>
          <a:prstGeom prst="roundRect">
            <a:avLst>
              <a:gd name="adj" fmla="val 6400"/>
            </a:avLst>
          </a:prstGeom>
          <a:solidFill>
            <a:srgbClr val="EEF2F4"/>
          </a:solidFill>
          <a:ln w="12700">
            <a:solidFill>
              <a:srgbClr val="EEF2F4"/>
            </a:solidFill>
            <a:prstDash val="solid"/>
          </a:ln>
        </p:spPr>
      </p:sp>
      <p:sp>
        <p:nvSpPr>
          <p:cNvPr id="5" name="Text 2"/>
          <p:cNvSpPr txBox="1"/>
          <p:nvPr/>
        </p:nvSpPr>
        <p:spPr>
          <a:xfrm>
            <a:off x="7543800" y="1033272"/>
            <a:ext cx="1115568" cy="274320"/>
          </a:xfrm>
          <a:prstGeom prst="rect">
            <a:avLst/>
          </a:prstGeom>
          <a:noFill/>
          <a:ln/>
        </p:spPr>
        <p:txBody>
          <a:bodyPr wrap="square" lIns="0" tIns="0" rIns="0" bIns="0" rtlCol="0" anchor="t"/>
          <a:lstStyle/>
          <a:p>
            <a:pPr indent="0" marL="0">
              <a:buNone/>
            </a:pPr>
            <a:r>
              <a:rPr lang="en-US" sz="1200" b="1" dirty="0">
                <a:solidFill>
                  <a:schemeClr val="tx1"/>
                </a:solidFill>
              </a:rPr>
              <a:t>Intrinsics</a:t>
            </a:r>
            <a:endParaRPr lang="en-US" sz="1200" dirty="0"/>
          </a:p>
        </p:txBody>
      </p:sp>
      <p:sp>
        <p:nvSpPr>
          <p:cNvPr id="6" name="Text 3"/>
          <p:cNvSpPr txBox="1"/>
          <p:nvPr/>
        </p:nvSpPr>
        <p:spPr>
          <a:xfrm>
            <a:off x="7543800" y="1325880"/>
            <a:ext cx="1115568" cy="749808"/>
          </a:xfrm>
          <a:prstGeom prst="rect">
            <a:avLst/>
          </a:prstGeom>
          <a:noFill/>
          <a:ln/>
        </p:spPr>
        <p:txBody>
          <a:bodyPr wrap="square" lIns="0" tIns="0" rIns="0" bIns="0" rtlCol="0" anchor="t"/>
          <a:lstStyle/>
          <a:p>
            <a:pPr indent="0" marL="0">
              <a:buNone/>
            </a:pPr>
            <a:r>
              <a:rPr lang="en-US" sz="1100" dirty="0">
                <a:solidFill>
                  <a:schemeClr val="tx2"/>
                </a:solidFill>
              </a:rPr>
              <a:t>GCC: clean at 13 regs, copies at 15, spills at 16</a:t>
            </a:r>
            <a:endParaRPr lang="en-US" sz="1100" dirty="0"/>
          </a:p>
        </p:txBody>
      </p:sp>
      <p:sp>
        <p:nvSpPr>
          <p:cNvPr id="7" name="ds-card-1"/>
          <p:cNvSpPr/>
          <p:nvPr/>
        </p:nvSpPr>
        <p:spPr>
          <a:xfrm>
            <a:off x="7452360" y="2212848"/>
            <a:ext cx="1280160" cy="1143000"/>
          </a:xfrm>
          <a:prstGeom prst="roundRect">
            <a:avLst>
              <a:gd name="adj" fmla="val 6400"/>
            </a:avLst>
          </a:prstGeom>
          <a:solidFill>
            <a:srgbClr val="D7EAF0"/>
          </a:solidFill>
          <a:ln w="12700">
            <a:solidFill>
              <a:srgbClr val="D7EAF0"/>
            </a:solidFill>
            <a:prstDash val="solid"/>
          </a:ln>
        </p:spPr>
      </p:sp>
      <p:sp>
        <p:nvSpPr>
          <p:cNvPr id="8" name="Text 5"/>
          <p:cNvSpPr txBox="1"/>
          <p:nvPr/>
        </p:nvSpPr>
        <p:spPr>
          <a:xfrm>
            <a:off x="7543800" y="2286000"/>
            <a:ext cx="1115568" cy="274320"/>
          </a:xfrm>
          <a:prstGeom prst="rect">
            <a:avLst/>
          </a:prstGeom>
          <a:noFill/>
          <a:ln/>
        </p:spPr>
        <p:txBody>
          <a:bodyPr wrap="square" lIns="0" tIns="0" rIns="0" bIns="0" rtlCol="0" anchor="t"/>
          <a:lstStyle/>
          <a:p>
            <a:pPr indent="0" marL="0">
              <a:buNone/>
            </a:pPr>
            <a:r>
              <a:rPr lang="en-US" sz="1200" b="1" dirty="0">
                <a:solidFill>
                  <a:schemeClr val="accent1"/>
                </a:solidFill>
              </a:rPr>
              <a:t>Inline asm</a:t>
            </a:r>
            <a:endParaRPr lang="en-US" sz="1200" dirty="0"/>
          </a:p>
        </p:txBody>
      </p:sp>
      <p:sp>
        <p:nvSpPr>
          <p:cNvPr id="9" name="Text 6"/>
          <p:cNvSpPr txBox="1"/>
          <p:nvPr/>
        </p:nvSpPr>
        <p:spPr>
          <a:xfrm>
            <a:off x="7543800" y="2578608"/>
            <a:ext cx="1115568" cy="749808"/>
          </a:xfrm>
          <a:prstGeom prst="rect">
            <a:avLst/>
          </a:prstGeom>
          <a:noFill/>
          <a:ln/>
        </p:spPr>
        <p:txBody>
          <a:bodyPr wrap="square" lIns="0" tIns="0" rIns="0" bIns="0" rtlCol="0" anchor="t"/>
          <a:lstStyle/>
          <a:p>
            <a:pPr indent="0" marL="0">
              <a:buNone/>
            </a:pPr>
            <a:r>
              <a:rPr lang="en-US" sz="1100" dirty="0">
                <a:solidFill>
                  <a:schemeClr val="tx2"/>
                </a:solidFill>
              </a:rPr>
              <a:t>2×6 by hand: 95% alone, 84% in layers</a:t>
            </a:r>
            <a:endParaRPr lang="en-US" sz="1100" dirty="0"/>
          </a:p>
        </p:txBody>
      </p:sp>
      <p:sp>
        <p:nvSpPr>
          <p:cNvPr id="10" name="ds-card-2"/>
          <p:cNvSpPr/>
          <p:nvPr/>
        </p:nvSpPr>
        <p:spPr>
          <a:xfrm>
            <a:off x="7452360" y="3465576"/>
            <a:ext cx="1280160" cy="1143000"/>
          </a:xfrm>
          <a:prstGeom prst="roundRect">
            <a:avLst>
              <a:gd name="adj" fmla="val 6400"/>
            </a:avLst>
          </a:prstGeom>
          <a:solidFill>
            <a:srgbClr val="EEF2F4"/>
          </a:solidFill>
          <a:ln w="12700">
            <a:solidFill>
              <a:srgbClr val="EEF2F4"/>
            </a:solidFill>
            <a:prstDash val="solid"/>
          </a:ln>
        </p:spPr>
      </p:sp>
      <p:sp>
        <p:nvSpPr>
          <p:cNvPr id="11" name="Text 8"/>
          <p:cNvSpPr txBox="1"/>
          <p:nvPr/>
        </p:nvSpPr>
        <p:spPr>
          <a:xfrm>
            <a:off x="7543800" y="3538728"/>
            <a:ext cx="1115568" cy="274320"/>
          </a:xfrm>
          <a:prstGeom prst="rect">
            <a:avLst/>
          </a:prstGeom>
          <a:noFill/>
          <a:ln/>
        </p:spPr>
        <p:txBody>
          <a:bodyPr wrap="square" lIns="0" tIns="0" rIns="0" bIns="0" rtlCol="0" anchor="t"/>
          <a:lstStyle/>
          <a:p>
            <a:pPr indent="0" marL="0">
              <a:buNone/>
            </a:pPr>
            <a:r>
              <a:rPr lang="en-US" sz="1200" b="1" dirty="0">
                <a:solidFill>
                  <a:schemeClr val="tx1"/>
                </a:solidFill>
              </a:rPr>
              <a:t>Unroll, pipeline</a:t>
            </a:r>
            <a:endParaRPr lang="en-US" sz="1200" dirty="0"/>
          </a:p>
        </p:txBody>
      </p:sp>
      <p:sp>
        <p:nvSpPr>
          <p:cNvPr id="12" name="Text 9"/>
          <p:cNvSpPr txBox="1"/>
          <p:nvPr/>
        </p:nvSpPr>
        <p:spPr>
          <a:xfrm>
            <a:off x="7543800" y="3831336"/>
            <a:ext cx="1115568" cy="749808"/>
          </a:xfrm>
          <a:prstGeom prst="rect">
            <a:avLst/>
          </a:prstGeom>
          <a:noFill/>
          <a:ln/>
        </p:spPr>
        <p:txBody>
          <a:bodyPr wrap="square" lIns="0" tIns="0" rIns="0" bIns="0" rtlCol="0" anchor="t"/>
          <a:lstStyle/>
          <a:p>
            <a:pPr indent="0" marL="0">
              <a:buNone/>
            </a:pPr>
            <a:r>
              <a:rPr lang="en-US" sz="1100" dirty="0">
                <a:solidFill>
                  <a:schemeClr val="tx2"/>
                </a:solidFill>
              </a:rPr>
              <a:t>lost: uop cache, spills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Benchmarked like Assignment 2: FLOPs/cycle vs k</a:t>
            </a:r>
            <a:endParaRPr lang="en-US" sz="2600" dirty="0"/>
          </a:p>
        </p:txBody>
      </p:sp>
      <p:pic>
        <p:nvPicPr>
          <p:cNvPr id="3" name="Image 0" descr="FLOPs per cycle vs k for the 2x5, 2x6 and 2x6 asm microkernels with SiLU off">    </p:cNvPr>
          <p:cNvPicPr>
            <a:picLocks noChangeAspect="1"/>
          </p:cNvPicPr>
          <p:nvPr/>
        </p:nvPicPr>
        <p:blipFill>
          <a:blip r:embed="rId1"/>
          <a:stretch>
            <a:fillRect/>
          </a:stretch>
        </p:blipFill>
        <p:spPr>
          <a:xfrm>
            <a:off x="457200" y="914400"/>
            <a:ext cx="5943600" cy="3172968"/>
          </a:xfrm>
          <a:prstGeom prst="rect">
            <a:avLst/>
          </a:prstGeom>
        </p:spPr>
      </p:pic>
      <p:sp>
        <p:nvSpPr>
          <p:cNvPr id="4" name="Text 1"/>
          <p:cNvSpPr txBox="1"/>
          <p:nvPr/>
        </p:nvSpPr>
        <p:spPr>
          <a:xfrm>
            <a:off x="457200" y="4160520"/>
            <a:ext cx="5943600" cy="457200"/>
          </a:xfrm>
          <a:prstGeom prst="rect">
            <a:avLst/>
          </a:prstGeom>
          <a:noFill/>
          <a:ln/>
        </p:spPr>
        <p:txBody>
          <a:bodyPr wrap="square" lIns="0" tIns="0" rIns="0" bIns="0" rtlCol="0" anchor="t"/>
          <a:lstStyle/>
          <a:p>
            <a:pPr indent="0" marL="0">
              <a:buNone/>
            </a:pPr>
            <a:r>
              <a:rPr lang="en-US" sz="1200" dirty="0">
                <a:solidFill>
                  <a:schemeClr val="tx2"/>
                </a:solidFill>
              </a:rPr>
              <a:t>SiLU off, cycles = time × 3.4 GHz, as in A2. 3 runs, every point checked (576 pass).</a:t>
            </a:r>
            <a:endParaRPr lang="en-US" sz="1200" dirty="0"/>
          </a:p>
        </p:txBody>
      </p:sp>
      <p:sp>
        <p:nvSpPr>
          <p:cNvPr id="5" name="Text 2"/>
          <p:cNvSpPr txBox="1"/>
          <p:nvPr/>
        </p:nvSpPr>
        <p:spPr>
          <a:xfrm>
            <a:off x="6675120" y="960120"/>
            <a:ext cx="20574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94–97%</a:t>
            </a:r>
            <a:endParaRPr lang="en-US" sz="4000" dirty="0"/>
          </a:p>
        </p:txBody>
      </p:sp>
      <p:sp>
        <p:nvSpPr>
          <p:cNvPr id="6" name="Text 3"/>
          <p:cNvSpPr txBox="1"/>
          <p:nvPr/>
        </p:nvSpPr>
        <p:spPr>
          <a:xfrm>
            <a:off x="6675120" y="1673352"/>
            <a:ext cx="2057400" cy="548640"/>
          </a:xfrm>
          <a:prstGeom prst="rect">
            <a:avLst/>
          </a:prstGeom>
          <a:noFill/>
          <a:ln/>
        </p:spPr>
        <p:txBody>
          <a:bodyPr wrap="square" lIns="0" tIns="0" rIns="0" bIns="0" rtlCol="0" anchor="t"/>
          <a:lstStyle/>
          <a:p>
            <a:pPr indent="0" marL="0">
              <a:buNone/>
            </a:pPr>
            <a:r>
              <a:rPr lang="en-US" sz="1300" dirty="0">
                <a:solidFill>
                  <a:schemeClr val="tx2"/>
                </a:solidFill>
              </a:rPr>
              <a:t>2×6 asm: 30–31 FLOPs/cycle, ~102 GFLOP/s on one core</a:t>
            </a:r>
            <a:endParaRPr lang="en-US" sz="1300" dirty="0"/>
          </a:p>
        </p:txBody>
      </p:sp>
      <p:sp>
        <p:nvSpPr>
          <p:cNvPr id="7" name="Text 4"/>
          <p:cNvSpPr txBox="1"/>
          <p:nvPr/>
        </p:nvSpPr>
        <p:spPr>
          <a:xfrm>
            <a:off x="6675120" y="2240280"/>
            <a:ext cx="205740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83–89%</a:t>
            </a:r>
            <a:endParaRPr lang="en-US" sz="4000" dirty="0"/>
          </a:p>
        </p:txBody>
      </p:sp>
      <p:sp>
        <p:nvSpPr>
          <p:cNvPr id="8" name="Text 5"/>
          <p:cNvSpPr txBox="1"/>
          <p:nvPr/>
        </p:nvSpPr>
        <p:spPr>
          <a:xfrm>
            <a:off x="6675120" y="2953512"/>
            <a:ext cx="2057400" cy="548640"/>
          </a:xfrm>
          <a:prstGeom prst="rect">
            <a:avLst/>
          </a:prstGeom>
          <a:noFill/>
          <a:ln/>
        </p:spPr>
        <p:txBody>
          <a:bodyPr wrap="square" lIns="0" tIns="0" rIns="0" bIns="0" rtlCol="0" anchor="t"/>
          <a:lstStyle/>
          <a:p>
            <a:pPr indent="0" marL="0">
              <a:buNone/>
            </a:pPr>
            <a:r>
              <a:rPr lang="en-US" sz="1300" dirty="0">
                <a:solidFill>
                  <a:schemeClr val="tx2"/>
                </a:solidFill>
              </a:rPr>
              <a:t>2×5 intrinsics (v2's tile)</a:t>
            </a:r>
            <a:endParaRPr lang="en-US" sz="1300" dirty="0"/>
          </a:p>
        </p:txBody>
      </p:sp>
      <p:sp>
        <p:nvSpPr>
          <p:cNvPr id="9" name="Text 6"/>
          <p:cNvSpPr txBox="1"/>
          <p:nvPr/>
        </p:nvSpPr>
        <p:spPr>
          <a:xfrm>
            <a:off x="6675120" y="3520440"/>
            <a:ext cx="205740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k ≈ 500</a:t>
            </a:r>
            <a:endParaRPr lang="en-US" sz="4000" dirty="0"/>
          </a:p>
        </p:txBody>
      </p:sp>
      <p:sp>
        <p:nvSpPr>
          <p:cNvPr id="10" name="Text 7"/>
          <p:cNvSpPr txBox="1"/>
          <p:nvPr/>
        </p:nvSpPr>
        <p:spPr>
          <a:xfrm>
            <a:off x="6675120" y="4233672"/>
            <a:ext cx="2057400" cy="548640"/>
          </a:xfrm>
          <a:prstGeom prst="rect">
            <a:avLst/>
          </a:prstGeom>
          <a:noFill/>
          <a:ln/>
        </p:spPr>
        <p:txBody>
          <a:bodyPr wrap="square" lIns="0" tIns="0" rIns="0" bIns="0" rtlCol="0" anchor="t"/>
          <a:lstStyle/>
          <a:p>
            <a:pPr indent="0" marL="0">
              <a:buNone/>
            </a:pPr>
            <a:r>
              <a:rPr lang="en-US" sz="1300" dirty="0">
                <a:solidFill>
                  <a:schemeClr val="tx2"/>
                </a:solidFill>
              </a:rPr>
              <a:t>L1 dip: 2×5 weights pass 32 KB, like k ≈ 315 in A2</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Alone vs in a layer: keep the kernel a function</a:t>
            </a:r>
            <a:endParaRPr lang="en-US" sz="2600" dirty="0"/>
          </a:p>
        </p:txBody>
      </p:sp>
      <p:sp>
        <p:nvSpPr>
          <p:cNvPr id="3" name="Text 1"/>
          <p:cNvSpPr txBox="1"/>
          <p:nvPr/>
        </p:nvSpPr>
        <p:spPr>
          <a:xfrm>
            <a:off x="457200" y="1005840"/>
            <a:ext cx="4206240" cy="502920"/>
          </a:xfrm>
          <a:prstGeom prst="rect">
            <a:avLst/>
          </a:prstGeom>
          <a:noFill/>
          <a:ln/>
        </p:spPr>
        <p:txBody>
          <a:bodyPr wrap="square" lIns="0" tIns="0" rIns="0" bIns="0" rtlCol="0" anchor="t"/>
          <a:lstStyle/>
          <a:p>
            <a:pPr indent="0" marL="0">
              <a:buNone/>
            </a:pPr>
            <a:r>
              <a:rPr lang="en-US" sz="1400" b="1" dirty="0">
                <a:solidFill>
                  <a:schemeClr val="tx1"/>
                </a:solidFill>
              </a:rPr>
              <a:t>v2a (2×5 asm): 92.2% alone, 72.5% when GCC inlines it into the layer loop</a:t>
            </a:r>
            <a:endParaRPr lang="en-US" sz="1400" dirty="0"/>
          </a:p>
        </p:txBody>
      </p:sp>
      <p:sp>
        <p:nvSpPr>
          <p:cNvPr id="4" name="spill-code"/>
          <p:cNvSpPr/>
          <p:nvPr/>
        </p:nvSpPr>
        <p:spPr>
          <a:xfrm>
            <a:off x="457200" y="1600200"/>
            <a:ext cx="4206240" cy="1051560"/>
          </a:xfrm>
          <a:prstGeom prst="roundRect">
            <a:avLst>
              <a:gd name="adj" fmla="val 6957"/>
            </a:avLst>
          </a:prstGeom>
          <a:solidFill>
            <a:srgbClr val="EEF2F4"/>
          </a:solidFill>
          <a:ln w="12700">
            <a:solidFill>
              <a:srgbClr val="EEF2F4"/>
            </a:solidFill>
            <a:prstDash val="solid"/>
          </a:ln>
        </p:spPr>
      </p:sp>
      <p:sp>
        <p:nvSpPr>
          <p:cNvPr id="5" name="Text 3"/>
          <p:cNvSpPr txBox="1"/>
          <p:nvPr/>
        </p:nvSpPr>
        <p:spPr>
          <a:xfrm>
            <a:off x="594360" y="1691640"/>
            <a:ext cx="3977640" cy="86868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vmovaps 168(%rsp), %ymm1   # reload acc</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...asm block: 80 FMAs...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vmovaps %ymm1, 168(%rsp)   # store acc</a:t>
            </a:r>
            <a:endParaRPr lang="en-US" sz="1100" dirty="0"/>
          </a:p>
        </p:txBody>
      </p:sp>
      <p:sp>
        <p:nvSpPr>
          <p:cNvPr id="6" name="Text 4"/>
          <p:cNvSpPr txBox="1"/>
          <p:nvPr/>
        </p:nvSpPr>
        <p:spPr>
          <a:xfrm>
            <a:off x="457200" y="2743200"/>
            <a:ext cx="4206240" cy="868680"/>
          </a:xfrm>
          <a:prstGeom prst="rect">
            <a:avLst/>
          </a:prstGeom>
          <a:noFill/>
          <a:ln/>
        </p:spPr>
        <p:txBody>
          <a:bodyPr wrap="square" lIns="0" tIns="0" rIns="0" bIns="0" rtlCol="0" anchor="t"/>
          <a:lstStyle/>
          <a:p>
            <a:pPr indent="0" marL="0">
              <a:buNone/>
            </a:pPr>
            <a:r>
              <a:rPr lang="en-US" sz="1300" dirty="0">
                <a:solidFill>
                  <a:schemeClr val="tx2"/>
                </a:solidFill>
              </a:rPr>
              <a:t>Inlined, GCC keeps 3 of 10 accumulators on the stack around every tap. Called as a function, as in the benchmark: 83.1% (v2b); with the 2×6 tile, 83.7% (v10).</a:t>
            </a:r>
            <a:endParaRPr lang="en-US" sz="1300" dirty="0"/>
          </a:p>
        </p:txBody>
      </p:sp>
      <p:sp>
        <p:nvSpPr>
          <p:cNvPr id="7" name="Text 5"/>
          <p:cNvSpPr txBox="1"/>
          <p:nvPr/>
        </p:nvSpPr>
        <p:spPr>
          <a:xfrm>
            <a:off x="457200" y="3794760"/>
            <a:ext cx="4206240" cy="731520"/>
          </a:xfrm>
          <a:prstGeom prst="rect">
            <a:avLst/>
          </a:prstGeom>
          <a:noFill/>
          <a:ln/>
        </p:spPr>
        <p:txBody>
          <a:bodyPr wrap="square" lIns="0" tIns="0" rIns="0" bIns="0" rtlCol="0" anchor="t"/>
          <a:lstStyle/>
          <a:p>
            <a:pPr indent="0" marL="0">
              <a:buNone/>
            </a:pPr>
            <a:r>
              <a:rPr lang="en-US" sz="1300" i="1" dirty="0">
                <a:solidFill>
                  <a:schemeClr val="accent1"/>
                </a:solidFill>
              </a:rPr>
              <a:t>Next: cache blocking for C ≥ 128 (the 4×3 drop-off), NUMA-aware threads (v10 on 20 cores: 4.74 ms).</a:t>
            </a:r>
            <a:endParaRPr lang="en-US" sz="1300" dirty="0"/>
          </a:p>
        </p:txBody>
      </p:sp>
      <p:graphicFrame>
        <p:nvGraphicFramePr>
          <p:cNvPr id="8" name="baseline-chart" descr=""/>
          <p:cNvGraphicFramePr/>
          <p:nvPr/>
        </p:nvGraphicFramePr>
        <p:xfrm>
          <a:off x="4892040" y="960120"/>
          <a:ext cx="384048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A687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astYoloStride1">
  <a:themeElements>
    <a:clrScheme name="FastYoloStride1">
      <a:dk1>
        <a:srgbClr val="1B2630"/>
      </a:dk1>
      <a:lt1>
        <a:srgbClr val="FFFFFF"/>
      </a:lt1>
      <a:dk2>
        <a:srgbClr val="5A6875"/>
      </a:dk2>
      <a:lt2>
        <a:srgbClr val="EEF2F4"/>
      </a:lt2>
      <a:accent1>
        <a:srgbClr val="0C6A87"/>
      </a:accent1>
      <a:accent2>
        <a:srgbClr val="B7731A"/>
      </a:accent2>
      <a:accent3>
        <a:srgbClr val="6B7782"/>
      </a:accent3>
      <a:accent4>
        <a:srgbClr val="D7EAF0"/>
      </a:accent4>
      <a:accent5>
        <a:srgbClr val="0E2F3B"/>
      </a:accent5>
      <a:accent6>
        <a:srgbClr val="F5E6CF"/>
      </a:accent6>
      <a:hlink>
        <a:srgbClr val="0C6A87"/>
      </a:hlink>
      <a:folHlink>
        <a:srgbClr val="0E2F3B"/>
      </a:folHlink>
    </a:clrScheme>
    <a:fontScheme name="FastYoloStride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3x3 stride-1 convolution microkernel</dc:title>
  <dc:subject>PptxGenJS Presentation</dc:subject>
  <dc:creator>Om Tank</dc:creator>
  <cp:lastModifiedBy>Om Tank</cp:lastModifiedBy>
  <cp:revision>1</cp:revision>
  <dcterms:created xsi:type="dcterms:W3CDTF">2026-10-25T18:48:44Z</dcterms:created>
  <dcterms:modified xsi:type="dcterms:W3CDTF">2026-10-25T18:48:44Z</dcterms:modified>
</cp:coreProperties>
</file>